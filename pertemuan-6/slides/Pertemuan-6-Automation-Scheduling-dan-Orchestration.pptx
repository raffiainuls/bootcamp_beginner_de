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Buka dengan mengingat pipeline yang sudah dibuat pada Pertemuan 5. Hari ini fokusnya adalah menjalankan, menjadwalkan, dan memantau pipeline yang sama memakai tiga tool orkestrasi.
Sumber: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Gunakan empat hasil belajar sebagai kriteria selesai praktik. Minta peserta menunjukkan log, status run, dan query hasil, bukan hanya screenshot UI.
Sumber:
pertemuan-6/README.md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Tekankan bahwa tiga orchestrator pada Pertemuan 6 sama-sama memanggil script dari Pertemuan 5. Script itu adalah sumber logika ELT. Perbedaan antar tool ada pada definisi workflow, schedule, dan monitoring.
Sumber:
pertemuan-5/run_pipeline.sh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Berikan contoh: otomasi adalah eksekusi tanpa pekerjaan manual berulang, scheduling menentukan waktu, orchestration memastikan urutan, status, retry, serta log. Setelah memberi contoh, minta peserta mengelompokkan satu situasi nyata ke tiga konsep ini.
Sumber: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Tunjukkan perbedaan antara scheduled, running, failed, dan succeeded. Sebuah run yang dimulai pada waktunya tetap dapat gagal. Data mart perlu dicek sebagai hasil bisnis akhir.
Sumber: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Baca setiap kolom dari kiri ke kanan. Contoh */5 berarti pada menit 0, 5, 10, dan seterusnya. Cron tidak menjelaskan timezone dengan sendirinya; tool perlu diberi timezone eksplisit supaya waktu lokal tidak ambigu.
Sumber:
https://dagster.io/docs/guides/automate/schedules
https://kestra.io/docs/workflow-components/triggers/schedule-trigger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Interval yang tampil berasal dari kode repository saat slide ini dibuat. Dagster dan Kestra setiap 5 menit, Prefect setiap 15 menit. Untuk Prefect, contoh kode mengatur cron tanpa timezone di serve(); periksa timezone deployment jika kebutuhan praktik harus WIB secara eksplisit.
Sumber:
pertemuan-6/dagster/dagster_pipeline.py
pertemuan-6/prefect/prefect_pipeline.py
pertemuan-6/kestra/flows/elt_pipeline.yml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Tekankan pola wrapper: Dagster memakai asset, Prefect memakai flow/task, Kestra memakai flow YAML. Semuanya memanggil bash pertemuan-5/run_pipeline.sh. Jangan menduplikasi logic Extract, Load, dan Transform di tiga tool.
Sumber:
pertemuan-6/README.md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Tunjukkan dagster_pipeline.py: @asset berisi subprocess, define_asset_job memilih asset, dan @schedule memicu job. Kegagalan subprocess dinaikkan sebagai exception sehingga run terlihat gagal, bukan diam-diam sukses.
Sumber:
pertemuan-6/dagster/dagster_pipeline.py
https://dagster.io/docs/guides/automate/schedules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Demokan docker compose ps: ada webserver dan daemon. Pada UI, manual materialize tidak memerlukan menunggu cron. Untuk otomatisasi terjadwal, daemon harus hidup dan schedule aktif. Lokasi kode dan cara membuka UI ada di README Dagster.
Sumber:
pertemuan-6/dagster/README.md
https://dagster.io/docs/guides/automate/schedules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Potongan kode ini disederhanakan dari file lokal. Prefect @task menambahkan retry; @flow mengelompokkan pekerjaan. serve() membuat deployment dengan cron setiap 15 menit. Demo manual run lewat UI agar peserta tidak perlu menunggu jadwal.
Sumber:
pertemuan-6/prefect/prefect_pipeline.py
https://docs.prefect.io/v3/concepts/flows
https://docs.prefect.io/v3/how-to-guides/deployments/deploy-via-python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Kode dipadatkan dari elt_pipeline.yml. Dalam praktik Kestra, server dijalankan dulu, image task runner dibangun, flow YAML di-import ke UI, baru execute. YAML lokal tidak otomatis menjadi flow aktif tanpa import. Docker runner menjalankan script yang sama dengan dua tool lain.
Sumber:
pertemuan-6/kestra/flows/elt_pipeline.yml
https://kestra.io/docs/workflow-components/triggers/schedule-trigger
https://kestra.io/docs/task-runners/types/docker-task-runner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Tabel ini menggambarkan implementasi repository, bukan batas kemampuan umum tiap produk. Diskusikan mana yang lebih nyaman bagi peserta: Python decorator atau YAML. Hasil data yang diverifikasi tetap sama.
Sumber:
pertemuan-6/README.md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Jika database belum pernah diisi, ikuti bagian Persiapan bersama di README Pertemuan 6, termasuk loader PostgreSQL Pertemuan 4. Jalankan pipeline tanpa orchestrator untuk memastikan masalah data atau koneksi sudah diselesaikan sebelum demo tool.
Sumber:
pertemuan-6/README.md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Masing-masing tool punya setup berbeda. Dagster dan Prefect memakai Docker Compose build. Kestra membutuhkan build image runner dan import YAML setelah server aktif. Buka README tool yang dipilih untuk detail. Jangan menjalankan ketiganya bersamaan di laptop praktik.
Sumber:
pertemuan-6/README.md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Minta peserta mengambil tiga bukti: status UI, log yang memuat hasil verifikasi, dan hasil query ClickHouse. Ini menumbuhkan kebiasaan memeriksa output, bukan hanya tombol yang berhasil diklik.
Sumber:
pertemuan-6/README.md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Gunakan contoh kegagalan hipotetis, misalnya database belum siap. Jangan sengaja merusak data peserta. Hubungkan ke set -euo pipefail pada run_pipeline.sh: command yang gagal menghentikan script dan orchestrator mencatat run gagal.
Sumber:
pertemuan-5/run_pipeline.sh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Latihan bisa dilakukan berpasangan jika resource laptop terbatas. Jalankan Dagster, Prefect, dan Kestra satu per satu. Untuk setiap tool, kumpulkan status run, log, hasil query, serta bukti scheduler. Output mengikuti bagian Output peserta di README Pertemuan 6.
Sumber:
pertemuan-6/README.md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presenter:
Akhiri dengan meminta peserta menjelaskan satu contoh untuk automation, satu untuk scheduling, dan satu untuk orchestration dari pipeline yang baru dipraktikkan. Tanyakan juga mengapa hasil di ClickHouse perlu dicek walaupun UI menampilkan run sukses.
Sumber: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E2C"/>
        </a:solidFill>
      </p:bgPr>
    </p:bg>
    <p:spTree>
      <p:nvGrpSpPr>
        <p:cNvPr id="1" name=""/>
        <p:cNvGrpSpPr/>
        <p:nvPr/>
      </p:nvGrpSpPr>
      <p:grpSpPr>
        <a:xfrm>
          <a:off x="0" y="0"/>
          <a:ext cx="0" cy="0"/>
          <a:chOff x="0" y="0"/>
          <a:chExt cx="0" cy="0"/>
        </a:xfrm>
      </p:grpSpPr>
      <p:sp>
        <p:nvSpPr>
          <p:cNvPr id="2" name="Shape 0"/>
          <p:cNvSpPr/>
          <p:nvPr/>
        </p:nvSpPr>
        <p:spPr>
          <a:xfrm rot="1920000">
            <a:off x="9509760" y="-1188720"/>
            <a:ext cx="4572000" cy="4572000"/>
          </a:xfrm>
          <a:prstGeom prst="arc">
            <a:avLst/>
          </a:prstGeom>
          <a:solidFill>
            <a:srgbClr val="00A7A4"/>
          </a:solidFill>
          <a:ln w="12700">
            <a:solidFill>
              <a:srgbClr val="00A7A4"/>
            </a:solidFill>
            <a:prstDash val="solid"/>
          </a:ln>
        </p:spPr>
      </p:sp>
      <p:sp>
        <p:nvSpPr>
          <p:cNvPr id="3" name="Shape 1"/>
          <p:cNvSpPr/>
          <p:nvPr/>
        </p:nvSpPr>
        <p:spPr>
          <a:xfrm rot="1200000">
            <a:off x="9006840" y="4133088"/>
            <a:ext cx="2743200" cy="2011680"/>
          </a:xfrm>
          <a:prstGeom prst="chevron">
            <a:avLst/>
          </a:prstGeom>
          <a:solidFill>
            <a:srgbClr val="FA6A60"/>
          </a:solidFill>
          <a:ln w="12700">
            <a:solidFill>
              <a:srgbClr val="FA6A60"/>
            </a:solidFill>
            <a:prstDash val="solid"/>
          </a:ln>
        </p:spPr>
      </p:sp>
      <p:sp>
        <p:nvSpPr>
          <p:cNvPr id="4" name="Shape 2"/>
          <p:cNvSpPr/>
          <p:nvPr/>
        </p:nvSpPr>
        <p:spPr>
          <a:xfrm>
            <a:off x="658368" y="603504"/>
            <a:ext cx="3154680" cy="338328"/>
          </a:xfrm>
          <a:prstGeom prst="roundRect">
            <a:avLst>
              <a:gd name="adj" fmla="val 40541"/>
            </a:avLst>
          </a:prstGeom>
          <a:solidFill>
            <a:srgbClr val="00A7A4"/>
          </a:solidFill>
          <a:ln w="12700">
            <a:solidFill>
              <a:srgbClr val="00A7A4"/>
            </a:solidFill>
            <a:prstDash val="solid"/>
          </a:ln>
        </p:spPr>
      </p:sp>
      <p:sp>
        <p:nvSpPr>
          <p:cNvPr id="5" name="Text 3"/>
          <p:cNvSpPr txBox="1"/>
          <p:nvPr/>
        </p:nvSpPr>
        <p:spPr>
          <a:xfrm>
            <a:off x="749808" y="653796"/>
            <a:ext cx="2971800" cy="21945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BOOTCAMP DATA ENGINEERING</a:t>
            </a:r>
            <a:endParaRPr lang="en-US" sz="1200" dirty="0"/>
          </a:p>
        </p:txBody>
      </p:sp>
      <p:sp>
        <p:nvSpPr>
          <p:cNvPr id="6" name="Text 4"/>
          <p:cNvSpPr txBox="1"/>
          <p:nvPr/>
        </p:nvSpPr>
        <p:spPr>
          <a:xfrm>
            <a:off x="676656" y="1481328"/>
            <a:ext cx="4572000" cy="402336"/>
          </a:xfrm>
          <a:prstGeom prst="rect">
            <a:avLst/>
          </a:prstGeom>
          <a:noFill/>
          <a:ln/>
        </p:spPr>
        <p:txBody>
          <a:bodyPr wrap="square" lIns="0" tIns="0" rIns="0" bIns="0" rtlCol="0" anchor="ctr"/>
          <a:lstStyle/>
          <a:p>
            <a:pPr algn="l" indent="0" marL="0">
              <a:buNone/>
            </a:pPr>
            <a:r>
              <a:rPr lang="en-US" sz="2400" b="1" dirty="0">
                <a:solidFill>
                  <a:srgbClr val="69DFD8"/>
                </a:solidFill>
                <a:latin typeface="Arial" pitchFamily="34" charset="0"/>
                <a:ea typeface="Arial" pitchFamily="34" charset="-122"/>
                <a:cs typeface="Arial" pitchFamily="34" charset="-120"/>
              </a:rPr>
              <a:t>Pertemuan 6</a:t>
            </a:r>
            <a:endParaRPr lang="en-US" sz="2400" dirty="0"/>
          </a:p>
        </p:txBody>
      </p:sp>
      <p:sp>
        <p:nvSpPr>
          <p:cNvPr id="7" name="Text 5"/>
          <p:cNvSpPr txBox="1"/>
          <p:nvPr/>
        </p:nvSpPr>
        <p:spPr>
          <a:xfrm>
            <a:off x="676656" y="2011680"/>
            <a:ext cx="8321040" cy="1207008"/>
          </a:xfrm>
          <a:prstGeom prst="rect">
            <a:avLst/>
          </a:prstGeom>
          <a:noFill/>
          <a:ln/>
        </p:spPr>
        <p:txBody>
          <a:bodyPr wrap="square" lIns="0" tIns="0" rIns="0" bIns="0" rtlCol="0" anchor="t"/>
          <a:lstStyle/>
          <a:p>
            <a:pPr algn="l" indent="0" marL="0">
              <a:buNone/>
            </a:pPr>
            <a:r>
              <a:rPr lang="en-US" sz="3900" b="1" dirty="0">
                <a:solidFill>
                  <a:srgbClr val="FFFFFF"/>
                </a:solidFill>
                <a:latin typeface="Arial" pitchFamily="34" charset="0"/>
                <a:ea typeface="Arial" pitchFamily="34" charset="-122"/>
                <a:cs typeface="Arial" pitchFamily="34" charset="-120"/>
              </a:rPr>
              <a:t>Automation, Scheduling,</a:t>
            </a:r>
            <a:endParaRPr lang="en-US" sz="3900" dirty="0"/>
          </a:p>
          <a:p>
            <a:pPr algn="l" indent="0" marL="0">
              <a:buNone/>
            </a:pPr>
            <a:r>
              <a:rPr lang="en-US" sz="3900" b="1" dirty="0">
                <a:solidFill>
                  <a:srgbClr val="FFFFFF"/>
                </a:solidFill>
                <a:latin typeface="Arial" pitchFamily="34" charset="0"/>
                <a:ea typeface="Arial" pitchFamily="34" charset="-122"/>
                <a:cs typeface="Arial" pitchFamily="34" charset="-120"/>
              </a:rPr>
              <a:t>dan Orchestration</a:t>
            </a:r>
            <a:endParaRPr lang="en-US" sz="3900" dirty="0"/>
          </a:p>
        </p:txBody>
      </p:sp>
      <p:sp>
        <p:nvSpPr>
          <p:cNvPr id="8" name="Text 6"/>
          <p:cNvSpPr txBox="1"/>
          <p:nvPr/>
        </p:nvSpPr>
        <p:spPr>
          <a:xfrm>
            <a:off x="694944" y="4050792"/>
            <a:ext cx="8092440" cy="713232"/>
          </a:xfrm>
          <a:prstGeom prst="rect">
            <a:avLst/>
          </a:prstGeom>
          <a:noFill/>
          <a:ln/>
        </p:spPr>
        <p:txBody>
          <a:bodyPr wrap="square" lIns="0" tIns="0" rIns="0" bIns="0" rtlCol="0" anchor="t"/>
          <a:lstStyle/>
          <a:p>
            <a:pPr algn="l" indent="0" marL="0">
              <a:buNone/>
            </a:pPr>
            <a:r>
              <a:rPr lang="en-US" sz="1900" dirty="0">
                <a:solidFill>
                  <a:srgbClr val="C9D9E3"/>
                </a:solidFill>
                <a:latin typeface="Arial" pitchFamily="34" charset="0"/>
                <a:ea typeface="Arial" pitchFamily="34" charset="-122"/>
                <a:cs typeface="Arial" pitchFamily="34" charset="-120"/>
              </a:rPr>
              <a:t>Memahami dan mempraktikkan Dagster, Prefect, dan Kestra</a:t>
            </a:r>
            <a:endParaRPr lang="en-US" sz="1900" dirty="0"/>
          </a:p>
          <a:p>
            <a:pPr algn="l" indent="0" marL="0">
              <a:buNone/>
            </a:pPr>
            <a:r>
              <a:rPr lang="en-US" sz="1900" dirty="0">
                <a:solidFill>
                  <a:srgbClr val="C9D9E3"/>
                </a:solidFill>
                <a:latin typeface="Arial" pitchFamily="34" charset="0"/>
                <a:ea typeface="Arial" pitchFamily="34" charset="-122"/>
                <a:cs typeface="Arial" pitchFamily="34" charset="-120"/>
              </a:rPr>
              <a:t>pada pipeline ELT Pertemuan 5</a:t>
            </a:r>
            <a:endParaRPr lang="en-US" sz="1900" dirty="0"/>
          </a:p>
        </p:txBody>
      </p:sp>
      <p:sp>
        <p:nvSpPr>
          <p:cNvPr id="9" name="Text 7"/>
          <p:cNvSpPr txBox="1"/>
          <p:nvPr/>
        </p:nvSpPr>
        <p:spPr>
          <a:xfrm>
            <a:off x="694944" y="6236208"/>
            <a:ext cx="2011680" cy="201168"/>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Nusacodes</a:t>
            </a:r>
            <a:endParaRPr lang="en-US" sz="1300" dirty="0"/>
          </a:p>
        </p:txBody>
      </p:sp>
      <p:sp>
        <p:nvSpPr>
          <p:cNvPr id="10" name="Text 8"/>
          <p:cNvSpPr txBox="1"/>
          <p:nvPr/>
        </p:nvSpPr>
        <p:spPr>
          <a:xfrm>
            <a:off x="11082528" y="6236208"/>
            <a:ext cx="393192" cy="201168"/>
          </a:xfrm>
          <a:prstGeom prst="rect">
            <a:avLst/>
          </a:prstGeom>
          <a:noFill/>
          <a:ln/>
        </p:spPr>
        <p:txBody>
          <a:bodyPr wrap="square" lIns="0" tIns="0" rIns="0" bIns="0" rtlCol="0" anchor="ctr"/>
          <a:lstStyle/>
          <a:p>
            <a:pPr algn="r" indent="0" marL="0">
              <a:buNone/>
            </a:pPr>
            <a:r>
              <a:rPr lang="en-US" sz="1000" dirty="0">
                <a:solidFill>
                  <a:srgbClr val="B7C8D1"/>
                </a:solidFill>
                <a:latin typeface="Arial" pitchFamily="34" charset="0"/>
                <a:ea typeface="Arial" pitchFamily="34" charset="-122"/>
                <a:cs typeface="Arial"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365760"/>
            <a:ext cx="10972800" cy="502920"/>
          </a:xfrm>
          <a:prstGeom prst="rect">
            <a:avLst/>
          </a:prstGeom>
          <a:noFill/>
          <a:ln/>
        </p:spPr>
        <p:txBody>
          <a:bodyPr wrap="square" lIns="0" tIns="0" rIns="0" bIns="0" rtlCol="0" anchor="ctr"/>
          <a:lstStyle/>
          <a:p>
            <a:pPr algn="l" indent="0" marL="0">
              <a:buNone/>
            </a:pPr>
            <a:r>
              <a:rPr lang="en-US" sz="3000" b="1" dirty="0">
                <a:solidFill>
                  <a:srgbClr val="0C1E2C"/>
                </a:solidFill>
                <a:latin typeface="Arial" pitchFamily="34" charset="0"/>
                <a:ea typeface="Arial" pitchFamily="34" charset="-122"/>
                <a:cs typeface="Arial" pitchFamily="34" charset="-120"/>
              </a:rPr>
              <a:t>Hasil belajar</a:t>
            </a:r>
            <a:endParaRPr lang="en-US" sz="3000" dirty="0"/>
          </a:p>
        </p:txBody>
      </p:sp>
      <p:sp>
        <p:nvSpPr>
          <p:cNvPr id="3" name="Text 1"/>
          <p:cNvSpPr txBox="1"/>
          <p:nvPr/>
        </p:nvSpPr>
        <p:spPr>
          <a:xfrm>
            <a:off x="640080" y="941832"/>
            <a:ext cx="10881360" cy="320040"/>
          </a:xfrm>
          <a:prstGeom prst="rect">
            <a:avLst/>
          </a:prstGeom>
          <a:noFill/>
          <a:ln/>
        </p:spPr>
        <p:txBody>
          <a:bodyPr wrap="square" lIns="0" tIns="0" rIns="0" bIns="0" rtlCol="0" anchor="ctr"/>
          <a:lstStyle/>
          <a:p>
            <a:pPr algn="l" indent="0" marL="0">
              <a:buNone/>
            </a:pPr>
            <a:r>
              <a:rPr lang="en-US" sz="1500" dirty="0">
                <a:solidFill>
                  <a:srgbClr val="526B79"/>
                </a:solidFill>
                <a:latin typeface="Arial" pitchFamily="34" charset="0"/>
                <a:ea typeface="Arial" pitchFamily="34" charset="-122"/>
                <a:cs typeface="Arial" pitchFamily="34" charset="-120"/>
              </a:rPr>
              <a:t>Setelah sesi ini, peserta dapat menjelaskan konsep dan menunjukkan satu run yang berhasil.</a:t>
            </a:r>
            <a:endParaRPr lang="en-US" sz="1500" dirty="0"/>
          </a:p>
        </p:txBody>
      </p:sp>
      <p:sp>
        <p:nvSpPr>
          <p:cNvPr id="4" name="Text 2"/>
          <p:cNvSpPr txBox="1"/>
          <p:nvPr/>
        </p:nvSpPr>
        <p:spPr>
          <a:xfrm>
            <a:off x="640080" y="6565392"/>
            <a:ext cx="5486400" cy="146304"/>
          </a:xfrm>
          <a:prstGeom prst="rect">
            <a:avLst/>
          </a:prstGeom>
          <a:noFill/>
          <a:ln/>
        </p:spPr>
        <p:txBody>
          <a:bodyPr wrap="square" lIns="0" tIns="0" rIns="0" bIns="0" rtlCol="0" anchor="ctr"/>
          <a:lstStyle/>
          <a:p>
            <a:pPr algn="l" indent="0" marL="0">
              <a:buNone/>
            </a:pPr>
            <a:r>
              <a:rPr lang="en-US" sz="900" b="1" dirty="0">
                <a:solidFill>
                  <a:srgbClr val="526B79"/>
                </a:solidFill>
                <a:latin typeface="Arial" pitchFamily="34" charset="0"/>
                <a:ea typeface="Arial" pitchFamily="34" charset="-122"/>
                <a:cs typeface="Arial" pitchFamily="34" charset="-120"/>
              </a:rPr>
              <a:t>PERTEMUAN 6  /  DATA ENGINEERING</a:t>
            </a:r>
            <a:endParaRPr lang="en-US" sz="900" dirty="0"/>
          </a:p>
        </p:txBody>
      </p:sp>
      <p:sp>
        <p:nvSpPr>
          <p:cNvPr id="5" name="Text 3"/>
          <p:cNvSpPr txBox="1"/>
          <p:nvPr/>
        </p:nvSpPr>
        <p:spPr>
          <a:xfrm>
            <a:off x="11155680" y="6519672"/>
            <a:ext cx="438912" cy="182880"/>
          </a:xfrm>
          <a:prstGeom prst="rect">
            <a:avLst/>
          </a:prstGeom>
          <a:noFill/>
          <a:ln/>
        </p:spPr>
        <p:txBody>
          <a:bodyPr wrap="square" lIns="0" tIns="0" rIns="0" bIns="0" rtlCol="0" anchor="ctr"/>
          <a:lstStyle/>
          <a:p>
            <a:pPr algn="r" indent="0" marL="0">
              <a:buNone/>
            </a:pPr>
            <a:r>
              <a:rPr lang="en-US" sz="1000" dirty="0">
                <a:solidFill>
                  <a:srgbClr val="526B79"/>
                </a:solidFill>
                <a:latin typeface="Arial" pitchFamily="34" charset="0"/>
                <a:ea typeface="Arial" pitchFamily="34" charset="-122"/>
                <a:cs typeface="Arial" pitchFamily="34" charset="-120"/>
              </a:rPr>
              <a:t>02</a:t>
            </a:r>
            <a:endParaRPr lang="en-US" sz="1000" dirty="0"/>
          </a:p>
        </p:txBody>
      </p:sp>
      <p:sp>
        <p:nvSpPr>
          <p:cNvPr id="6" name="Shape 4"/>
          <p:cNvSpPr/>
          <p:nvPr/>
        </p:nvSpPr>
        <p:spPr>
          <a:xfrm>
            <a:off x="640080" y="1600200"/>
            <a:ext cx="5257800" cy="1828800"/>
          </a:xfrm>
          <a:prstGeom prst="roundRect">
            <a:avLst>
              <a:gd name="adj" fmla="val 5000"/>
            </a:avLst>
          </a:prstGeom>
          <a:solidFill>
            <a:srgbClr val="DDF5F3"/>
          </a:solidFill>
          <a:ln w="12700">
            <a:solidFill>
              <a:srgbClr val="DDF5F3"/>
            </a:solidFill>
            <a:prstDash val="solid"/>
          </a:ln>
        </p:spPr>
      </p:sp>
      <p:sp>
        <p:nvSpPr>
          <p:cNvPr id="7" name="Shape 5"/>
          <p:cNvSpPr/>
          <p:nvPr/>
        </p:nvSpPr>
        <p:spPr>
          <a:xfrm>
            <a:off x="859536" y="1819656"/>
            <a:ext cx="347472" cy="347472"/>
          </a:xfrm>
          <a:prstGeom prst="ellipse">
            <a:avLst/>
          </a:prstGeom>
          <a:solidFill>
            <a:srgbClr val="00A7A4"/>
          </a:solidFill>
          <a:ln w="12700">
            <a:solidFill>
              <a:srgbClr val="00A7A4"/>
            </a:solidFill>
            <a:prstDash val="solid"/>
          </a:ln>
        </p:spPr>
      </p:sp>
      <p:sp>
        <p:nvSpPr>
          <p:cNvPr id="8" name="Text 6"/>
          <p:cNvSpPr txBox="1"/>
          <p:nvPr/>
        </p:nvSpPr>
        <p:spPr>
          <a:xfrm>
            <a:off x="1335024" y="1810512"/>
            <a:ext cx="4325112" cy="347472"/>
          </a:xfrm>
          <a:prstGeom prst="rect">
            <a:avLst/>
          </a:prstGeom>
          <a:noFill/>
          <a:ln/>
        </p:spPr>
        <p:txBody>
          <a:bodyPr wrap="square" lIns="0" tIns="0" rIns="0" bIns="0" rtlCol="0" anchor="ctr"/>
          <a:lstStyle/>
          <a:p>
            <a:pPr algn="l" indent="0" marL="0">
              <a:buNone/>
            </a:pPr>
            <a:r>
              <a:rPr lang="en-US" sz="1900" b="1" dirty="0">
                <a:solidFill>
                  <a:srgbClr val="102333"/>
                </a:solidFill>
                <a:latin typeface="Arial" pitchFamily="34" charset="0"/>
                <a:ea typeface="Arial" pitchFamily="34" charset="-122"/>
                <a:cs typeface="Arial" pitchFamily="34" charset="-120"/>
              </a:rPr>
              <a:t>01  Bedakan tiga konsep</a:t>
            </a:r>
            <a:endParaRPr lang="en-US" sz="1900" dirty="0"/>
          </a:p>
        </p:txBody>
      </p:sp>
      <p:sp>
        <p:nvSpPr>
          <p:cNvPr id="9" name="Text 7"/>
          <p:cNvSpPr txBox="1"/>
          <p:nvPr/>
        </p:nvSpPr>
        <p:spPr>
          <a:xfrm>
            <a:off x="896112" y="2368296"/>
            <a:ext cx="4745736" cy="896112"/>
          </a:xfrm>
          <a:prstGeom prst="rect">
            <a:avLst/>
          </a:prstGeom>
          <a:noFill/>
          <a:ln/>
        </p:spPr>
        <p:txBody>
          <a:bodyPr wrap="square" lIns="0" tIns="0" rIns="0" bIns="0" rtlCol="0" anchor="t"/>
          <a:lstStyle/>
          <a:p>
            <a:pPr algn="l" indent="0" marL="0">
              <a:buNone/>
            </a:pPr>
            <a:r>
              <a:rPr lang="en-US" sz="1500" dirty="0">
                <a:solidFill>
                  <a:srgbClr val="526B79"/>
                </a:solidFill>
                <a:latin typeface="Arial" pitchFamily="34" charset="0"/>
                <a:ea typeface="Arial" pitchFamily="34" charset="-122"/>
                <a:cs typeface="Arial" pitchFamily="34" charset="-120"/>
              </a:rPr>
              <a:t>Automation, scheduling, dan orchestration menjawab kebutuhan operasional yang berbeda.</a:t>
            </a:r>
            <a:endParaRPr lang="en-US" sz="1500" dirty="0"/>
          </a:p>
        </p:txBody>
      </p:sp>
      <p:sp>
        <p:nvSpPr>
          <p:cNvPr id="10" name="Shape 8"/>
          <p:cNvSpPr/>
          <p:nvPr/>
        </p:nvSpPr>
        <p:spPr>
          <a:xfrm>
            <a:off x="6281928" y="1600200"/>
            <a:ext cx="5257800" cy="1828800"/>
          </a:xfrm>
          <a:prstGeom prst="roundRect">
            <a:avLst>
              <a:gd name="adj" fmla="val 5000"/>
            </a:avLst>
          </a:prstGeom>
          <a:solidFill>
            <a:srgbClr val="E7F1FA"/>
          </a:solidFill>
          <a:ln w="12700">
            <a:solidFill>
              <a:srgbClr val="E7F1FA"/>
            </a:solidFill>
            <a:prstDash val="solid"/>
          </a:ln>
        </p:spPr>
      </p:sp>
      <p:sp>
        <p:nvSpPr>
          <p:cNvPr id="11" name="Shape 9"/>
          <p:cNvSpPr/>
          <p:nvPr/>
        </p:nvSpPr>
        <p:spPr>
          <a:xfrm>
            <a:off x="6501384" y="1819656"/>
            <a:ext cx="347472" cy="347472"/>
          </a:xfrm>
          <a:prstGeom prst="ellipse">
            <a:avLst/>
          </a:prstGeom>
          <a:solidFill>
            <a:srgbClr val="2563A6"/>
          </a:solidFill>
          <a:ln w="12700">
            <a:solidFill>
              <a:srgbClr val="2563A6"/>
            </a:solidFill>
            <a:prstDash val="solid"/>
          </a:ln>
        </p:spPr>
      </p:sp>
      <p:sp>
        <p:nvSpPr>
          <p:cNvPr id="12" name="Text 10"/>
          <p:cNvSpPr txBox="1"/>
          <p:nvPr/>
        </p:nvSpPr>
        <p:spPr>
          <a:xfrm>
            <a:off x="6976872" y="1810512"/>
            <a:ext cx="4325112" cy="347472"/>
          </a:xfrm>
          <a:prstGeom prst="rect">
            <a:avLst/>
          </a:prstGeom>
          <a:noFill/>
          <a:ln/>
        </p:spPr>
        <p:txBody>
          <a:bodyPr wrap="square" lIns="0" tIns="0" rIns="0" bIns="0" rtlCol="0" anchor="ctr"/>
          <a:lstStyle/>
          <a:p>
            <a:pPr algn="l" indent="0" marL="0">
              <a:buNone/>
            </a:pPr>
            <a:r>
              <a:rPr lang="en-US" sz="1900" b="1" dirty="0">
                <a:solidFill>
                  <a:srgbClr val="102333"/>
                </a:solidFill>
                <a:latin typeface="Arial" pitchFamily="34" charset="0"/>
                <a:ea typeface="Arial" pitchFamily="34" charset="-122"/>
                <a:cs typeface="Arial" pitchFamily="34" charset="-120"/>
              </a:rPr>
              <a:t>02  Baca jadwal cron</a:t>
            </a:r>
            <a:endParaRPr lang="en-US" sz="1900" dirty="0"/>
          </a:p>
        </p:txBody>
      </p:sp>
      <p:sp>
        <p:nvSpPr>
          <p:cNvPr id="13" name="Text 11"/>
          <p:cNvSpPr txBox="1"/>
          <p:nvPr/>
        </p:nvSpPr>
        <p:spPr>
          <a:xfrm>
            <a:off x="6537960" y="2368296"/>
            <a:ext cx="4745736" cy="896112"/>
          </a:xfrm>
          <a:prstGeom prst="rect">
            <a:avLst/>
          </a:prstGeom>
          <a:noFill/>
          <a:ln/>
        </p:spPr>
        <p:txBody>
          <a:bodyPr wrap="square" lIns="0" tIns="0" rIns="0" bIns="0" rtlCol="0" anchor="t"/>
          <a:lstStyle/>
          <a:p>
            <a:pPr algn="l" indent="0" marL="0">
              <a:buNone/>
            </a:pPr>
            <a:r>
              <a:rPr lang="en-US" sz="1500" dirty="0">
                <a:solidFill>
                  <a:srgbClr val="526B79"/>
                </a:solidFill>
                <a:latin typeface="Arial" pitchFamily="34" charset="0"/>
                <a:ea typeface="Arial" pitchFamily="34" charset="-122"/>
                <a:cs typeface="Arial" pitchFamily="34" charset="-120"/>
              </a:rPr>
              <a:t>Memahami ekspresi */5 dan */15 serta alasan timezone perlu ditulis jelas.</a:t>
            </a:r>
            <a:endParaRPr lang="en-US" sz="1500" dirty="0"/>
          </a:p>
        </p:txBody>
      </p:sp>
      <p:sp>
        <p:nvSpPr>
          <p:cNvPr id="14" name="Shape 12"/>
          <p:cNvSpPr/>
          <p:nvPr/>
        </p:nvSpPr>
        <p:spPr>
          <a:xfrm>
            <a:off x="640080" y="3749040"/>
            <a:ext cx="5257800" cy="1828800"/>
          </a:xfrm>
          <a:prstGeom prst="roundRect">
            <a:avLst>
              <a:gd name="adj" fmla="val 5000"/>
            </a:avLst>
          </a:prstGeom>
          <a:solidFill>
            <a:srgbClr val="FEE8E5"/>
          </a:solidFill>
          <a:ln w="12700">
            <a:solidFill>
              <a:srgbClr val="FEE8E5"/>
            </a:solidFill>
            <a:prstDash val="solid"/>
          </a:ln>
        </p:spPr>
      </p:sp>
      <p:sp>
        <p:nvSpPr>
          <p:cNvPr id="15" name="Shape 13"/>
          <p:cNvSpPr/>
          <p:nvPr/>
        </p:nvSpPr>
        <p:spPr>
          <a:xfrm>
            <a:off x="859536" y="3968496"/>
            <a:ext cx="347472" cy="347472"/>
          </a:xfrm>
          <a:prstGeom prst="ellipse">
            <a:avLst/>
          </a:prstGeom>
          <a:solidFill>
            <a:srgbClr val="FA6A60"/>
          </a:solidFill>
          <a:ln w="12700">
            <a:solidFill>
              <a:srgbClr val="FA6A60"/>
            </a:solidFill>
            <a:prstDash val="solid"/>
          </a:ln>
        </p:spPr>
      </p:sp>
      <p:sp>
        <p:nvSpPr>
          <p:cNvPr id="16" name="Text 14"/>
          <p:cNvSpPr txBox="1"/>
          <p:nvPr/>
        </p:nvSpPr>
        <p:spPr>
          <a:xfrm>
            <a:off x="1335024" y="3959352"/>
            <a:ext cx="4325112" cy="347472"/>
          </a:xfrm>
          <a:prstGeom prst="rect">
            <a:avLst/>
          </a:prstGeom>
          <a:noFill/>
          <a:ln/>
        </p:spPr>
        <p:txBody>
          <a:bodyPr wrap="square" lIns="0" tIns="0" rIns="0" bIns="0" rtlCol="0" anchor="ctr"/>
          <a:lstStyle/>
          <a:p>
            <a:pPr algn="l" indent="0" marL="0">
              <a:buNone/>
            </a:pPr>
            <a:r>
              <a:rPr lang="en-US" sz="1900" b="1" dirty="0">
                <a:solidFill>
                  <a:srgbClr val="102333"/>
                </a:solidFill>
                <a:latin typeface="Arial" pitchFamily="34" charset="0"/>
                <a:ea typeface="Arial" pitchFamily="34" charset="-122"/>
                <a:cs typeface="Arial" pitchFamily="34" charset="-120"/>
              </a:rPr>
              <a:t>03  Jalankan satu tool</a:t>
            </a:r>
            <a:endParaRPr lang="en-US" sz="1900" dirty="0"/>
          </a:p>
        </p:txBody>
      </p:sp>
      <p:sp>
        <p:nvSpPr>
          <p:cNvPr id="17" name="Text 15"/>
          <p:cNvSpPr txBox="1"/>
          <p:nvPr/>
        </p:nvSpPr>
        <p:spPr>
          <a:xfrm>
            <a:off x="896112" y="4517136"/>
            <a:ext cx="4745736" cy="896112"/>
          </a:xfrm>
          <a:prstGeom prst="rect">
            <a:avLst/>
          </a:prstGeom>
          <a:noFill/>
          <a:ln/>
        </p:spPr>
        <p:txBody>
          <a:bodyPr wrap="square" lIns="0" tIns="0" rIns="0" bIns="0" rtlCol="0" anchor="t"/>
          <a:lstStyle/>
          <a:p>
            <a:pPr algn="l" indent="0" marL="0">
              <a:buNone/>
            </a:pPr>
            <a:r>
              <a:rPr lang="en-US" sz="1500" dirty="0">
                <a:solidFill>
                  <a:srgbClr val="526B79"/>
                </a:solidFill>
                <a:latin typeface="Arial" pitchFamily="34" charset="0"/>
                <a:ea typeface="Arial" pitchFamily="34" charset="-122"/>
                <a:cs typeface="Arial" pitchFamily="34" charset="-120"/>
              </a:rPr>
              <a:t>Memicu pipeline ELT lewat Dagster, Prefect, atau Kestra dan membaca log run.</a:t>
            </a:r>
            <a:endParaRPr lang="en-US" sz="1500" dirty="0"/>
          </a:p>
        </p:txBody>
      </p:sp>
      <p:sp>
        <p:nvSpPr>
          <p:cNvPr id="18" name="Shape 16"/>
          <p:cNvSpPr/>
          <p:nvPr/>
        </p:nvSpPr>
        <p:spPr>
          <a:xfrm>
            <a:off x="6281928" y="3749040"/>
            <a:ext cx="5257800" cy="1828800"/>
          </a:xfrm>
          <a:prstGeom prst="roundRect">
            <a:avLst>
              <a:gd name="adj" fmla="val 5000"/>
            </a:avLst>
          </a:prstGeom>
          <a:solidFill>
            <a:srgbClr val="E3F5EA"/>
          </a:solidFill>
          <a:ln w="12700">
            <a:solidFill>
              <a:srgbClr val="E3F5EA"/>
            </a:solidFill>
            <a:prstDash val="solid"/>
          </a:ln>
        </p:spPr>
      </p:sp>
      <p:sp>
        <p:nvSpPr>
          <p:cNvPr id="19" name="Shape 17"/>
          <p:cNvSpPr/>
          <p:nvPr/>
        </p:nvSpPr>
        <p:spPr>
          <a:xfrm>
            <a:off x="6501384" y="3968496"/>
            <a:ext cx="347472" cy="347472"/>
          </a:xfrm>
          <a:prstGeom prst="ellipse">
            <a:avLst/>
          </a:prstGeom>
          <a:solidFill>
            <a:srgbClr val="17865D"/>
          </a:solidFill>
          <a:ln w="12700">
            <a:solidFill>
              <a:srgbClr val="17865D"/>
            </a:solidFill>
            <a:prstDash val="solid"/>
          </a:ln>
        </p:spPr>
      </p:sp>
      <p:sp>
        <p:nvSpPr>
          <p:cNvPr id="20" name="Text 18"/>
          <p:cNvSpPr txBox="1"/>
          <p:nvPr/>
        </p:nvSpPr>
        <p:spPr>
          <a:xfrm>
            <a:off x="6976872" y="3959352"/>
            <a:ext cx="4325112" cy="347472"/>
          </a:xfrm>
          <a:prstGeom prst="rect">
            <a:avLst/>
          </a:prstGeom>
          <a:noFill/>
          <a:ln/>
        </p:spPr>
        <p:txBody>
          <a:bodyPr wrap="square" lIns="0" tIns="0" rIns="0" bIns="0" rtlCol="0" anchor="ctr"/>
          <a:lstStyle/>
          <a:p>
            <a:pPr algn="l" indent="0" marL="0">
              <a:buNone/>
            </a:pPr>
            <a:r>
              <a:rPr lang="en-US" sz="1900" b="1" dirty="0">
                <a:solidFill>
                  <a:srgbClr val="102333"/>
                </a:solidFill>
                <a:latin typeface="Arial" pitchFamily="34" charset="0"/>
                <a:ea typeface="Arial" pitchFamily="34" charset="-122"/>
                <a:cs typeface="Arial" pitchFamily="34" charset="-120"/>
              </a:rPr>
              <a:t>04  Verifikasi hasil</a:t>
            </a:r>
            <a:endParaRPr lang="en-US" sz="1900" dirty="0"/>
          </a:p>
        </p:txBody>
      </p:sp>
      <p:sp>
        <p:nvSpPr>
          <p:cNvPr id="21" name="Text 19"/>
          <p:cNvSpPr txBox="1"/>
          <p:nvPr/>
        </p:nvSpPr>
        <p:spPr>
          <a:xfrm>
            <a:off x="6537960" y="4517136"/>
            <a:ext cx="4745736" cy="896112"/>
          </a:xfrm>
          <a:prstGeom prst="rect">
            <a:avLst/>
          </a:prstGeom>
          <a:noFill/>
          <a:ln/>
        </p:spPr>
        <p:txBody>
          <a:bodyPr wrap="square" lIns="0" tIns="0" rIns="0" bIns="0" rtlCol="0" anchor="t"/>
          <a:lstStyle/>
          <a:p>
            <a:pPr algn="l" indent="0" marL="0">
              <a:buNone/>
            </a:pPr>
            <a:r>
              <a:rPr lang="en-US" sz="1500" dirty="0">
                <a:solidFill>
                  <a:srgbClr val="526B79"/>
                </a:solidFill>
                <a:latin typeface="Arial" pitchFamily="34" charset="0"/>
                <a:ea typeface="Arial" pitchFamily="34" charset="-122"/>
                <a:cs typeface="Arial" pitchFamily="34" charset="-120"/>
              </a:rPr>
              <a:t>Membuktikan datamart terisi dan menjelaskan apa yang dilakukan saat run gagal.</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365760"/>
            <a:ext cx="10972800" cy="502920"/>
          </a:xfrm>
          <a:prstGeom prst="rect">
            <a:avLst/>
          </a:prstGeom>
          <a:noFill/>
          <a:ln/>
        </p:spPr>
        <p:txBody>
          <a:bodyPr wrap="square" lIns="0" tIns="0" rIns="0" bIns="0" rtlCol="0" anchor="ctr"/>
          <a:lstStyle/>
          <a:p>
            <a:pPr algn="l" indent="0" marL="0">
              <a:buNone/>
            </a:pPr>
            <a:r>
              <a:rPr lang="en-US" sz="3000" b="1" dirty="0">
                <a:solidFill>
                  <a:srgbClr val="0C1E2C"/>
                </a:solidFill>
                <a:latin typeface="Arial" pitchFamily="34" charset="0"/>
                <a:ea typeface="Arial" pitchFamily="34" charset="-122"/>
                <a:cs typeface="Arial" pitchFamily="34" charset="-120"/>
              </a:rPr>
              <a:t>Review: pipeline dari Pertemuan 5</a:t>
            </a:r>
            <a:endParaRPr lang="en-US" sz="3000" dirty="0"/>
          </a:p>
        </p:txBody>
      </p:sp>
      <p:sp>
        <p:nvSpPr>
          <p:cNvPr id="3" name="Text 1"/>
          <p:cNvSpPr txBox="1"/>
          <p:nvPr/>
        </p:nvSpPr>
        <p:spPr>
          <a:xfrm>
            <a:off x="640080" y="941832"/>
            <a:ext cx="10881360" cy="320040"/>
          </a:xfrm>
          <a:prstGeom prst="rect">
            <a:avLst/>
          </a:prstGeom>
          <a:noFill/>
          <a:ln/>
        </p:spPr>
        <p:txBody>
          <a:bodyPr wrap="square" lIns="0" tIns="0" rIns="0" bIns="0" rtlCol="0" anchor="ctr"/>
          <a:lstStyle/>
          <a:p>
            <a:pPr algn="l" indent="0" marL="0">
              <a:buNone/>
            </a:pPr>
            <a:r>
              <a:rPr lang="en-US" sz="1500" dirty="0">
                <a:solidFill>
                  <a:srgbClr val="526B79"/>
                </a:solidFill>
                <a:latin typeface="Arial" pitchFamily="34" charset="0"/>
                <a:ea typeface="Arial" pitchFamily="34" charset="-122"/>
                <a:cs typeface="Arial" pitchFamily="34" charset="-120"/>
              </a:rPr>
              <a:t>Proses data sudah ada; sekarang kita mengatur kapan dan bagaimana proses itu dijalankan.</a:t>
            </a:r>
            <a:endParaRPr lang="en-US" sz="1500" dirty="0"/>
          </a:p>
        </p:txBody>
      </p:sp>
      <p:sp>
        <p:nvSpPr>
          <p:cNvPr id="4" name="Text 2"/>
          <p:cNvSpPr txBox="1"/>
          <p:nvPr/>
        </p:nvSpPr>
        <p:spPr>
          <a:xfrm>
            <a:off x="640080" y="6565392"/>
            <a:ext cx="5486400" cy="146304"/>
          </a:xfrm>
          <a:prstGeom prst="rect">
            <a:avLst/>
          </a:prstGeom>
          <a:noFill/>
          <a:ln/>
        </p:spPr>
        <p:txBody>
          <a:bodyPr wrap="square" lIns="0" tIns="0" rIns="0" bIns="0" rtlCol="0" anchor="ctr"/>
          <a:lstStyle/>
          <a:p>
            <a:pPr algn="l" indent="0" marL="0">
              <a:buNone/>
            </a:pPr>
            <a:r>
              <a:rPr lang="en-US" sz="900" b="1" dirty="0">
                <a:solidFill>
                  <a:srgbClr val="526B79"/>
                </a:solidFill>
                <a:latin typeface="Arial" pitchFamily="34" charset="0"/>
                <a:ea typeface="Arial" pitchFamily="34" charset="-122"/>
                <a:cs typeface="Arial" pitchFamily="34" charset="-120"/>
              </a:rPr>
              <a:t>PERTEMUAN 6  /  DATA ENGINEERING</a:t>
            </a:r>
            <a:endParaRPr lang="en-US" sz="900" dirty="0"/>
          </a:p>
        </p:txBody>
      </p:sp>
      <p:sp>
        <p:nvSpPr>
          <p:cNvPr id="5" name="Text 3"/>
          <p:cNvSpPr txBox="1"/>
          <p:nvPr/>
        </p:nvSpPr>
        <p:spPr>
          <a:xfrm>
            <a:off x="11155680" y="6519672"/>
            <a:ext cx="438912" cy="182880"/>
          </a:xfrm>
          <a:prstGeom prst="rect">
            <a:avLst/>
          </a:prstGeom>
          <a:noFill/>
          <a:ln/>
        </p:spPr>
        <p:txBody>
          <a:bodyPr wrap="square" lIns="0" tIns="0" rIns="0" bIns="0" rtlCol="0" anchor="ctr"/>
          <a:lstStyle/>
          <a:p>
            <a:pPr algn="r" indent="0" marL="0">
              <a:buNone/>
            </a:pPr>
            <a:r>
              <a:rPr lang="en-US" sz="1000" dirty="0">
                <a:solidFill>
                  <a:srgbClr val="526B79"/>
                </a:solidFill>
                <a:latin typeface="Arial" pitchFamily="34" charset="0"/>
                <a:ea typeface="Arial" pitchFamily="34" charset="-122"/>
                <a:cs typeface="Arial" pitchFamily="34" charset="-120"/>
              </a:rPr>
              <a:t>03</a:t>
            </a:r>
            <a:endParaRPr lang="en-US" sz="1000" dirty="0"/>
          </a:p>
        </p:txBody>
      </p:sp>
      <p:sp>
        <p:nvSpPr>
          <p:cNvPr id="6" name="Shape 4"/>
          <p:cNvSpPr/>
          <p:nvPr/>
        </p:nvSpPr>
        <p:spPr>
          <a:xfrm>
            <a:off x="585216" y="1874520"/>
            <a:ext cx="2148840" cy="1417320"/>
          </a:xfrm>
          <a:prstGeom prst="roundRect">
            <a:avLst>
              <a:gd name="adj" fmla="val 6452"/>
            </a:avLst>
          </a:prstGeom>
          <a:solidFill>
            <a:srgbClr val="0C1E2C"/>
          </a:solidFill>
          <a:ln w="12700">
            <a:solidFill>
              <a:srgbClr val="0C1E2C"/>
            </a:solidFill>
            <a:prstDash val="solid"/>
          </a:ln>
        </p:spPr>
      </p:sp>
      <p:sp>
        <p:nvSpPr>
          <p:cNvPr id="7" name="Text 5"/>
          <p:cNvSpPr txBox="1"/>
          <p:nvPr/>
        </p:nvSpPr>
        <p:spPr>
          <a:xfrm>
            <a:off x="731520" y="2057400"/>
            <a:ext cx="1856232" cy="29260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PostgreSQL</a:t>
            </a:r>
            <a:endParaRPr lang="en-US" sz="2000" dirty="0"/>
          </a:p>
        </p:txBody>
      </p:sp>
      <p:sp>
        <p:nvSpPr>
          <p:cNvPr id="8" name="Text 6"/>
          <p:cNvSpPr txBox="1"/>
          <p:nvPr/>
        </p:nvSpPr>
        <p:spPr>
          <a:xfrm>
            <a:off x="713232" y="2468880"/>
            <a:ext cx="1892808" cy="740664"/>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bootcamp.orders</a:t>
            </a:r>
            <a:endParaRPr lang="en-US" sz="1300" dirty="0"/>
          </a:p>
          <a:p>
            <a:pPr algn="ctr" indent="0" marL="0">
              <a:buNone/>
            </a:pPr>
            <a:r>
              <a:rPr lang="en-US" sz="1300" dirty="0">
                <a:solidFill>
                  <a:srgbClr val="FFFFFF"/>
                </a:solidFill>
                <a:latin typeface="Arial" pitchFamily="34" charset="0"/>
                <a:ea typeface="Arial" pitchFamily="34" charset="-122"/>
                <a:cs typeface="Arial" pitchFamily="34" charset="-120"/>
              </a:rPr>
              <a:t>bootcamp.entities</a:t>
            </a:r>
            <a:endParaRPr lang="en-US" sz="1300" dirty="0"/>
          </a:p>
        </p:txBody>
      </p:sp>
      <p:sp>
        <p:nvSpPr>
          <p:cNvPr id="9" name="Shape 7"/>
          <p:cNvSpPr/>
          <p:nvPr/>
        </p:nvSpPr>
        <p:spPr>
          <a:xfrm>
            <a:off x="3063240" y="1874520"/>
            <a:ext cx="2148840" cy="1417320"/>
          </a:xfrm>
          <a:prstGeom prst="roundRect">
            <a:avLst>
              <a:gd name="adj" fmla="val 6452"/>
            </a:avLst>
          </a:prstGeom>
          <a:solidFill>
            <a:srgbClr val="00A7A4"/>
          </a:solidFill>
          <a:ln w="12700">
            <a:solidFill>
              <a:srgbClr val="00A7A4"/>
            </a:solidFill>
            <a:prstDash val="solid"/>
          </a:ln>
        </p:spPr>
      </p:sp>
      <p:sp>
        <p:nvSpPr>
          <p:cNvPr id="10" name="Text 8"/>
          <p:cNvSpPr txBox="1"/>
          <p:nvPr/>
        </p:nvSpPr>
        <p:spPr>
          <a:xfrm>
            <a:off x="3209544" y="2057400"/>
            <a:ext cx="1856232" cy="29260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Python</a:t>
            </a:r>
            <a:endParaRPr lang="en-US" sz="2000" dirty="0"/>
          </a:p>
        </p:txBody>
      </p:sp>
      <p:sp>
        <p:nvSpPr>
          <p:cNvPr id="11" name="Text 9"/>
          <p:cNvSpPr txBox="1"/>
          <p:nvPr/>
        </p:nvSpPr>
        <p:spPr>
          <a:xfrm>
            <a:off x="3191256" y="2468880"/>
            <a:ext cx="1892808" cy="740664"/>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Extract + Load</a:t>
            </a:r>
            <a:endParaRPr lang="en-US" sz="1300" dirty="0"/>
          </a:p>
        </p:txBody>
      </p:sp>
      <p:sp>
        <p:nvSpPr>
          <p:cNvPr id="12" name="Shape 10"/>
          <p:cNvSpPr/>
          <p:nvPr/>
        </p:nvSpPr>
        <p:spPr>
          <a:xfrm>
            <a:off x="5550408" y="1874520"/>
            <a:ext cx="2148840" cy="1417320"/>
          </a:xfrm>
          <a:prstGeom prst="roundRect">
            <a:avLst>
              <a:gd name="adj" fmla="val 6452"/>
            </a:avLst>
          </a:prstGeom>
          <a:solidFill>
            <a:srgbClr val="183043"/>
          </a:solidFill>
          <a:ln w="12700">
            <a:solidFill>
              <a:srgbClr val="183043"/>
            </a:solidFill>
            <a:prstDash val="solid"/>
          </a:ln>
        </p:spPr>
      </p:sp>
      <p:sp>
        <p:nvSpPr>
          <p:cNvPr id="13" name="Text 11"/>
          <p:cNvSpPr txBox="1"/>
          <p:nvPr/>
        </p:nvSpPr>
        <p:spPr>
          <a:xfrm>
            <a:off x="5696712" y="2057400"/>
            <a:ext cx="1856232" cy="292608"/>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ClickHouse</a:t>
            </a:r>
            <a:endParaRPr lang="en-US" sz="1900" dirty="0"/>
          </a:p>
        </p:txBody>
      </p:sp>
      <p:sp>
        <p:nvSpPr>
          <p:cNvPr id="14" name="Text 12"/>
          <p:cNvSpPr txBox="1"/>
          <p:nvPr/>
        </p:nvSpPr>
        <p:spPr>
          <a:xfrm>
            <a:off x="5678424" y="2468880"/>
            <a:ext cx="1892808" cy="740664"/>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staging.raw_*</a:t>
            </a:r>
            <a:endParaRPr lang="en-US" sz="1300" dirty="0"/>
          </a:p>
        </p:txBody>
      </p:sp>
      <p:sp>
        <p:nvSpPr>
          <p:cNvPr id="15" name="Shape 13"/>
          <p:cNvSpPr/>
          <p:nvPr/>
        </p:nvSpPr>
        <p:spPr>
          <a:xfrm>
            <a:off x="8028432" y="1874520"/>
            <a:ext cx="2148840" cy="1417320"/>
          </a:xfrm>
          <a:prstGeom prst="roundRect">
            <a:avLst>
              <a:gd name="adj" fmla="val 6452"/>
            </a:avLst>
          </a:prstGeom>
          <a:solidFill>
            <a:srgbClr val="FA6A60"/>
          </a:solidFill>
          <a:ln w="12700">
            <a:solidFill>
              <a:srgbClr val="FA6A60"/>
            </a:solidFill>
            <a:prstDash val="solid"/>
          </a:ln>
        </p:spPr>
      </p:sp>
      <p:sp>
        <p:nvSpPr>
          <p:cNvPr id="16" name="Text 14"/>
          <p:cNvSpPr txBox="1"/>
          <p:nvPr/>
        </p:nvSpPr>
        <p:spPr>
          <a:xfrm>
            <a:off x="8174736" y="2057400"/>
            <a:ext cx="1856232" cy="29260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dbt</a:t>
            </a:r>
            <a:endParaRPr lang="en-US" sz="2000" dirty="0"/>
          </a:p>
        </p:txBody>
      </p:sp>
      <p:sp>
        <p:nvSpPr>
          <p:cNvPr id="17" name="Text 15"/>
          <p:cNvSpPr txBox="1"/>
          <p:nvPr/>
        </p:nvSpPr>
        <p:spPr>
          <a:xfrm>
            <a:off x="8156448" y="2468880"/>
            <a:ext cx="1892808" cy="740664"/>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stg_orders → datamart</a:t>
            </a:r>
            <a:endParaRPr lang="en-US" sz="1300" dirty="0"/>
          </a:p>
        </p:txBody>
      </p:sp>
      <p:sp>
        <p:nvSpPr>
          <p:cNvPr id="18" name="Shape 16"/>
          <p:cNvSpPr/>
          <p:nvPr/>
        </p:nvSpPr>
        <p:spPr>
          <a:xfrm>
            <a:off x="2807208" y="2569464"/>
            <a:ext cx="192024" cy="0"/>
          </a:xfrm>
          <a:prstGeom prst="line">
            <a:avLst/>
          </a:prstGeom>
          <a:noFill/>
          <a:ln w="50800">
            <a:solidFill>
              <a:srgbClr val="FA6A60"/>
            </a:solidFill>
            <a:prstDash val="solid"/>
            <a:tailEnd type="triangle"/>
          </a:ln>
        </p:spPr>
      </p:sp>
      <p:sp>
        <p:nvSpPr>
          <p:cNvPr id="19" name="Shape 17"/>
          <p:cNvSpPr/>
          <p:nvPr/>
        </p:nvSpPr>
        <p:spPr>
          <a:xfrm>
            <a:off x="5285232" y="2569464"/>
            <a:ext cx="192024" cy="0"/>
          </a:xfrm>
          <a:prstGeom prst="line">
            <a:avLst/>
          </a:prstGeom>
          <a:noFill/>
          <a:ln w="50800">
            <a:solidFill>
              <a:srgbClr val="FA6A60"/>
            </a:solidFill>
            <a:prstDash val="solid"/>
            <a:tailEnd type="triangle"/>
          </a:ln>
        </p:spPr>
      </p:sp>
      <p:sp>
        <p:nvSpPr>
          <p:cNvPr id="20" name="Shape 18"/>
          <p:cNvSpPr/>
          <p:nvPr/>
        </p:nvSpPr>
        <p:spPr>
          <a:xfrm>
            <a:off x="7763256" y="2569464"/>
            <a:ext cx="192024" cy="0"/>
          </a:xfrm>
          <a:prstGeom prst="line">
            <a:avLst/>
          </a:prstGeom>
          <a:noFill/>
          <a:ln w="50800">
            <a:solidFill>
              <a:srgbClr val="FA6A60"/>
            </a:solidFill>
            <a:prstDash val="solid"/>
            <a:tailEnd type="triangle"/>
          </a:ln>
        </p:spPr>
      </p:sp>
      <p:sp>
        <p:nvSpPr>
          <p:cNvPr id="21" name="Shape 19"/>
          <p:cNvSpPr/>
          <p:nvPr/>
        </p:nvSpPr>
        <p:spPr>
          <a:xfrm>
            <a:off x="1097280" y="4078224"/>
            <a:ext cx="10012680" cy="1078992"/>
          </a:xfrm>
          <a:prstGeom prst="roundRect">
            <a:avLst>
              <a:gd name="adj" fmla="val 8475"/>
            </a:avLst>
          </a:prstGeom>
          <a:solidFill>
            <a:srgbClr val="F4F8FA"/>
          </a:solidFill>
          <a:ln w="12700">
            <a:solidFill>
              <a:srgbClr val="F4F8FA"/>
            </a:solidFill>
            <a:prstDash val="solid"/>
          </a:ln>
        </p:spPr>
      </p:sp>
      <p:sp>
        <p:nvSpPr>
          <p:cNvPr id="22" name="Text 20"/>
          <p:cNvSpPr txBox="1"/>
          <p:nvPr/>
        </p:nvSpPr>
        <p:spPr>
          <a:xfrm>
            <a:off x="1508760" y="4325112"/>
            <a:ext cx="9125712" cy="329184"/>
          </a:xfrm>
          <a:prstGeom prst="rect">
            <a:avLst/>
          </a:prstGeom>
          <a:noFill/>
          <a:ln/>
        </p:spPr>
        <p:txBody>
          <a:bodyPr wrap="square" lIns="0" tIns="0" rIns="0" bIns="0" rtlCol="0" anchor="ctr"/>
          <a:lstStyle/>
          <a:p>
            <a:pPr algn="ctr" indent="0" marL="0">
              <a:buNone/>
            </a:pPr>
            <a:r>
              <a:rPr lang="en-US" sz="2300" b="1" dirty="0">
                <a:solidFill>
                  <a:srgbClr val="0C1E2C"/>
                </a:solidFill>
                <a:latin typeface="Courier New" pitchFamily="34" charset="0"/>
                <a:ea typeface="Courier New" pitchFamily="34" charset="-122"/>
                <a:cs typeface="Courier New" pitchFamily="34" charset="-120"/>
              </a:rPr>
              <a:t>bash pertemuan-5/run_pipeline.sh</a:t>
            </a:r>
            <a:endParaRPr lang="en-US" sz="2300" dirty="0"/>
          </a:p>
        </p:txBody>
      </p:sp>
      <p:sp>
        <p:nvSpPr>
          <p:cNvPr id="23" name="Text 21"/>
          <p:cNvSpPr txBox="1"/>
          <p:nvPr/>
        </p:nvSpPr>
        <p:spPr>
          <a:xfrm>
            <a:off x="1371600" y="4736592"/>
            <a:ext cx="9464040" cy="246888"/>
          </a:xfrm>
          <a:prstGeom prst="rect">
            <a:avLst/>
          </a:prstGeom>
          <a:noFill/>
          <a:ln/>
        </p:spPr>
        <p:txBody>
          <a:bodyPr wrap="square" lIns="0" tIns="0" rIns="0" bIns="0" rtlCol="0" anchor="ctr"/>
          <a:lstStyle/>
          <a:p>
            <a:pPr algn="ctr" indent="0" marL="0">
              <a:buNone/>
            </a:pPr>
            <a:r>
              <a:rPr lang="en-US" sz="1500" dirty="0">
                <a:solidFill>
                  <a:srgbClr val="526B79"/>
                </a:solidFill>
                <a:latin typeface="Arial" pitchFamily="34" charset="0"/>
                <a:ea typeface="Arial" pitchFamily="34" charset="-122"/>
                <a:cs typeface="Arial" pitchFamily="34" charset="-120"/>
              </a:rPr>
              <a:t>Command ini memanggil etl_orders.py → dbt run → dbt test → verify_pipeline.py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365760"/>
            <a:ext cx="10972800" cy="502920"/>
          </a:xfrm>
          <a:prstGeom prst="rect">
            <a:avLst/>
          </a:prstGeom>
          <a:noFill/>
          <a:ln/>
        </p:spPr>
        <p:txBody>
          <a:bodyPr wrap="square" lIns="0" tIns="0" rIns="0" bIns="0" rtlCol="0" anchor="ctr"/>
          <a:lstStyle/>
          <a:p>
            <a:pPr algn="l" indent="0" marL="0">
              <a:buNone/>
            </a:pPr>
            <a:r>
              <a:rPr lang="en-US" sz="3000" b="1" dirty="0">
                <a:solidFill>
                  <a:srgbClr val="0C1E2C"/>
                </a:solidFill>
                <a:latin typeface="Arial" pitchFamily="34" charset="0"/>
                <a:ea typeface="Arial" pitchFamily="34" charset="-122"/>
                <a:cs typeface="Arial" pitchFamily="34" charset="-120"/>
              </a:rPr>
              <a:t>Tiga konsep yang sering tertukar</a:t>
            </a:r>
            <a:endParaRPr lang="en-US" sz="3000" dirty="0"/>
          </a:p>
        </p:txBody>
      </p:sp>
      <p:sp>
        <p:nvSpPr>
          <p:cNvPr id="3" name="Text 1"/>
          <p:cNvSpPr txBox="1"/>
          <p:nvPr/>
        </p:nvSpPr>
        <p:spPr>
          <a:xfrm>
            <a:off x="640080" y="941832"/>
            <a:ext cx="10881360" cy="320040"/>
          </a:xfrm>
          <a:prstGeom prst="rect">
            <a:avLst/>
          </a:prstGeom>
          <a:noFill/>
          <a:ln/>
        </p:spPr>
        <p:txBody>
          <a:bodyPr wrap="square" lIns="0" tIns="0" rIns="0" bIns="0" rtlCol="0" anchor="ctr"/>
          <a:lstStyle/>
          <a:p>
            <a:pPr algn="l" indent="0" marL="0">
              <a:buNone/>
            </a:pPr>
            <a:r>
              <a:rPr lang="en-US" sz="1500" dirty="0">
                <a:solidFill>
                  <a:srgbClr val="526B79"/>
                </a:solidFill>
                <a:latin typeface="Arial" pitchFamily="34" charset="0"/>
                <a:ea typeface="Arial" pitchFamily="34" charset="-122"/>
                <a:cs typeface="Arial" pitchFamily="34" charset="-120"/>
              </a:rPr>
              <a:t>Perhatikan pertanyaan yang dijawab oleh masing-masing konsep.</a:t>
            </a:r>
            <a:endParaRPr lang="en-US" sz="1500" dirty="0"/>
          </a:p>
        </p:txBody>
      </p:sp>
      <p:sp>
        <p:nvSpPr>
          <p:cNvPr id="4" name="Text 2"/>
          <p:cNvSpPr txBox="1"/>
          <p:nvPr/>
        </p:nvSpPr>
        <p:spPr>
          <a:xfrm>
            <a:off x="640080" y="6565392"/>
            <a:ext cx="5486400" cy="146304"/>
          </a:xfrm>
          <a:prstGeom prst="rect">
            <a:avLst/>
          </a:prstGeom>
          <a:noFill/>
          <a:ln/>
        </p:spPr>
        <p:txBody>
          <a:bodyPr wrap="square" lIns="0" tIns="0" rIns="0" bIns="0" rtlCol="0" anchor="ctr"/>
          <a:lstStyle/>
          <a:p>
            <a:pPr algn="l" indent="0" marL="0">
              <a:buNone/>
            </a:pPr>
            <a:r>
              <a:rPr lang="en-US" sz="900" b="1" dirty="0">
                <a:solidFill>
                  <a:srgbClr val="526B79"/>
                </a:solidFill>
                <a:latin typeface="Arial" pitchFamily="34" charset="0"/>
                <a:ea typeface="Arial" pitchFamily="34" charset="-122"/>
                <a:cs typeface="Arial" pitchFamily="34" charset="-120"/>
              </a:rPr>
              <a:t>PERTEMUAN 6  /  DATA ENGINEERING</a:t>
            </a:r>
            <a:endParaRPr lang="en-US" sz="900" dirty="0"/>
          </a:p>
        </p:txBody>
      </p:sp>
      <p:sp>
        <p:nvSpPr>
          <p:cNvPr id="5" name="Text 3"/>
          <p:cNvSpPr txBox="1"/>
          <p:nvPr/>
        </p:nvSpPr>
        <p:spPr>
          <a:xfrm>
            <a:off x="11155680" y="6519672"/>
            <a:ext cx="438912" cy="182880"/>
          </a:xfrm>
          <a:prstGeom prst="rect">
            <a:avLst/>
          </a:prstGeom>
          <a:noFill/>
          <a:ln/>
        </p:spPr>
        <p:txBody>
          <a:bodyPr wrap="square" lIns="0" tIns="0" rIns="0" bIns="0" rtlCol="0" anchor="ctr"/>
          <a:lstStyle/>
          <a:p>
            <a:pPr algn="r" indent="0" marL="0">
              <a:buNone/>
            </a:pPr>
            <a:r>
              <a:rPr lang="en-US" sz="1000" dirty="0">
                <a:solidFill>
                  <a:srgbClr val="526B79"/>
                </a:solidFill>
                <a:latin typeface="Arial" pitchFamily="34" charset="0"/>
                <a:ea typeface="Arial" pitchFamily="34" charset="-122"/>
                <a:cs typeface="Arial" pitchFamily="34" charset="-120"/>
              </a:rPr>
              <a:t>04</a:t>
            </a:r>
            <a:endParaRPr lang="en-US" sz="1000" dirty="0"/>
          </a:p>
        </p:txBody>
      </p:sp>
      <p:sp>
        <p:nvSpPr>
          <p:cNvPr id="6" name="Shape 4"/>
          <p:cNvSpPr/>
          <p:nvPr/>
        </p:nvSpPr>
        <p:spPr>
          <a:xfrm>
            <a:off x="640080" y="1627632"/>
            <a:ext cx="3337560" cy="3456432"/>
          </a:xfrm>
          <a:prstGeom prst="roundRect">
            <a:avLst>
              <a:gd name="adj" fmla="val 2740"/>
            </a:avLst>
          </a:prstGeom>
          <a:solidFill>
            <a:srgbClr val="DDF5F3"/>
          </a:solidFill>
          <a:ln w="12700">
            <a:solidFill>
              <a:srgbClr val="DDF5F3"/>
            </a:solidFill>
            <a:prstDash val="solid"/>
          </a:ln>
        </p:spPr>
      </p:sp>
      <p:sp>
        <p:nvSpPr>
          <p:cNvPr id="7" name="Shape 5"/>
          <p:cNvSpPr/>
          <p:nvPr/>
        </p:nvSpPr>
        <p:spPr>
          <a:xfrm>
            <a:off x="914400" y="1892808"/>
            <a:ext cx="484632" cy="484632"/>
          </a:xfrm>
          <a:prstGeom prst="ellipse">
            <a:avLst/>
          </a:prstGeom>
          <a:solidFill>
            <a:srgbClr val="00A7A4"/>
          </a:solidFill>
          <a:ln w="12700">
            <a:solidFill>
              <a:srgbClr val="00A7A4"/>
            </a:solidFill>
            <a:prstDash val="solid"/>
          </a:ln>
        </p:spPr>
      </p:sp>
      <p:sp>
        <p:nvSpPr>
          <p:cNvPr id="8" name="Text 6"/>
          <p:cNvSpPr txBox="1"/>
          <p:nvPr/>
        </p:nvSpPr>
        <p:spPr>
          <a:xfrm>
            <a:off x="914400" y="1984248"/>
            <a:ext cx="484632" cy="2286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9" name="Text 7"/>
          <p:cNvSpPr txBox="1"/>
          <p:nvPr/>
        </p:nvSpPr>
        <p:spPr>
          <a:xfrm>
            <a:off x="914400" y="2542032"/>
            <a:ext cx="2788920" cy="320040"/>
          </a:xfrm>
          <a:prstGeom prst="rect">
            <a:avLst/>
          </a:prstGeom>
          <a:noFill/>
          <a:ln/>
        </p:spPr>
        <p:txBody>
          <a:bodyPr wrap="square" lIns="0" tIns="0" rIns="0" bIns="0" rtlCol="0" anchor="ctr"/>
          <a:lstStyle/>
          <a:p>
            <a:pPr algn="l" indent="0" marL="0">
              <a:buNone/>
            </a:pPr>
            <a:r>
              <a:rPr lang="en-US" sz="1800" b="1" dirty="0">
                <a:solidFill>
                  <a:srgbClr val="00A7A4"/>
                </a:solidFill>
                <a:latin typeface="Arial" pitchFamily="34" charset="0"/>
                <a:ea typeface="Arial" pitchFamily="34" charset="-122"/>
                <a:cs typeface="Arial" pitchFamily="34" charset="-120"/>
              </a:rPr>
              <a:t>AUTOMATION</a:t>
            </a:r>
            <a:endParaRPr lang="en-US" sz="1800" dirty="0"/>
          </a:p>
        </p:txBody>
      </p:sp>
      <p:sp>
        <p:nvSpPr>
          <p:cNvPr id="10" name="Text 8"/>
          <p:cNvSpPr txBox="1"/>
          <p:nvPr/>
        </p:nvSpPr>
        <p:spPr>
          <a:xfrm>
            <a:off x="914400" y="2980944"/>
            <a:ext cx="2761488" cy="594360"/>
          </a:xfrm>
          <a:prstGeom prst="rect">
            <a:avLst/>
          </a:prstGeom>
          <a:noFill/>
          <a:ln/>
        </p:spPr>
        <p:txBody>
          <a:bodyPr wrap="square" lIns="0" tIns="0" rIns="0" bIns="0" rtlCol="0" anchor="t"/>
          <a:lstStyle/>
          <a:p>
            <a:pPr algn="l" indent="0" marL="0">
              <a:buNone/>
            </a:pPr>
            <a:r>
              <a:rPr lang="en-US" sz="2100" b="1" dirty="0">
                <a:solidFill>
                  <a:srgbClr val="0C1E2C"/>
                </a:solidFill>
                <a:latin typeface="Arial" pitchFamily="34" charset="0"/>
                <a:ea typeface="Arial" pitchFamily="34" charset="-122"/>
                <a:cs typeface="Arial" pitchFamily="34" charset="-120"/>
              </a:rPr>
              <a:t>Apa yang berjalan otomatis?</a:t>
            </a:r>
            <a:endParaRPr lang="en-US" sz="2100" dirty="0"/>
          </a:p>
        </p:txBody>
      </p:sp>
      <p:sp>
        <p:nvSpPr>
          <p:cNvPr id="11" name="Text 9"/>
          <p:cNvSpPr txBox="1"/>
          <p:nvPr/>
        </p:nvSpPr>
        <p:spPr>
          <a:xfrm>
            <a:off x="914400" y="3840480"/>
            <a:ext cx="2761488" cy="896112"/>
          </a:xfrm>
          <a:prstGeom prst="rect">
            <a:avLst/>
          </a:prstGeom>
          <a:noFill/>
          <a:ln/>
        </p:spPr>
        <p:txBody>
          <a:bodyPr wrap="square" lIns="0" tIns="0" rIns="0" bIns="0" rtlCol="0" anchor="t"/>
          <a:lstStyle/>
          <a:p>
            <a:pPr algn="l" indent="0" marL="0">
              <a:buNone/>
            </a:pPr>
            <a:r>
              <a:rPr lang="en-US" sz="1500" dirty="0">
                <a:solidFill>
                  <a:srgbClr val="526B79"/>
                </a:solidFill>
                <a:latin typeface="Arial" pitchFamily="34" charset="0"/>
                <a:ea typeface="Arial" pitchFamily="34" charset="-122"/>
                <a:cs typeface="Arial" pitchFamily="34" charset="-120"/>
              </a:rPr>
              <a:t>Aturan membuat aksi berlangsung tanpa klik berulang. Contoh: jalankan pipeline setelah dipicu.</a:t>
            </a:r>
            <a:endParaRPr lang="en-US" sz="1500" dirty="0"/>
          </a:p>
        </p:txBody>
      </p:sp>
      <p:sp>
        <p:nvSpPr>
          <p:cNvPr id="12" name="Shape 10"/>
          <p:cNvSpPr/>
          <p:nvPr/>
        </p:nvSpPr>
        <p:spPr>
          <a:xfrm>
            <a:off x="4343400" y="1627632"/>
            <a:ext cx="3337560" cy="3456432"/>
          </a:xfrm>
          <a:prstGeom prst="roundRect">
            <a:avLst>
              <a:gd name="adj" fmla="val 2740"/>
            </a:avLst>
          </a:prstGeom>
          <a:solidFill>
            <a:srgbClr val="E7F1FA"/>
          </a:solidFill>
          <a:ln w="12700">
            <a:solidFill>
              <a:srgbClr val="E7F1FA"/>
            </a:solidFill>
            <a:prstDash val="solid"/>
          </a:ln>
        </p:spPr>
      </p:sp>
      <p:sp>
        <p:nvSpPr>
          <p:cNvPr id="13" name="Shape 11"/>
          <p:cNvSpPr/>
          <p:nvPr/>
        </p:nvSpPr>
        <p:spPr>
          <a:xfrm>
            <a:off x="4617720" y="1892808"/>
            <a:ext cx="484632" cy="484632"/>
          </a:xfrm>
          <a:prstGeom prst="ellipse">
            <a:avLst/>
          </a:prstGeom>
          <a:solidFill>
            <a:srgbClr val="2563A6"/>
          </a:solidFill>
          <a:ln w="12700">
            <a:solidFill>
              <a:srgbClr val="2563A6"/>
            </a:solidFill>
            <a:prstDash val="solid"/>
          </a:ln>
        </p:spPr>
      </p:sp>
      <p:sp>
        <p:nvSpPr>
          <p:cNvPr id="14" name="Text 12"/>
          <p:cNvSpPr txBox="1"/>
          <p:nvPr/>
        </p:nvSpPr>
        <p:spPr>
          <a:xfrm>
            <a:off x="4617720" y="1984248"/>
            <a:ext cx="484632" cy="2286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5" name="Text 13"/>
          <p:cNvSpPr txBox="1"/>
          <p:nvPr/>
        </p:nvSpPr>
        <p:spPr>
          <a:xfrm>
            <a:off x="4617720" y="2542032"/>
            <a:ext cx="2788920" cy="320040"/>
          </a:xfrm>
          <a:prstGeom prst="rect">
            <a:avLst/>
          </a:prstGeom>
          <a:noFill/>
          <a:ln/>
        </p:spPr>
        <p:txBody>
          <a:bodyPr wrap="square" lIns="0" tIns="0" rIns="0" bIns="0" rtlCol="0" anchor="ctr"/>
          <a:lstStyle/>
          <a:p>
            <a:pPr algn="l" indent="0" marL="0">
              <a:buNone/>
            </a:pPr>
            <a:r>
              <a:rPr lang="en-US" sz="1800" b="1" dirty="0">
                <a:solidFill>
                  <a:srgbClr val="2563A6"/>
                </a:solidFill>
                <a:latin typeface="Arial" pitchFamily="34" charset="0"/>
                <a:ea typeface="Arial" pitchFamily="34" charset="-122"/>
                <a:cs typeface="Arial" pitchFamily="34" charset="-120"/>
              </a:rPr>
              <a:t>SCHEDULING</a:t>
            </a:r>
            <a:endParaRPr lang="en-US" sz="1800" dirty="0"/>
          </a:p>
        </p:txBody>
      </p:sp>
      <p:sp>
        <p:nvSpPr>
          <p:cNvPr id="16" name="Text 14"/>
          <p:cNvSpPr txBox="1"/>
          <p:nvPr/>
        </p:nvSpPr>
        <p:spPr>
          <a:xfrm>
            <a:off x="4617720" y="2980944"/>
            <a:ext cx="2761488" cy="594360"/>
          </a:xfrm>
          <a:prstGeom prst="rect">
            <a:avLst/>
          </a:prstGeom>
          <a:noFill/>
          <a:ln/>
        </p:spPr>
        <p:txBody>
          <a:bodyPr wrap="square" lIns="0" tIns="0" rIns="0" bIns="0" rtlCol="0" anchor="t"/>
          <a:lstStyle/>
          <a:p>
            <a:pPr algn="l" indent="0" marL="0">
              <a:buNone/>
            </a:pPr>
            <a:r>
              <a:rPr lang="en-US" sz="2100" b="1" dirty="0">
                <a:solidFill>
                  <a:srgbClr val="0C1E2C"/>
                </a:solidFill>
                <a:latin typeface="Arial" pitchFamily="34" charset="0"/>
                <a:ea typeface="Arial" pitchFamily="34" charset="-122"/>
                <a:cs typeface="Arial" pitchFamily="34" charset="-120"/>
              </a:rPr>
              <a:t>Kapan pekerjaan dimulai?</a:t>
            </a:r>
            <a:endParaRPr lang="en-US" sz="2100" dirty="0"/>
          </a:p>
        </p:txBody>
      </p:sp>
      <p:sp>
        <p:nvSpPr>
          <p:cNvPr id="17" name="Text 15"/>
          <p:cNvSpPr txBox="1"/>
          <p:nvPr/>
        </p:nvSpPr>
        <p:spPr>
          <a:xfrm>
            <a:off x="4617720" y="3840480"/>
            <a:ext cx="2761488" cy="896112"/>
          </a:xfrm>
          <a:prstGeom prst="rect">
            <a:avLst/>
          </a:prstGeom>
          <a:noFill/>
          <a:ln/>
        </p:spPr>
        <p:txBody>
          <a:bodyPr wrap="square" lIns="0" tIns="0" rIns="0" bIns="0" rtlCol="0" anchor="t"/>
          <a:lstStyle/>
          <a:p>
            <a:pPr algn="l" indent="0" marL="0">
              <a:buNone/>
            </a:pPr>
            <a:r>
              <a:rPr lang="en-US" sz="1500" dirty="0">
                <a:solidFill>
                  <a:srgbClr val="526B79"/>
                </a:solidFill>
                <a:latin typeface="Arial" pitchFamily="34" charset="0"/>
                <a:ea typeface="Arial" pitchFamily="34" charset="-122"/>
                <a:cs typeface="Arial" pitchFamily="34" charset="-120"/>
              </a:rPr>
              <a:t>Jadwal waktu memicu run. Contoh: setiap 5 menit menurut Asia/Jakarta.</a:t>
            </a:r>
            <a:endParaRPr lang="en-US" sz="1500" dirty="0"/>
          </a:p>
        </p:txBody>
      </p:sp>
      <p:sp>
        <p:nvSpPr>
          <p:cNvPr id="18" name="Shape 16"/>
          <p:cNvSpPr/>
          <p:nvPr/>
        </p:nvSpPr>
        <p:spPr>
          <a:xfrm>
            <a:off x="8046720" y="1627632"/>
            <a:ext cx="3337560" cy="3456432"/>
          </a:xfrm>
          <a:prstGeom prst="roundRect">
            <a:avLst>
              <a:gd name="adj" fmla="val 2740"/>
            </a:avLst>
          </a:prstGeom>
          <a:solidFill>
            <a:srgbClr val="FEE8E5"/>
          </a:solidFill>
          <a:ln w="12700">
            <a:solidFill>
              <a:srgbClr val="FEE8E5"/>
            </a:solidFill>
            <a:prstDash val="solid"/>
          </a:ln>
        </p:spPr>
      </p:sp>
      <p:sp>
        <p:nvSpPr>
          <p:cNvPr id="19" name="Shape 17"/>
          <p:cNvSpPr/>
          <p:nvPr/>
        </p:nvSpPr>
        <p:spPr>
          <a:xfrm>
            <a:off x="8321040" y="1892808"/>
            <a:ext cx="484632" cy="484632"/>
          </a:xfrm>
          <a:prstGeom prst="ellipse">
            <a:avLst/>
          </a:prstGeom>
          <a:solidFill>
            <a:srgbClr val="FA6A60"/>
          </a:solidFill>
          <a:ln w="12700">
            <a:solidFill>
              <a:srgbClr val="FA6A60"/>
            </a:solidFill>
            <a:prstDash val="solid"/>
          </a:ln>
        </p:spPr>
      </p:sp>
      <p:sp>
        <p:nvSpPr>
          <p:cNvPr id="20" name="Text 18"/>
          <p:cNvSpPr txBox="1"/>
          <p:nvPr/>
        </p:nvSpPr>
        <p:spPr>
          <a:xfrm>
            <a:off x="8321040" y="1984248"/>
            <a:ext cx="484632" cy="2286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1" name="Text 19"/>
          <p:cNvSpPr txBox="1"/>
          <p:nvPr/>
        </p:nvSpPr>
        <p:spPr>
          <a:xfrm>
            <a:off x="8321040" y="2542032"/>
            <a:ext cx="2788920" cy="320040"/>
          </a:xfrm>
          <a:prstGeom prst="rect">
            <a:avLst/>
          </a:prstGeom>
          <a:noFill/>
          <a:ln/>
        </p:spPr>
        <p:txBody>
          <a:bodyPr wrap="square" lIns="0" tIns="0" rIns="0" bIns="0" rtlCol="0" anchor="ctr"/>
          <a:lstStyle/>
          <a:p>
            <a:pPr algn="l" indent="0" marL="0">
              <a:buNone/>
            </a:pPr>
            <a:r>
              <a:rPr lang="en-US" sz="1800" b="1" dirty="0">
                <a:solidFill>
                  <a:srgbClr val="FA6A60"/>
                </a:solidFill>
                <a:latin typeface="Arial" pitchFamily="34" charset="0"/>
                <a:ea typeface="Arial" pitchFamily="34" charset="-122"/>
                <a:cs typeface="Arial" pitchFamily="34" charset="-120"/>
              </a:rPr>
              <a:t>ORCHESTRATION</a:t>
            </a:r>
            <a:endParaRPr lang="en-US" sz="1800" dirty="0"/>
          </a:p>
        </p:txBody>
      </p:sp>
      <p:sp>
        <p:nvSpPr>
          <p:cNvPr id="22" name="Text 20"/>
          <p:cNvSpPr txBox="1"/>
          <p:nvPr/>
        </p:nvSpPr>
        <p:spPr>
          <a:xfrm>
            <a:off x="8321040" y="2980944"/>
            <a:ext cx="2761488" cy="594360"/>
          </a:xfrm>
          <a:prstGeom prst="rect">
            <a:avLst/>
          </a:prstGeom>
          <a:noFill/>
          <a:ln/>
        </p:spPr>
        <p:txBody>
          <a:bodyPr wrap="square" lIns="0" tIns="0" rIns="0" bIns="0" rtlCol="0" anchor="t"/>
          <a:lstStyle/>
          <a:p>
            <a:pPr algn="l" indent="0" marL="0">
              <a:buNone/>
            </a:pPr>
            <a:r>
              <a:rPr lang="en-US" sz="2100" b="1" dirty="0">
                <a:solidFill>
                  <a:srgbClr val="0C1E2C"/>
                </a:solidFill>
                <a:latin typeface="Arial" pitchFamily="34" charset="0"/>
                <a:ea typeface="Arial" pitchFamily="34" charset="-122"/>
                <a:cs typeface="Arial" pitchFamily="34" charset="-120"/>
              </a:rPr>
              <a:t>Bagaimana alurnya dikendalikan?</a:t>
            </a:r>
            <a:endParaRPr lang="en-US" sz="2100" dirty="0"/>
          </a:p>
        </p:txBody>
      </p:sp>
      <p:sp>
        <p:nvSpPr>
          <p:cNvPr id="23" name="Text 21"/>
          <p:cNvSpPr txBox="1"/>
          <p:nvPr/>
        </p:nvSpPr>
        <p:spPr>
          <a:xfrm>
            <a:off x="8321040" y="3840480"/>
            <a:ext cx="2761488" cy="896112"/>
          </a:xfrm>
          <a:prstGeom prst="rect">
            <a:avLst/>
          </a:prstGeom>
          <a:noFill/>
          <a:ln/>
        </p:spPr>
        <p:txBody>
          <a:bodyPr wrap="square" lIns="0" tIns="0" rIns="0" bIns="0" rtlCol="0" anchor="t"/>
          <a:lstStyle/>
          <a:p>
            <a:pPr algn="l" indent="0" marL="0">
              <a:buNone/>
            </a:pPr>
            <a:r>
              <a:rPr lang="en-US" sz="1500" dirty="0">
                <a:solidFill>
                  <a:srgbClr val="526B79"/>
                </a:solidFill>
                <a:latin typeface="Arial" pitchFamily="34" charset="0"/>
                <a:ea typeface="Arial" pitchFamily="34" charset="-122"/>
                <a:cs typeface="Arial" pitchFamily="34" charset="-120"/>
              </a:rPr>
              <a:t>Mengatur dependency, status, retry, log, dan hasil dari beberapa langkah.</a:t>
            </a:r>
            <a:endParaRPr lang="en-US" sz="1500" dirty="0"/>
          </a:p>
        </p:txBody>
      </p:sp>
      <p:sp>
        <p:nvSpPr>
          <p:cNvPr id="24" name="Text 22"/>
          <p:cNvSpPr txBox="1"/>
          <p:nvPr/>
        </p:nvSpPr>
        <p:spPr>
          <a:xfrm>
            <a:off x="1600200" y="5586984"/>
            <a:ext cx="9006840" cy="338328"/>
          </a:xfrm>
          <a:prstGeom prst="rect">
            <a:avLst/>
          </a:prstGeom>
          <a:noFill/>
          <a:ln/>
        </p:spPr>
        <p:txBody>
          <a:bodyPr wrap="square" lIns="0" tIns="0" rIns="0" bIns="0" rtlCol="0" anchor="ctr"/>
          <a:lstStyle/>
          <a:p>
            <a:pPr algn="ctr" indent="0" marL="0">
              <a:buNone/>
            </a:pPr>
            <a:r>
              <a:rPr lang="en-US" sz="2100" b="1" dirty="0">
                <a:solidFill>
                  <a:srgbClr val="0C1E2C"/>
                </a:solidFill>
                <a:latin typeface="Arial" pitchFamily="34" charset="0"/>
                <a:ea typeface="Arial" pitchFamily="34" charset="-122"/>
                <a:cs typeface="Arial" pitchFamily="34" charset="-120"/>
              </a:rPr>
              <a:t>Satu pipeline dapat memakai ketiganya sekaligus.</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365760"/>
            <a:ext cx="10972800" cy="502920"/>
          </a:xfrm>
          <a:prstGeom prst="rect">
            <a:avLst/>
          </a:prstGeom>
          <a:noFill/>
          <a:ln/>
        </p:spPr>
        <p:txBody>
          <a:bodyPr wrap="square" lIns="0" tIns="0" rIns="0" bIns="0" rtlCol="0" anchor="ctr"/>
          <a:lstStyle/>
          <a:p>
            <a:pPr algn="l" indent="0" marL="0">
              <a:buNone/>
            </a:pPr>
            <a:r>
              <a:rPr lang="en-US" sz="3000" b="1" dirty="0">
                <a:solidFill>
                  <a:srgbClr val="0C1E2C"/>
                </a:solidFill>
                <a:latin typeface="Arial" pitchFamily="34" charset="0"/>
                <a:ea typeface="Arial" pitchFamily="34" charset="-122"/>
                <a:cs typeface="Arial" pitchFamily="34" charset="-120"/>
              </a:rPr>
              <a:t>Dari jadwal hingga data siap dipakai</a:t>
            </a:r>
            <a:endParaRPr lang="en-US" sz="3000" dirty="0"/>
          </a:p>
        </p:txBody>
      </p:sp>
      <p:sp>
        <p:nvSpPr>
          <p:cNvPr id="3" name="Text 1"/>
          <p:cNvSpPr txBox="1"/>
          <p:nvPr/>
        </p:nvSpPr>
        <p:spPr>
          <a:xfrm>
            <a:off x="640080" y="941832"/>
            <a:ext cx="10881360" cy="320040"/>
          </a:xfrm>
          <a:prstGeom prst="rect">
            <a:avLst/>
          </a:prstGeom>
          <a:noFill/>
          <a:ln/>
        </p:spPr>
        <p:txBody>
          <a:bodyPr wrap="square" lIns="0" tIns="0" rIns="0" bIns="0" rtlCol="0" anchor="ctr"/>
          <a:lstStyle/>
          <a:p>
            <a:pPr algn="l" indent="0" marL="0">
              <a:buNone/>
            </a:pPr>
            <a:r>
              <a:rPr lang="en-US" sz="1500" dirty="0">
                <a:solidFill>
                  <a:srgbClr val="526B79"/>
                </a:solidFill>
                <a:latin typeface="Arial" pitchFamily="34" charset="0"/>
                <a:ea typeface="Arial" pitchFamily="34" charset="-122"/>
                <a:cs typeface="Arial" pitchFamily="34" charset="-120"/>
              </a:rPr>
              <a:t>Jadwal memicu sebuah run; run baru dianggap selesai setelah hasilnya lolos verifikasi.</a:t>
            </a:r>
            <a:endParaRPr lang="en-US" sz="1500" dirty="0"/>
          </a:p>
        </p:txBody>
      </p:sp>
      <p:sp>
        <p:nvSpPr>
          <p:cNvPr id="4" name="Text 2"/>
          <p:cNvSpPr txBox="1"/>
          <p:nvPr/>
        </p:nvSpPr>
        <p:spPr>
          <a:xfrm>
            <a:off x="640080" y="6565392"/>
            <a:ext cx="5486400" cy="146304"/>
          </a:xfrm>
          <a:prstGeom prst="rect">
            <a:avLst/>
          </a:prstGeom>
          <a:noFill/>
          <a:ln/>
        </p:spPr>
        <p:txBody>
          <a:bodyPr wrap="square" lIns="0" tIns="0" rIns="0" bIns="0" rtlCol="0" anchor="ctr"/>
          <a:lstStyle/>
          <a:p>
            <a:pPr algn="l" indent="0" marL="0">
              <a:buNone/>
            </a:pPr>
            <a:r>
              <a:rPr lang="en-US" sz="900" b="1" dirty="0">
                <a:solidFill>
                  <a:srgbClr val="526B79"/>
                </a:solidFill>
                <a:latin typeface="Arial" pitchFamily="34" charset="0"/>
                <a:ea typeface="Arial" pitchFamily="34" charset="-122"/>
                <a:cs typeface="Arial" pitchFamily="34" charset="-120"/>
              </a:rPr>
              <a:t>PERTEMUAN 6  /  DATA ENGINEERING</a:t>
            </a:r>
            <a:endParaRPr lang="en-US" sz="900" dirty="0"/>
          </a:p>
        </p:txBody>
      </p:sp>
      <p:sp>
        <p:nvSpPr>
          <p:cNvPr id="5" name="Text 3"/>
          <p:cNvSpPr txBox="1"/>
          <p:nvPr/>
        </p:nvSpPr>
        <p:spPr>
          <a:xfrm>
            <a:off x="11155680" y="6519672"/>
            <a:ext cx="438912" cy="182880"/>
          </a:xfrm>
          <a:prstGeom prst="rect">
            <a:avLst/>
          </a:prstGeom>
          <a:noFill/>
          <a:ln/>
        </p:spPr>
        <p:txBody>
          <a:bodyPr wrap="square" lIns="0" tIns="0" rIns="0" bIns="0" rtlCol="0" anchor="ctr"/>
          <a:lstStyle/>
          <a:p>
            <a:pPr algn="r" indent="0" marL="0">
              <a:buNone/>
            </a:pPr>
            <a:r>
              <a:rPr lang="en-US" sz="1000" dirty="0">
                <a:solidFill>
                  <a:srgbClr val="526B79"/>
                </a:solidFill>
                <a:latin typeface="Arial" pitchFamily="34" charset="0"/>
                <a:ea typeface="Arial" pitchFamily="34" charset="-122"/>
                <a:cs typeface="Arial" pitchFamily="34" charset="-120"/>
              </a:rPr>
              <a:t>05</a:t>
            </a:r>
            <a:endParaRPr lang="en-US" sz="1000" dirty="0"/>
          </a:p>
        </p:txBody>
      </p:sp>
      <p:sp>
        <p:nvSpPr>
          <p:cNvPr id="6" name="Shape 4"/>
          <p:cNvSpPr/>
          <p:nvPr/>
        </p:nvSpPr>
        <p:spPr>
          <a:xfrm>
            <a:off x="594360" y="2176272"/>
            <a:ext cx="704088" cy="704088"/>
          </a:xfrm>
          <a:prstGeom prst="ellipse">
            <a:avLst/>
          </a:prstGeom>
          <a:solidFill>
            <a:srgbClr val="2563A6"/>
          </a:solidFill>
          <a:ln w="12700">
            <a:solidFill>
              <a:srgbClr val="2563A6"/>
            </a:solidFill>
            <a:prstDash val="solid"/>
          </a:ln>
        </p:spPr>
      </p:sp>
      <p:sp>
        <p:nvSpPr>
          <p:cNvPr id="7" name="Text 5"/>
          <p:cNvSpPr txBox="1"/>
          <p:nvPr/>
        </p:nvSpPr>
        <p:spPr>
          <a:xfrm>
            <a:off x="594360" y="2331720"/>
            <a:ext cx="704088" cy="27432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1</a:t>
            </a:r>
            <a:endParaRPr lang="en-US" sz="1900" dirty="0"/>
          </a:p>
        </p:txBody>
      </p:sp>
      <p:sp>
        <p:nvSpPr>
          <p:cNvPr id="8" name="Text 6"/>
          <p:cNvSpPr txBox="1"/>
          <p:nvPr/>
        </p:nvSpPr>
        <p:spPr>
          <a:xfrm>
            <a:off x="484632" y="3154680"/>
            <a:ext cx="1005840" cy="338328"/>
          </a:xfrm>
          <a:prstGeom prst="rect">
            <a:avLst/>
          </a:prstGeom>
          <a:noFill/>
          <a:ln/>
        </p:spPr>
        <p:txBody>
          <a:bodyPr wrap="square" lIns="0" tIns="0" rIns="0" bIns="0" rtlCol="0" anchor="ctr"/>
          <a:lstStyle/>
          <a:p>
            <a:pPr algn="ctr" indent="0" marL="0">
              <a:buNone/>
            </a:pPr>
            <a:r>
              <a:rPr lang="en-US" sz="1800" b="1" dirty="0">
                <a:solidFill>
                  <a:srgbClr val="0C1E2C"/>
                </a:solidFill>
                <a:latin typeface="Arial" pitchFamily="34" charset="0"/>
                <a:ea typeface="Arial" pitchFamily="34" charset="-122"/>
                <a:cs typeface="Arial" pitchFamily="34" charset="-120"/>
              </a:rPr>
              <a:t>Trigger</a:t>
            </a:r>
            <a:endParaRPr lang="en-US" sz="1800" dirty="0"/>
          </a:p>
        </p:txBody>
      </p:sp>
      <p:sp>
        <p:nvSpPr>
          <p:cNvPr id="9" name="Text 7"/>
          <p:cNvSpPr txBox="1"/>
          <p:nvPr/>
        </p:nvSpPr>
        <p:spPr>
          <a:xfrm>
            <a:off x="173736" y="3694176"/>
            <a:ext cx="1664208" cy="731520"/>
          </a:xfrm>
          <a:prstGeom prst="rect">
            <a:avLst/>
          </a:prstGeom>
          <a:noFill/>
          <a:ln/>
        </p:spPr>
        <p:txBody>
          <a:bodyPr wrap="square" lIns="0" tIns="0" rIns="0" bIns="0" rtlCol="0" anchor="t"/>
          <a:lstStyle/>
          <a:p>
            <a:pPr algn="ctr" indent="0" marL="0">
              <a:buNone/>
            </a:pPr>
            <a:r>
              <a:rPr lang="en-US" sz="1300" dirty="0">
                <a:solidFill>
                  <a:srgbClr val="526B79"/>
                </a:solidFill>
                <a:latin typeface="Arial" pitchFamily="34" charset="0"/>
                <a:ea typeface="Arial" pitchFamily="34" charset="-122"/>
                <a:cs typeface="Arial" pitchFamily="34" charset="-120"/>
              </a:rPr>
              <a:t>Cron atau klik manual</a:t>
            </a:r>
            <a:endParaRPr lang="en-US" sz="1300" dirty="0"/>
          </a:p>
        </p:txBody>
      </p:sp>
      <p:sp>
        <p:nvSpPr>
          <p:cNvPr id="10" name="Shape 8"/>
          <p:cNvSpPr/>
          <p:nvPr/>
        </p:nvSpPr>
        <p:spPr>
          <a:xfrm>
            <a:off x="1444752" y="2532888"/>
            <a:ext cx="1234440" cy="0"/>
          </a:xfrm>
          <a:prstGeom prst="line">
            <a:avLst/>
          </a:prstGeom>
          <a:noFill/>
          <a:ln w="38100">
            <a:solidFill>
              <a:srgbClr val="D8E3E9"/>
            </a:solidFill>
            <a:prstDash val="solid"/>
            <a:tailEnd type="triangle"/>
          </a:ln>
        </p:spPr>
      </p:sp>
      <p:sp>
        <p:nvSpPr>
          <p:cNvPr id="11" name="Shape 9"/>
          <p:cNvSpPr/>
          <p:nvPr/>
        </p:nvSpPr>
        <p:spPr>
          <a:xfrm>
            <a:off x="2898648" y="2176272"/>
            <a:ext cx="704088" cy="704088"/>
          </a:xfrm>
          <a:prstGeom prst="ellipse">
            <a:avLst/>
          </a:prstGeom>
          <a:solidFill>
            <a:srgbClr val="00A7A4"/>
          </a:solidFill>
          <a:ln w="12700">
            <a:solidFill>
              <a:srgbClr val="00A7A4"/>
            </a:solidFill>
            <a:prstDash val="solid"/>
          </a:ln>
        </p:spPr>
      </p:sp>
      <p:sp>
        <p:nvSpPr>
          <p:cNvPr id="12" name="Text 10"/>
          <p:cNvSpPr txBox="1"/>
          <p:nvPr/>
        </p:nvSpPr>
        <p:spPr>
          <a:xfrm>
            <a:off x="2898648" y="2331720"/>
            <a:ext cx="704088" cy="27432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2</a:t>
            </a:r>
            <a:endParaRPr lang="en-US" sz="1900" dirty="0"/>
          </a:p>
        </p:txBody>
      </p:sp>
      <p:sp>
        <p:nvSpPr>
          <p:cNvPr id="13" name="Text 11"/>
          <p:cNvSpPr txBox="1"/>
          <p:nvPr/>
        </p:nvSpPr>
        <p:spPr>
          <a:xfrm>
            <a:off x="2788920" y="3154680"/>
            <a:ext cx="1005840" cy="338328"/>
          </a:xfrm>
          <a:prstGeom prst="rect">
            <a:avLst/>
          </a:prstGeom>
          <a:noFill/>
          <a:ln/>
        </p:spPr>
        <p:txBody>
          <a:bodyPr wrap="square" lIns="0" tIns="0" rIns="0" bIns="0" rtlCol="0" anchor="ctr"/>
          <a:lstStyle/>
          <a:p>
            <a:pPr algn="ctr" indent="0" marL="0">
              <a:buNone/>
            </a:pPr>
            <a:r>
              <a:rPr lang="en-US" sz="1800" b="1" dirty="0">
                <a:solidFill>
                  <a:srgbClr val="0C1E2C"/>
                </a:solidFill>
                <a:latin typeface="Arial" pitchFamily="34" charset="0"/>
                <a:ea typeface="Arial" pitchFamily="34" charset="-122"/>
                <a:cs typeface="Arial" pitchFamily="34" charset="-120"/>
              </a:rPr>
              <a:t>Create run</a:t>
            </a:r>
            <a:endParaRPr lang="en-US" sz="1800" dirty="0"/>
          </a:p>
        </p:txBody>
      </p:sp>
      <p:sp>
        <p:nvSpPr>
          <p:cNvPr id="14" name="Text 12"/>
          <p:cNvSpPr txBox="1"/>
          <p:nvPr/>
        </p:nvSpPr>
        <p:spPr>
          <a:xfrm>
            <a:off x="2478024" y="3694176"/>
            <a:ext cx="1664208" cy="731520"/>
          </a:xfrm>
          <a:prstGeom prst="rect">
            <a:avLst/>
          </a:prstGeom>
          <a:noFill/>
          <a:ln/>
        </p:spPr>
        <p:txBody>
          <a:bodyPr wrap="square" lIns="0" tIns="0" rIns="0" bIns="0" rtlCol="0" anchor="t"/>
          <a:lstStyle/>
          <a:p>
            <a:pPr algn="ctr" indent="0" marL="0">
              <a:buNone/>
            </a:pPr>
            <a:r>
              <a:rPr lang="en-US" sz="1300" dirty="0">
                <a:solidFill>
                  <a:srgbClr val="526B79"/>
                </a:solidFill>
                <a:latin typeface="Arial" pitchFamily="34" charset="0"/>
                <a:ea typeface="Arial" pitchFamily="34" charset="-122"/>
                <a:cs typeface="Arial" pitchFamily="34" charset="-120"/>
              </a:rPr>
              <a:t>Status dan ID run dicatat</a:t>
            </a:r>
            <a:endParaRPr lang="en-US" sz="1300" dirty="0"/>
          </a:p>
        </p:txBody>
      </p:sp>
      <p:sp>
        <p:nvSpPr>
          <p:cNvPr id="15" name="Shape 13"/>
          <p:cNvSpPr/>
          <p:nvPr/>
        </p:nvSpPr>
        <p:spPr>
          <a:xfrm>
            <a:off x="3749040" y="2532888"/>
            <a:ext cx="1234440" cy="0"/>
          </a:xfrm>
          <a:prstGeom prst="line">
            <a:avLst/>
          </a:prstGeom>
          <a:noFill/>
          <a:ln w="38100">
            <a:solidFill>
              <a:srgbClr val="D8E3E9"/>
            </a:solidFill>
            <a:prstDash val="solid"/>
            <a:tailEnd type="triangle"/>
          </a:ln>
        </p:spPr>
      </p:sp>
      <p:sp>
        <p:nvSpPr>
          <p:cNvPr id="16" name="Shape 14"/>
          <p:cNvSpPr/>
          <p:nvPr/>
        </p:nvSpPr>
        <p:spPr>
          <a:xfrm>
            <a:off x="5202936" y="2176272"/>
            <a:ext cx="704088" cy="704088"/>
          </a:xfrm>
          <a:prstGeom prst="ellipse">
            <a:avLst/>
          </a:prstGeom>
          <a:solidFill>
            <a:srgbClr val="183043"/>
          </a:solidFill>
          <a:ln w="12700">
            <a:solidFill>
              <a:srgbClr val="183043"/>
            </a:solidFill>
            <a:prstDash val="solid"/>
          </a:ln>
        </p:spPr>
      </p:sp>
      <p:sp>
        <p:nvSpPr>
          <p:cNvPr id="17" name="Text 15"/>
          <p:cNvSpPr txBox="1"/>
          <p:nvPr/>
        </p:nvSpPr>
        <p:spPr>
          <a:xfrm>
            <a:off x="5202936" y="2331720"/>
            <a:ext cx="704088" cy="27432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3</a:t>
            </a:r>
            <a:endParaRPr lang="en-US" sz="1900" dirty="0"/>
          </a:p>
        </p:txBody>
      </p:sp>
      <p:sp>
        <p:nvSpPr>
          <p:cNvPr id="18" name="Text 16"/>
          <p:cNvSpPr txBox="1"/>
          <p:nvPr/>
        </p:nvSpPr>
        <p:spPr>
          <a:xfrm>
            <a:off x="5093208" y="3154680"/>
            <a:ext cx="1005840" cy="338328"/>
          </a:xfrm>
          <a:prstGeom prst="rect">
            <a:avLst/>
          </a:prstGeom>
          <a:noFill/>
          <a:ln/>
        </p:spPr>
        <p:txBody>
          <a:bodyPr wrap="square" lIns="0" tIns="0" rIns="0" bIns="0" rtlCol="0" anchor="ctr"/>
          <a:lstStyle/>
          <a:p>
            <a:pPr algn="ctr" indent="0" marL="0">
              <a:buNone/>
            </a:pPr>
            <a:r>
              <a:rPr lang="en-US" sz="1800" b="1" dirty="0">
                <a:solidFill>
                  <a:srgbClr val="0C1E2C"/>
                </a:solidFill>
                <a:latin typeface="Arial" pitchFamily="34" charset="0"/>
                <a:ea typeface="Arial" pitchFamily="34" charset="-122"/>
                <a:cs typeface="Arial" pitchFamily="34" charset="-120"/>
              </a:rPr>
              <a:t>Execute</a:t>
            </a:r>
            <a:endParaRPr lang="en-US" sz="1800" dirty="0"/>
          </a:p>
        </p:txBody>
      </p:sp>
      <p:sp>
        <p:nvSpPr>
          <p:cNvPr id="19" name="Text 17"/>
          <p:cNvSpPr txBox="1"/>
          <p:nvPr/>
        </p:nvSpPr>
        <p:spPr>
          <a:xfrm>
            <a:off x="4782312" y="3694176"/>
            <a:ext cx="1664208" cy="731520"/>
          </a:xfrm>
          <a:prstGeom prst="rect">
            <a:avLst/>
          </a:prstGeom>
          <a:noFill/>
          <a:ln/>
        </p:spPr>
        <p:txBody>
          <a:bodyPr wrap="square" lIns="0" tIns="0" rIns="0" bIns="0" rtlCol="0" anchor="t"/>
          <a:lstStyle/>
          <a:p>
            <a:pPr algn="ctr" indent="0" marL="0">
              <a:buNone/>
            </a:pPr>
            <a:r>
              <a:rPr lang="en-US" sz="1300" dirty="0">
                <a:solidFill>
                  <a:srgbClr val="526B79"/>
                </a:solidFill>
                <a:latin typeface="Arial" pitchFamily="34" charset="0"/>
                <a:ea typeface="Arial" pitchFamily="34" charset="-122"/>
                <a:cs typeface="Arial" pitchFamily="34" charset="-120"/>
              </a:rPr>
              <a:t>Jalankan pipeline ELT</a:t>
            </a:r>
            <a:endParaRPr lang="en-US" sz="1300" dirty="0"/>
          </a:p>
        </p:txBody>
      </p:sp>
      <p:sp>
        <p:nvSpPr>
          <p:cNvPr id="20" name="Shape 18"/>
          <p:cNvSpPr/>
          <p:nvPr/>
        </p:nvSpPr>
        <p:spPr>
          <a:xfrm>
            <a:off x="6053328" y="2532888"/>
            <a:ext cx="1234440" cy="0"/>
          </a:xfrm>
          <a:prstGeom prst="line">
            <a:avLst/>
          </a:prstGeom>
          <a:noFill/>
          <a:ln w="38100">
            <a:solidFill>
              <a:srgbClr val="D8E3E9"/>
            </a:solidFill>
            <a:prstDash val="solid"/>
            <a:tailEnd type="triangle"/>
          </a:ln>
        </p:spPr>
      </p:sp>
      <p:sp>
        <p:nvSpPr>
          <p:cNvPr id="21" name="Shape 19"/>
          <p:cNvSpPr/>
          <p:nvPr/>
        </p:nvSpPr>
        <p:spPr>
          <a:xfrm>
            <a:off x="7507224" y="2176272"/>
            <a:ext cx="704088" cy="704088"/>
          </a:xfrm>
          <a:prstGeom prst="ellipse">
            <a:avLst/>
          </a:prstGeom>
          <a:solidFill>
            <a:srgbClr val="FA6A60"/>
          </a:solidFill>
          <a:ln w="12700">
            <a:solidFill>
              <a:srgbClr val="FA6A60"/>
            </a:solidFill>
            <a:prstDash val="solid"/>
          </a:ln>
        </p:spPr>
      </p:sp>
      <p:sp>
        <p:nvSpPr>
          <p:cNvPr id="22" name="Text 20"/>
          <p:cNvSpPr txBox="1"/>
          <p:nvPr/>
        </p:nvSpPr>
        <p:spPr>
          <a:xfrm>
            <a:off x="7507224" y="2331720"/>
            <a:ext cx="704088" cy="27432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a:t>
            </a:r>
            <a:endParaRPr lang="en-US" sz="1900" dirty="0"/>
          </a:p>
        </p:txBody>
      </p:sp>
      <p:sp>
        <p:nvSpPr>
          <p:cNvPr id="23" name="Text 21"/>
          <p:cNvSpPr txBox="1"/>
          <p:nvPr/>
        </p:nvSpPr>
        <p:spPr>
          <a:xfrm>
            <a:off x="7397496" y="3154680"/>
            <a:ext cx="1005840" cy="338328"/>
          </a:xfrm>
          <a:prstGeom prst="rect">
            <a:avLst/>
          </a:prstGeom>
          <a:noFill/>
          <a:ln/>
        </p:spPr>
        <p:txBody>
          <a:bodyPr wrap="square" lIns="0" tIns="0" rIns="0" bIns="0" rtlCol="0" anchor="ctr"/>
          <a:lstStyle/>
          <a:p>
            <a:pPr algn="ctr" indent="0" marL="0">
              <a:buNone/>
            </a:pPr>
            <a:r>
              <a:rPr lang="en-US" sz="1800" b="1" dirty="0">
                <a:solidFill>
                  <a:srgbClr val="0C1E2C"/>
                </a:solidFill>
                <a:latin typeface="Arial" pitchFamily="34" charset="0"/>
                <a:ea typeface="Arial" pitchFamily="34" charset="-122"/>
                <a:cs typeface="Arial" pitchFamily="34" charset="-120"/>
              </a:rPr>
              <a:t>Observe</a:t>
            </a:r>
            <a:endParaRPr lang="en-US" sz="1800" dirty="0"/>
          </a:p>
        </p:txBody>
      </p:sp>
      <p:sp>
        <p:nvSpPr>
          <p:cNvPr id="24" name="Text 22"/>
          <p:cNvSpPr txBox="1"/>
          <p:nvPr/>
        </p:nvSpPr>
        <p:spPr>
          <a:xfrm>
            <a:off x="7086600" y="3694176"/>
            <a:ext cx="1664208" cy="731520"/>
          </a:xfrm>
          <a:prstGeom prst="rect">
            <a:avLst/>
          </a:prstGeom>
          <a:noFill/>
          <a:ln/>
        </p:spPr>
        <p:txBody>
          <a:bodyPr wrap="square" lIns="0" tIns="0" rIns="0" bIns="0" rtlCol="0" anchor="t"/>
          <a:lstStyle/>
          <a:p>
            <a:pPr algn="ctr" indent="0" marL="0">
              <a:buNone/>
            </a:pPr>
            <a:r>
              <a:rPr lang="en-US" sz="1300" dirty="0">
                <a:solidFill>
                  <a:srgbClr val="526B79"/>
                </a:solidFill>
                <a:latin typeface="Arial" pitchFamily="34" charset="0"/>
                <a:ea typeface="Arial" pitchFamily="34" charset="-122"/>
                <a:cs typeface="Arial" pitchFamily="34" charset="-120"/>
              </a:rPr>
              <a:t>Baca log dan error</a:t>
            </a:r>
            <a:endParaRPr lang="en-US" sz="1300" dirty="0"/>
          </a:p>
        </p:txBody>
      </p:sp>
      <p:sp>
        <p:nvSpPr>
          <p:cNvPr id="25" name="Shape 23"/>
          <p:cNvSpPr/>
          <p:nvPr/>
        </p:nvSpPr>
        <p:spPr>
          <a:xfrm>
            <a:off x="8357616" y="2532888"/>
            <a:ext cx="1234440" cy="0"/>
          </a:xfrm>
          <a:prstGeom prst="line">
            <a:avLst/>
          </a:prstGeom>
          <a:noFill/>
          <a:ln w="38100">
            <a:solidFill>
              <a:srgbClr val="D8E3E9"/>
            </a:solidFill>
            <a:prstDash val="solid"/>
            <a:tailEnd type="triangle"/>
          </a:ln>
        </p:spPr>
      </p:sp>
      <p:sp>
        <p:nvSpPr>
          <p:cNvPr id="26" name="Shape 24"/>
          <p:cNvSpPr/>
          <p:nvPr/>
        </p:nvSpPr>
        <p:spPr>
          <a:xfrm>
            <a:off x="9811512" y="2176272"/>
            <a:ext cx="704088" cy="704088"/>
          </a:xfrm>
          <a:prstGeom prst="ellipse">
            <a:avLst/>
          </a:prstGeom>
          <a:solidFill>
            <a:srgbClr val="17865D"/>
          </a:solidFill>
          <a:ln w="12700">
            <a:solidFill>
              <a:srgbClr val="17865D"/>
            </a:solidFill>
            <a:prstDash val="solid"/>
          </a:ln>
        </p:spPr>
      </p:sp>
      <p:sp>
        <p:nvSpPr>
          <p:cNvPr id="27" name="Text 25"/>
          <p:cNvSpPr txBox="1"/>
          <p:nvPr/>
        </p:nvSpPr>
        <p:spPr>
          <a:xfrm>
            <a:off x="9811512" y="2331720"/>
            <a:ext cx="704088" cy="27432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5</a:t>
            </a:r>
            <a:endParaRPr lang="en-US" sz="1900" dirty="0"/>
          </a:p>
        </p:txBody>
      </p:sp>
      <p:sp>
        <p:nvSpPr>
          <p:cNvPr id="28" name="Text 26"/>
          <p:cNvSpPr txBox="1"/>
          <p:nvPr/>
        </p:nvSpPr>
        <p:spPr>
          <a:xfrm>
            <a:off x="9701784" y="3154680"/>
            <a:ext cx="1005840" cy="338328"/>
          </a:xfrm>
          <a:prstGeom prst="rect">
            <a:avLst/>
          </a:prstGeom>
          <a:noFill/>
          <a:ln/>
        </p:spPr>
        <p:txBody>
          <a:bodyPr wrap="square" lIns="0" tIns="0" rIns="0" bIns="0" rtlCol="0" anchor="ctr"/>
          <a:lstStyle/>
          <a:p>
            <a:pPr algn="ctr" indent="0" marL="0">
              <a:buNone/>
            </a:pPr>
            <a:r>
              <a:rPr lang="en-US" sz="1800" b="1" dirty="0">
                <a:solidFill>
                  <a:srgbClr val="0C1E2C"/>
                </a:solidFill>
                <a:latin typeface="Arial" pitchFamily="34" charset="0"/>
                <a:ea typeface="Arial" pitchFamily="34" charset="-122"/>
                <a:cs typeface="Arial" pitchFamily="34" charset="-120"/>
              </a:rPr>
              <a:t>Verify</a:t>
            </a:r>
            <a:endParaRPr lang="en-US" sz="1800" dirty="0"/>
          </a:p>
        </p:txBody>
      </p:sp>
      <p:sp>
        <p:nvSpPr>
          <p:cNvPr id="29" name="Text 27"/>
          <p:cNvSpPr txBox="1"/>
          <p:nvPr/>
        </p:nvSpPr>
        <p:spPr>
          <a:xfrm>
            <a:off x="9390888" y="3694176"/>
            <a:ext cx="1664208" cy="731520"/>
          </a:xfrm>
          <a:prstGeom prst="rect">
            <a:avLst/>
          </a:prstGeom>
          <a:noFill/>
          <a:ln/>
        </p:spPr>
        <p:txBody>
          <a:bodyPr wrap="square" lIns="0" tIns="0" rIns="0" bIns="0" rtlCol="0" anchor="t"/>
          <a:lstStyle/>
          <a:p>
            <a:pPr algn="ctr" indent="0" marL="0">
              <a:buNone/>
            </a:pPr>
            <a:r>
              <a:rPr lang="en-US" sz="1300" dirty="0">
                <a:solidFill>
                  <a:srgbClr val="526B79"/>
                </a:solidFill>
                <a:latin typeface="Arial" pitchFamily="34" charset="0"/>
                <a:ea typeface="Arial" pitchFamily="34" charset="-122"/>
                <a:cs typeface="Arial" pitchFamily="34" charset="-120"/>
              </a:rPr>
              <a:t>Cek data mart</a:t>
            </a:r>
            <a:endParaRPr lang="en-US" sz="1300" dirty="0"/>
          </a:p>
        </p:txBody>
      </p:sp>
      <p:sp>
        <p:nvSpPr>
          <p:cNvPr id="30" name="Shape 28"/>
          <p:cNvSpPr/>
          <p:nvPr/>
        </p:nvSpPr>
        <p:spPr>
          <a:xfrm>
            <a:off x="1874520" y="5074920"/>
            <a:ext cx="8366760" cy="530352"/>
          </a:xfrm>
          <a:prstGeom prst="roundRect">
            <a:avLst>
              <a:gd name="adj" fmla="val 17241"/>
            </a:avLst>
          </a:prstGeom>
          <a:solidFill>
            <a:srgbClr val="F4F8FA"/>
          </a:solidFill>
          <a:ln w="12700">
            <a:solidFill>
              <a:srgbClr val="F4F8FA"/>
            </a:solidFill>
            <a:prstDash val="solid"/>
          </a:ln>
        </p:spPr>
      </p:sp>
      <p:sp>
        <p:nvSpPr>
          <p:cNvPr id="31" name="Text 29"/>
          <p:cNvSpPr txBox="1"/>
          <p:nvPr/>
        </p:nvSpPr>
        <p:spPr>
          <a:xfrm>
            <a:off x="2093976" y="5202936"/>
            <a:ext cx="7927848" cy="246888"/>
          </a:xfrm>
          <a:prstGeom prst="rect">
            <a:avLst/>
          </a:prstGeom>
          <a:noFill/>
          <a:ln/>
        </p:spPr>
        <p:txBody>
          <a:bodyPr wrap="square" lIns="0" tIns="0" rIns="0" bIns="0" rtlCol="0" anchor="ctr"/>
          <a:lstStyle/>
          <a:p>
            <a:pPr algn="ctr" indent="0" marL="0">
              <a:buNone/>
            </a:pPr>
            <a:r>
              <a:rPr lang="en-US" sz="1700" b="1" dirty="0">
                <a:solidFill>
                  <a:srgbClr val="0C1E2C"/>
                </a:solidFill>
                <a:latin typeface="Arial" pitchFamily="34" charset="0"/>
                <a:ea typeface="Arial" pitchFamily="34" charset="-122"/>
                <a:cs typeface="Arial" pitchFamily="34" charset="-120"/>
              </a:rPr>
              <a:t>Run sukses = proses selesai + tes lulus + data mart terisi</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365760"/>
            <a:ext cx="10972800" cy="502920"/>
          </a:xfrm>
          <a:prstGeom prst="rect">
            <a:avLst/>
          </a:prstGeom>
          <a:noFill/>
          <a:ln/>
        </p:spPr>
        <p:txBody>
          <a:bodyPr wrap="square" lIns="0" tIns="0" rIns="0" bIns="0" rtlCol="0" anchor="ctr"/>
          <a:lstStyle/>
          <a:p>
            <a:pPr algn="l" indent="0" marL="0">
              <a:buNone/>
            </a:pPr>
            <a:r>
              <a:rPr lang="en-US" sz="3000" b="1" dirty="0">
                <a:solidFill>
                  <a:srgbClr val="0C1E2C"/>
                </a:solidFill>
                <a:latin typeface="Arial" pitchFamily="34" charset="0"/>
                <a:ea typeface="Arial" pitchFamily="34" charset="-122"/>
                <a:cs typeface="Arial" pitchFamily="34" charset="-120"/>
              </a:rPr>
              <a:t>Membaca cron: */5 * * * *</a:t>
            </a:r>
            <a:endParaRPr lang="en-US" sz="3000" dirty="0"/>
          </a:p>
        </p:txBody>
      </p:sp>
      <p:sp>
        <p:nvSpPr>
          <p:cNvPr id="3" name="Text 1"/>
          <p:cNvSpPr txBox="1"/>
          <p:nvPr/>
        </p:nvSpPr>
        <p:spPr>
          <a:xfrm>
            <a:off x="640080" y="941832"/>
            <a:ext cx="10881360" cy="320040"/>
          </a:xfrm>
          <a:prstGeom prst="rect">
            <a:avLst/>
          </a:prstGeom>
          <a:noFill/>
          <a:ln/>
        </p:spPr>
        <p:txBody>
          <a:bodyPr wrap="square" lIns="0" tIns="0" rIns="0" bIns="0" rtlCol="0" anchor="ctr"/>
          <a:lstStyle/>
          <a:p>
            <a:pPr algn="l" indent="0" marL="0">
              <a:buNone/>
            </a:pPr>
            <a:r>
              <a:rPr lang="en-US" sz="1500" dirty="0">
                <a:solidFill>
                  <a:srgbClr val="526B79"/>
                </a:solidFill>
                <a:latin typeface="Arial" pitchFamily="34" charset="0"/>
                <a:ea typeface="Arial" pitchFamily="34" charset="-122"/>
                <a:cs typeface="Arial" pitchFamily="34" charset="-120"/>
              </a:rPr>
              <a:t>Lima bagian cron menentukan menit, jam, tanggal, bulan, dan hari.</a:t>
            </a:r>
            <a:endParaRPr lang="en-US" sz="1500" dirty="0"/>
          </a:p>
        </p:txBody>
      </p:sp>
      <p:sp>
        <p:nvSpPr>
          <p:cNvPr id="4" name="Text 2"/>
          <p:cNvSpPr txBox="1"/>
          <p:nvPr/>
        </p:nvSpPr>
        <p:spPr>
          <a:xfrm>
            <a:off x="640080" y="6565392"/>
            <a:ext cx="5486400" cy="146304"/>
          </a:xfrm>
          <a:prstGeom prst="rect">
            <a:avLst/>
          </a:prstGeom>
          <a:noFill/>
          <a:ln/>
        </p:spPr>
        <p:txBody>
          <a:bodyPr wrap="square" lIns="0" tIns="0" rIns="0" bIns="0" rtlCol="0" anchor="ctr"/>
          <a:lstStyle/>
          <a:p>
            <a:pPr algn="l" indent="0" marL="0">
              <a:buNone/>
            </a:pPr>
            <a:r>
              <a:rPr lang="en-US" sz="900" b="1" dirty="0">
                <a:solidFill>
                  <a:srgbClr val="526B79"/>
                </a:solidFill>
                <a:latin typeface="Arial" pitchFamily="34" charset="0"/>
                <a:ea typeface="Arial" pitchFamily="34" charset="-122"/>
                <a:cs typeface="Arial" pitchFamily="34" charset="-120"/>
              </a:rPr>
              <a:t>PERTEMUAN 6  /  DATA ENGINEERING</a:t>
            </a:r>
            <a:endParaRPr lang="en-US" sz="900" dirty="0"/>
          </a:p>
        </p:txBody>
      </p:sp>
      <p:sp>
        <p:nvSpPr>
          <p:cNvPr id="5" name="Text 3"/>
          <p:cNvSpPr txBox="1"/>
          <p:nvPr/>
        </p:nvSpPr>
        <p:spPr>
          <a:xfrm>
            <a:off x="11155680" y="6519672"/>
            <a:ext cx="438912" cy="182880"/>
          </a:xfrm>
          <a:prstGeom prst="rect">
            <a:avLst/>
          </a:prstGeom>
          <a:noFill/>
          <a:ln/>
        </p:spPr>
        <p:txBody>
          <a:bodyPr wrap="square" lIns="0" tIns="0" rIns="0" bIns="0" rtlCol="0" anchor="ctr"/>
          <a:lstStyle/>
          <a:p>
            <a:pPr algn="r" indent="0" marL="0">
              <a:buNone/>
            </a:pPr>
            <a:r>
              <a:rPr lang="en-US" sz="1000" dirty="0">
                <a:solidFill>
                  <a:srgbClr val="526B79"/>
                </a:solidFill>
                <a:latin typeface="Arial" pitchFamily="34" charset="0"/>
                <a:ea typeface="Arial" pitchFamily="34" charset="-122"/>
                <a:cs typeface="Arial" pitchFamily="34" charset="-120"/>
              </a:rPr>
              <a:t>06</a:t>
            </a:r>
            <a:endParaRPr lang="en-US" sz="1000" dirty="0"/>
          </a:p>
        </p:txBody>
      </p:sp>
      <p:sp>
        <p:nvSpPr>
          <p:cNvPr id="6" name="Shape 4"/>
          <p:cNvSpPr/>
          <p:nvPr/>
        </p:nvSpPr>
        <p:spPr>
          <a:xfrm>
            <a:off x="722376" y="1837944"/>
            <a:ext cx="1965960" cy="1325880"/>
          </a:xfrm>
          <a:prstGeom prst="roundRect">
            <a:avLst>
              <a:gd name="adj" fmla="val 6897"/>
            </a:avLst>
          </a:prstGeom>
          <a:solidFill>
            <a:srgbClr val="00A7A4"/>
          </a:solidFill>
          <a:ln w="12700">
            <a:solidFill>
              <a:srgbClr val="00A7A4"/>
            </a:solidFill>
            <a:prstDash val="solid"/>
          </a:ln>
        </p:spPr>
      </p:sp>
      <p:sp>
        <p:nvSpPr>
          <p:cNvPr id="7" name="Text 5"/>
          <p:cNvSpPr txBox="1"/>
          <p:nvPr/>
        </p:nvSpPr>
        <p:spPr>
          <a:xfrm>
            <a:off x="859536" y="2039112"/>
            <a:ext cx="1691640" cy="475488"/>
          </a:xfrm>
          <a:prstGeom prst="rect">
            <a:avLst/>
          </a:prstGeom>
          <a:noFill/>
          <a:ln/>
        </p:spPr>
        <p:txBody>
          <a:bodyPr wrap="square" lIns="0" tIns="0" rIns="0" bIns="0" rtlCol="0" anchor="ctr"/>
          <a:lstStyle/>
          <a:p>
            <a:pPr algn="ctr" indent="0" marL="0">
              <a:buNone/>
            </a:pPr>
            <a:r>
              <a:rPr lang="en-US" sz="3400" b="1" dirty="0">
                <a:solidFill>
                  <a:srgbClr val="FFFFFF"/>
                </a:solidFill>
                <a:latin typeface="Courier New" pitchFamily="34" charset="0"/>
                <a:ea typeface="Courier New" pitchFamily="34" charset="-122"/>
                <a:cs typeface="Courier New" pitchFamily="34" charset="-120"/>
              </a:rPr>
              <a:t>*/5</a:t>
            </a:r>
            <a:endParaRPr lang="en-US" sz="3400" dirty="0"/>
          </a:p>
        </p:txBody>
      </p:sp>
      <p:sp>
        <p:nvSpPr>
          <p:cNvPr id="8" name="Text 6"/>
          <p:cNvSpPr txBox="1"/>
          <p:nvPr/>
        </p:nvSpPr>
        <p:spPr>
          <a:xfrm>
            <a:off x="859536" y="2752344"/>
            <a:ext cx="1691640" cy="2286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menit</a:t>
            </a:r>
            <a:endParaRPr lang="en-US" sz="1500" dirty="0"/>
          </a:p>
        </p:txBody>
      </p:sp>
      <p:sp>
        <p:nvSpPr>
          <p:cNvPr id="9" name="Shape 7"/>
          <p:cNvSpPr/>
          <p:nvPr/>
        </p:nvSpPr>
        <p:spPr>
          <a:xfrm>
            <a:off x="3054096" y="1837944"/>
            <a:ext cx="1965960" cy="1325880"/>
          </a:xfrm>
          <a:prstGeom prst="roundRect">
            <a:avLst>
              <a:gd name="adj" fmla="val 6897"/>
            </a:avLst>
          </a:prstGeom>
          <a:solidFill>
            <a:srgbClr val="183043"/>
          </a:solidFill>
          <a:ln w="12700">
            <a:solidFill>
              <a:srgbClr val="183043"/>
            </a:solidFill>
            <a:prstDash val="solid"/>
          </a:ln>
        </p:spPr>
      </p:sp>
      <p:sp>
        <p:nvSpPr>
          <p:cNvPr id="10" name="Text 8"/>
          <p:cNvSpPr txBox="1"/>
          <p:nvPr/>
        </p:nvSpPr>
        <p:spPr>
          <a:xfrm>
            <a:off x="3191256" y="2039112"/>
            <a:ext cx="1691640" cy="475488"/>
          </a:xfrm>
          <a:prstGeom prst="rect">
            <a:avLst/>
          </a:prstGeom>
          <a:noFill/>
          <a:ln/>
        </p:spPr>
        <p:txBody>
          <a:bodyPr wrap="square" lIns="0" tIns="0" rIns="0" bIns="0" rtlCol="0" anchor="ctr"/>
          <a:lstStyle/>
          <a:p>
            <a:pPr algn="ctr" indent="0" marL="0">
              <a:buNone/>
            </a:pPr>
            <a:r>
              <a:rPr lang="en-US" sz="3400" b="1" dirty="0">
                <a:solidFill>
                  <a:srgbClr val="FFFFFF"/>
                </a:solidFill>
                <a:latin typeface="Courier New" pitchFamily="34" charset="0"/>
                <a:ea typeface="Courier New" pitchFamily="34" charset="-122"/>
                <a:cs typeface="Courier New" pitchFamily="34" charset="-120"/>
              </a:rPr>
              <a:t>*</a:t>
            </a:r>
            <a:endParaRPr lang="en-US" sz="3400" dirty="0"/>
          </a:p>
        </p:txBody>
      </p:sp>
      <p:sp>
        <p:nvSpPr>
          <p:cNvPr id="11" name="Text 9"/>
          <p:cNvSpPr txBox="1"/>
          <p:nvPr/>
        </p:nvSpPr>
        <p:spPr>
          <a:xfrm>
            <a:off x="3191256" y="2752344"/>
            <a:ext cx="1691640" cy="2286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jam</a:t>
            </a:r>
            <a:endParaRPr lang="en-US" sz="1500" dirty="0"/>
          </a:p>
        </p:txBody>
      </p:sp>
      <p:sp>
        <p:nvSpPr>
          <p:cNvPr id="12" name="Shape 10"/>
          <p:cNvSpPr/>
          <p:nvPr/>
        </p:nvSpPr>
        <p:spPr>
          <a:xfrm>
            <a:off x="5385816" y="1837944"/>
            <a:ext cx="1965960" cy="1325880"/>
          </a:xfrm>
          <a:prstGeom prst="roundRect">
            <a:avLst>
              <a:gd name="adj" fmla="val 6897"/>
            </a:avLst>
          </a:prstGeom>
          <a:solidFill>
            <a:srgbClr val="183043"/>
          </a:solidFill>
          <a:ln w="12700">
            <a:solidFill>
              <a:srgbClr val="183043"/>
            </a:solidFill>
            <a:prstDash val="solid"/>
          </a:ln>
        </p:spPr>
      </p:sp>
      <p:sp>
        <p:nvSpPr>
          <p:cNvPr id="13" name="Text 11"/>
          <p:cNvSpPr txBox="1"/>
          <p:nvPr/>
        </p:nvSpPr>
        <p:spPr>
          <a:xfrm>
            <a:off x="5522976" y="2039112"/>
            <a:ext cx="1691640" cy="475488"/>
          </a:xfrm>
          <a:prstGeom prst="rect">
            <a:avLst/>
          </a:prstGeom>
          <a:noFill/>
          <a:ln/>
        </p:spPr>
        <p:txBody>
          <a:bodyPr wrap="square" lIns="0" tIns="0" rIns="0" bIns="0" rtlCol="0" anchor="ctr"/>
          <a:lstStyle/>
          <a:p>
            <a:pPr algn="ctr" indent="0" marL="0">
              <a:buNone/>
            </a:pPr>
            <a:r>
              <a:rPr lang="en-US" sz="3400" b="1" dirty="0">
                <a:solidFill>
                  <a:srgbClr val="FFFFFF"/>
                </a:solidFill>
                <a:latin typeface="Courier New" pitchFamily="34" charset="0"/>
                <a:ea typeface="Courier New" pitchFamily="34" charset="-122"/>
                <a:cs typeface="Courier New" pitchFamily="34" charset="-120"/>
              </a:rPr>
              <a:t>*</a:t>
            </a:r>
            <a:endParaRPr lang="en-US" sz="3400" dirty="0"/>
          </a:p>
        </p:txBody>
      </p:sp>
      <p:sp>
        <p:nvSpPr>
          <p:cNvPr id="14" name="Text 12"/>
          <p:cNvSpPr txBox="1"/>
          <p:nvPr/>
        </p:nvSpPr>
        <p:spPr>
          <a:xfrm>
            <a:off x="5522976" y="2752344"/>
            <a:ext cx="1691640" cy="2286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tanggal</a:t>
            </a:r>
            <a:endParaRPr lang="en-US" sz="1500" dirty="0"/>
          </a:p>
        </p:txBody>
      </p:sp>
      <p:sp>
        <p:nvSpPr>
          <p:cNvPr id="15" name="Shape 13"/>
          <p:cNvSpPr/>
          <p:nvPr/>
        </p:nvSpPr>
        <p:spPr>
          <a:xfrm>
            <a:off x="7717536" y="1837944"/>
            <a:ext cx="1965960" cy="1325880"/>
          </a:xfrm>
          <a:prstGeom prst="roundRect">
            <a:avLst>
              <a:gd name="adj" fmla="val 6897"/>
            </a:avLst>
          </a:prstGeom>
          <a:solidFill>
            <a:srgbClr val="183043"/>
          </a:solidFill>
          <a:ln w="12700">
            <a:solidFill>
              <a:srgbClr val="183043"/>
            </a:solidFill>
            <a:prstDash val="solid"/>
          </a:ln>
        </p:spPr>
      </p:sp>
      <p:sp>
        <p:nvSpPr>
          <p:cNvPr id="16" name="Text 14"/>
          <p:cNvSpPr txBox="1"/>
          <p:nvPr/>
        </p:nvSpPr>
        <p:spPr>
          <a:xfrm>
            <a:off x="7854696" y="2039112"/>
            <a:ext cx="1691640" cy="475488"/>
          </a:xfrm>
          <a:prstGeom prst="rect">
            <a:avLst/>
          </a:prstGeom>
          <a:noFill/>
          <a:ln/>
        </p:spPr>
        <p:txBody>
          <a:bodyPr wrap="square" lIns="0" tIns="0" rIns="0" bIns="0" rtlCol="0" anchor="ctr"/>
          <a:lstStyle/>
          <a:p>
            <a:pPr algn="ctr" indent="0" marL="0">
              <a:buNone/>
            </a:pPr>
            <a:r>
              <a:rPr lang="en-US" sz="3400" b="1" dirty="0">
                <a:solidFill>
                  <a:srgbClr val="FFFFFF"/>
                </a:solidFill>
                <a:latin typeface="Courier New" pitchFamily="34" charset="0"/>
                <a:ea typeface="Courier New" pitchFamily="34" charset="-122"/>
                <a:cs typeface="Courier New" pitchFamily="34" charset="-120"/>
              </a:rPr>
              <a:t>*</a:t>
            </a:r>
            <a:endParaRPr lang="en-US" sz="3400" dirty="0"/>
          </a:p>
        </p:txBody>
      </p:sp>
      <p:sp>
        <p:nvSpPr>
          <p:cNvPr id="17" name="Text 15"/>
          <p:cNvSpPr txBox="1"/>
          <p:nvPr/>
        </p:nvSpPr>
        <p:spPr>
          <a:xfrm>
            <a:off x="7854696" y="2752344"/>
            <a:ext cx="1691640" cy="2286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bulan</a:t>
            </a:r>
            <a:endParaRPr lang="en-US" sz="1500" dirty="0"/>
          </a:p>
        </p:txBody>
      </p:sp>
      <p:sp>
        <p:nvSpPr>
          <p:cNvPr id="18" name="Shape 16"/>
          <p:cNvSpPr/>
          <p:nvPr/>
        </p:nvSpPr>
        <p:spPr>
          <a:xfrm>
            <a:off x="10049256" y="1837944"/>
            <a:ext cx="1965960" cy="1325880"/>
          </a:xfrm>
          <a:prstGeom prst="roundRect">
            <a:avLst>
              <a:gd name="adj" fmla="val 6897"/>
            </a:avLst>
          </a:prstGeom>
          <a:solidFill>
            <a:srgbClr val="183043"/>
          </a:solidFill>
          <a:ln w="12700">
            <a:solidFill>
              <a:srgbClr val="183043"/>
            </a:solidFill>
            <a:prstDash val="solid"/>
          </a:ln>
        </p:spPr>
      </p:sp>
      <p:sp>
        <p:nvSpPr>
          <p:cNvPr id="19" name="Text 17"/>
          <p:cNvSpPr txBox="1"/>
          <p:nvPr/>
        </p:nvSpPr>
        <p:spPr>
          <a:xfrm>
            <a:off x="10186416" y="2039112"/>
            <a:ext cx="1691640" cy="475488"/>
          </a:xfrm>
          <a:prstGeom prst="rect">
            <a:avLst/>
          </a:prstGeom>
          <a:noFill/>
          <a:ln/>
        </p:spPr>
        <p:txBody>
          <a:bodyPr wrap="square" lIns="0" tIns="0" rIns="0" bIns="0" rtlCol="0" anchor="ctr"/>
          <a:lstStyle/>
          <a:p>
            <a:pPr algn="ctr" indent="0" marL="0">
              <a:buNone/>
            </a:pPr>
            <a:r>
              <a:rPr lang="en-US" sz="3400" b="1" dirty="0">
                <a:solidFill>
                  <a:srgbClr val="FFFFFF"/>
                </a:solidFill>
                <a:latin typeface="Courier New" pitchFamily="34" charset="0"/>
                <a:ea typeface="Courier New" pitchFamily="34" charset="-122"/>
                <a:cs typeface="Courier New" pitchFamily="34" charset="-120"/>
              </a:rPr>
              <a:t>*</a:t>
            </a:r>
            <a:endParaRPr lang="en-US" sz="3400" dirty="0"/>
          </a:p>
        </p:txBody>
      </p:sp>
      <p:sp>
        <p:nvSpPr>
          <p:cNvPr id="20" name="Text 18"/>
          <p:cNvSpPr txBox="1"/>
          <p:nvPr/>
        </p:nvSpPr>
        <p:spPr>
          <a:xfrm>
            <a:off x="10186416" y="2752344"/>
            <a:ext cx="1691640" cy="2286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hari</a:t>
            </a:r>
            <a:endParaRPr lang="en-US" sz="1500" dirty="0"/>
          </a:p>
        </p:txBody>
      </p:sp>
      <p:sp>
        <p:nvSpPr>
          <p:cNvPr id="21" name="Text 19"/>
          <p:cNvSpPr txBox="1"/>
          <p:nvPr/>
        </p:nvSpPr>
        <p:spPr>
          <a:xfrm>
            <a:off x="777240" y="3895344"/>
            <a:ext cx="4160520" cy="420624"/>
          </a:xfrm>
          <a:prstGeom prst="rect">
            <a:avLst/>
          </a:prstGeom>
          <a:noFill/>
          <a:ln/>
        </p:spPr>
        <p:txBody>
          <a:bodyPr wrap="square" lIns="0" tIns="0" rIns="0" bIns="0" rtlCol="0" anchor="ctr"/>
          <a:lstStyle/>
          <a:p>
            <a:pPr algn="l" indent="0" marL="0">
              <a:buNone/>
            </a:pPr>
            <a:r>
              <a:rPr lang="en-US" sz="2700" b="1" dirty="0">
                <a:solidFill>
                  <a:srgbClr val="00A7A4"/>
                </a:solidFill>
                <a:latin typeface="Courier New" pitchFamily="34" charset="0"/>
                <a:ea typeface="Courier New" pitchFamily="34" charset="-122"/>
                <a:cs typeface="Courier New" pitchFamily="34" charset="-120"/>
              </a:rPr>
              <a:t>*/5 * * * *</a:t>
            </a:r>
            <a:endParaRPr lang="en-US" sz="2700" dirty="0"/>
          </a:p>
        </p:txBody>
      </p:sp>
      <p:sp>
        <p:nvSpPr>
          <p:cNvPr id="22" name="Text 20"/>
          <p:cNvSpPr txBox="1"/>
          <p:nvPr/>
        </p:nvSpPr>
        <p:spPr>
          <a:xfrm>
            <a:off x="4572000" y="3904488"/>
            <a:ext cx="2743200" cy="384048"/>
          </a:xfrm>
          <a:prstGeom prst="rect">
            <a:avLst/>
          </a:prstGeom>
          <a:noFill/>
          <a:ln/>
        </p:spPr>
        <p:txBody>
          <a:bodyPr wrap="square" lIns="0" tIns="0" rIns="0" bIns="0" rtlCol="0" anchor="ctr"/>
          <a:lstStyle/>
          <a:p>
            <a:pPr algn="l" indent="0" marL="0">
              <a:buNone/>
            </a:pPr>
            <a:r>
              <a:rPr lang="en-US" sz="2200" dirty="0">
                <a:solidFill>
                  <a:srgbClr val="102333"/>
                </a:solidFill>
                <a:latin typeface="Arial" pitchFamily="34" charset="0"/>
                <a:ea typeface="Arial" pitchFamily="34" charset="-122"/>
                <a:cs typeface="Arial" pitchFamily="34" charset="-120"/>
              </a:rPr>
              <a:t>setiap 5 menit</a:t>
            </a:r>
            <a:endParaRPr lang="en-US" sz="2200" dirty="0"/>
          </a:p>
        </p:txBody>
      </p:sp>
      <p:sp>
        <p:nvSpPr>
          <p:cNvPr id="23" name="Text 21"/>
          <p:cNvSpPr txBox="1"/>
          <p:nvPr/>
        </p:nvSpPr>
        <p:spPr>
          <a:xfrm>
            <a:off x="777240" y="4645152"/>
            <a:ext cx="4160520" cy="420624"/>
          </a:xfrm>
          <a:prstGeom prst="rect">
            <a:avLst/>
          </a:prstGeom>
          <a:noFill/>
          <a:ln/>
        </p:spPr>
        <p:txBody>
          <a:bodyPr wrap="square" lIns="0" tIns="0" rIns="0" bIns="0" rtlCol="0" anchor="ctr"/>
          <a:lstStyle/>
          <a:p>
            <a:pPr algn="l" indent="0" marL="0">
              <a:buNone/>
            </a:pPr>
            <a:r>
              <a:rPr lang="en-US" sz="2700" b="1" dirty="0">
                <a:solidFill>
                  <a:srgbClr val="2563A6"/>
                </a:solidFill>
                <a:latin typeface="Courier New" pitchFamily="34" charset="0"/>
                <a:ea typeface="Courier New" pitchFamily="34" charset="-122"/>
                <a:cs typeface="Courier New" pitchFamily="34" charset="-120"/>
              </a:rPr>
              <a:t>*/15 * * * *</a:t>
            </a:r>
            <a:endParaRPr lang="en-US" sz="2700" dirty="0"/>
          </a:p>
        </p:txBody>
      </p:sp>
      <p:sp>
        <p:nvSpPr>
          <p:cNvPr id="24" name="Text 22"/>
          <p:cNvSpPr txBox="1"/>
          <p:nvPr/>
        </p:nvSpPr>
        <p:spPr>
          <a:xfrm>
            <a:off x="4572000" y="4663440"/>
            <a:ext cx="3200400" cy="384048"/>
          </a:xfrm>
          <a:prstGeom prst="rect">
            <a:avLst/>
          </a:prstGeom>
          <a:noFill/>
          <a:ln/>
        </p:spPr>
        <p:txBody>
          <a:bodyPr wrap="square" lIns="0" tIns="0" rIns="0" bIns="0" rtlCol="0" anchor="ctr"/>
          <a:lstStyle/>
          <a:p>
            <a:pPr algn="l" indent="0" marL="0">
              <a:buNone/>
            </a:pPr>
            <a:r>
              <a:rPr lang="en-US" sz="2200" dirty="0">
                <a:solidFill>
                  <a:srgbClr val="102333"/>
                </a:solidFill>
                <a:latin typeface="Arial" pitchFamily="34" charset="0"/>
                <a:ea typeface="Arial" pitchFamily="34" charset="-122"/>
                <a:cs typeface="Arial" pitchFamily="34" charset="-120"/>
              </a:rPr>
              <a:t>setiap 15 menit</a:t>
            </a:r>
            <a:endParaRPr lang="en-US" sz="2200" dirty="0"/>
          </a:p>
        </p:txBody>
      </p:sp>
      <p:sp>
        <p:nvSpPr>
          <p:cNvPr id="25" name="Shape 23"/>
          <p:cNvSpPr/>
          <p:nvPr/>
        </p:nvSpPr>
        <p:spPr>
          <a:xfrm>
            <a:off x="7927848" y="4773168"/>
            <a:ext cx="3145536" cy="338328"/>
          </a:xfrm>
          <a:prstGeom prst="roundRect">
            <a:avLst>
              <a:gd name="adj" fmla="val 40541"/>
            </a:avLst>
          </a:prstGeom>
          <a:solidFill>
            <a:srgbClr val="FFF2DB"/>
          </a:solidFill>
          <a:ln w="12700">
            <a:solidFill>
              <a:srgbClr val="FFF2DB"/>
            </a:solidFill>
            <a:prstDash val="solid"/>
          </a:ln>
        </p:spPr>
      </p:sp>
      <p:sp>
        <p:nvSpPr>
          <p:cNvPr id="26" name="Text 24"/>
          <p:cNvSpPr txBox="1"/>
          <p:nvPr/>
        </p:nvSpPr>
        <p:spPr>
          <a:xfrm>
            <a:off x="8019288" y="4823460"/>
            <a:ext cx="2962656" cy="219456"/>
          </a:xfrm>
          <a:prstGeom prst="rect">
            <a:avLst/>
          </a:prstGeom>
          <a:noFill/>
          <a:ln/>
        </p:spPr>
        <p:txBody>
          <a:bodyPr wrap="square" lIns="0" tIns="0" rIns="0" bIns="0" rtlCol="0" anchor="ctr"/>
          <a:lstStyle/>
          <a:p>
            <a:pPr algn="ctr" indent="0" marL="0">
              <a:buNone/>
            </a:pPr>
            <a:r>
              <a:rPr lang="en-US" sz="1300" b="1" dirty="0">
                <a:solidFill>
                  <a:srgbClr val="B66405"/>
                </a:solidFill>
                <a:latin typeface="Arial" pitchFamily="34" charset="0"/>
                <a:ea typeface="Arial" pitchFamily="34" charset="-122"/>
                <a:cs typeface="Arial" pitchFamily="34" charset="-120"/>
              </a:rPr>
              <a:t>timezone: Asia/Jakarta</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365760"/>
            <a:ext cx="10972800" cy="502920"/>
          </a:xfrm>
          <a:prstGeom prst="rect">
            <a:avLst/>
          </a:prstGeom>
          <a:noFill/>
          <a:ln/>
        </p:spPr>
        <p:txBody>
          <a:bodyPr wrap="square" lIns="0" tIns="0" rIns="0" bIns="0" rtlCol="0" anchor="ctr"/>
          <a:lstStyle/>
          <a:p>
            <a:pPr algn="l" indent="0" marL="0">
              <a:buNone/>
            </a:pPr>
            <a:r>
              <a:rPr lang="en-US" sz="3000" b="1" dirty="0">
                <a:solidFill>
                  <a:srgbClr val="0C1E2C"/>
                </a:solidFill>
                <a:latin typeface="Arial" pitchFamily="34" charset="0"/>
                <a:ea typeface="Arial" pitchFamily="34" charset="-122"/>
                <a:cs typeface="Arial" pitchFamily="34" charset="-120"/>
              </a:rPr>
              <a:t>Jadwal pada kode latihan</a:t>
            </a:r>
            <a:endParaRPr lang="en-US" sz="3000" dirty="0"/>
          </a:p>
        </p:txBody>
      </p:sp>
      <p:sp>
        <p:nvSpPr>
          <p:cNvPr id="3" name="Text 1"/>
          <p:cNvSpPr txBox="1"/>
          <p:nvPr/>
        </p:nvSpPr>
        <p:spPr>
          <a:xfrm>
            <a:off x="640080" y="941832"/>
            <a:ext cx="10881360" cy="320040"/>
          </a:xfrm>
          <a:prstGeom prst="rect">
            <a:avLst/>
          </a:prstGeom>
          <a:noFill/>
          <a:ln/>
        </p:spPr>
        <p:txBody>
          <a:bodyPr wrap="square" lIns="0" tIns="0" rIns="0" bIns="0" rtlCol="0" anchor="ctr"/>
          <a:lstStyle/>
          <a:p>
            <a:pPr algn="l" indent="0" marL="0">
              <a:buNone/>
            </a:pPr>
            <a:r>
              <a:rPr lang="en-US" sz="1500" dirty="0">
                <a:solidFill>
                  <a:srgbClr val="526B79"/>
                </a:solidFill>
                <a:latin typeface="Arial" pitchFamily="34" charset="0"/>
                <a:ea typeface="Arial" pitchFamily="34" charset="-122"/>
                <a:cs typeface="Arial" pitchFamily="34" charset="-120"/>
              </a:rPr>
              <a:t>Bandingkan interval nyata pada kode, lalu periksa timezone tiap deployment.</a:t>
            </a:r>
            <a:endParaRPr lang="en-US" sz="1500" dirty="0"/>
          </a:p>
        </p:txBody>
      </p:sp>
      <p:sp>
        <p:nvSpPr>
          <p:cNvPr id="4" name="Text 2"/>
          <p:cNvSpPr txBox="1"/>
          <p:nvPr/>
        </p:nvSpPr>
        <p:spPr>
          <a:xfrm>
            <a:off x="640080" y="6565392"/>
            <a:ext cx="5486400" cy="146304"/>
          </a:xfrm>
          <a:prstGeom prst="rect">
            <a:avLst/>
          </a:prstGeom>
          <a:noFill/>
          <a:ln/>
        </p:spPr>
        <p:txBody>
          <a:bodyPr wrap="square" lIns="0" tIns="0" rIns="0" bIns="0" rtlCol="0" anchor="ctr"/>
          <a:lstStyle/>
          <a:p>
            <a:pPr algn="l" indent="0" marL="0">
              <a:buNone/>
            </a:pPr>
            <a:r>
              <a:rPr lang="en-US" sz="900" b="1" dirty="0">
                <a:solidFill>
                  <a:srgbClr val="526B79"/>
                </a:solidFill>
                <a:latin typeface="Arial" pitchFamily="34" charset="0"/>
                <a:ea typeface="Arial" pitchFamily="34" charset="-122"/>
                <a:cs typeface="Arial" pitchFamily="34" charset="-120"/>
              </a:rPr>
              <a:t>PERTEMUAN 6  /  DATA ENGINEERING</a:t>
            </a:r>
            <a:endParaRPr lang="en-US" sz="900" dirty="0"/>
          </a:p>
        </p:txBody>
      </p:sp>
      <p:sp>
        <p:nvSpPr>
          <p:cNvPr id="5" name="Text 3"/>
          <p:cNvSpPr txBox="1"/>
          <p:nvPr/>
        </p:nvSpPr>
        <p:spPr>
          <a:xfrm>
            <a:off x="11155680" y="6519672"/>
            <a:ext cx="438912" cy="182880"/>
          </a:xfrm>
          <a:prstGeom prst="rect">
            <a:avLst/>
          </a:prstGeom>
          <a:noFill/>
          <a:ln/>
        </p:spPr>
        <p:txBody>
          <a:bodyPr wrap="square" lIns="0" tIns="0" rIns="0" bIns="0" rtlCol="0" anchor="ctr"/>
          <a:lstStyle/>
          <a:p>
            <a:pPr algn="r" indent="0" marL="0">
              <a:buNone/>
            </a:pPr>
            <a:r>
              <a:rPr lang="en-US" sz="1000" dirty="0">
                <a:solidFill>
                  <a:srgbClr val="526B79"/>
                </a:solidFill>
                <a:latin typeface="Arial" pitchFamily="34" charset="0"/>
                <a:ea typeface="Arial" pitchFamily="34" charset="-122"/>
                <a:cs typeface="Arial" pitchFamily="34" charset="-120"/>
              </a:rPr>
              <a:t>07</a:t>
            </a:r>
            <a:endParaRPr lang="en-US" sz="1000" dirty="0"/>
          </a:p>
        </p:txBody>
      </p:sp>
      <p:sp>
        <p:nvSpPr>
          <p:cNvPr id="6" name="Shape 4"/>
          <p:cNvSpPr/>
          <p:nvPr/>
        </p:nvSpPr>
        <p:spPr>
          <a:xfrm>
            <a:off x="667512" y="1609344"/>
            <a:ext cx="10863072" cy="978408"/>
          </a:xfrm>
          <a:prstGeom prst="roundRect">
            <a:avLst>
              <a:gd name="adj" fmla="val 9346"/>
            </a:avLst>
          </a:prstGeom>
          <a:solidFill>
            <a:srgbClr val="DDF5F3"/>
          </a:solidFill>
          <a:ln w="12700">
            <a:solidFill>
              <a:srgbClr val="DDF5F3"/>
            </a:solidFill>
            <a:prstDash val="solid"/>
          </a:ln>
        </p:spPr>
      </p:sp>
      <p:sp>
        <p:nvSpPr>
          <p:cNvPr id="7" name="Text 5"/>
          <p:cNvSpPr txBox="1"/>
          <p:nvPr/>
        </p:nvSpPr>
        <p:spPr>
          <a:xfrm>
            <a:off x="932688" y="1783080"/>
            <a:ext cx="2057400" cy="292608"/>
          </a:xfrm>
          <a:prstGeom prst="rect">
            <a:avLst/>
          </a:prstGeom>
          <a:noFill/>
          <a:ln/>
        </p:spPr>
        <p:txBody>
          <a:bodyPr wrap="square" lIns="0" tIns="0" rIns="0" bIns="0" rtlCol="0" anchor="ctr"/>
          <a:lstStyle/>
          <a:p>
            <a:pPr algn="l" indent="0" marL="0">
              <a:buNone/>
            </a:pPr>
            <a:r>
              <a:rPr lang="en-US" sz="2100" b="1" dirty="0">
                <a:solidFill>
                  <a:srgbClr val="00A7A4"/>
                </a:solidFill>
                <a:latin typeface="Arial" pitchFamily="34" charset="0"/>
                <a:ea typeface="Arial" pitchFamily="34" charset="-122"/>
                <a:cs typeface="Arial" pitchFamily="34" charset="-120"/>
              </a:rPr>
              <a:t>Dagster</a:t>
            </a:r>
            <a:endParaRPr lang="en-US" sz="2100" dirty="0"/>
          </a:p>
        </p:txBody>
      </p:sp>
      <p:sp>
        <p:nvSpPr>
          <p:cNvPr id="8" name="Text 6"/>
          <p:cNvSpPr txBox="1"/>
          <p:nvPr/>
        </p:nvSpPr>
        <p:spPr>
          <a:xfrm>
            <a:off x="2816352" y="1828800"/>
            <a:ext cx="3200400" cy="237744"/>
          </a:xfrm>
          <a:prstGeom prst="rect">
            <a:avLst/>
          </a:prstGeom>
          <a:noFill/>
          <a:ln/>
        </p:spPr>
        <p:txBody>
          <a:bodyPr wrap="square" lIns="0" tIns="0" rIns="0" bIns="0" rtlCol="0" anchor="ctr"/>
          <a:lstStyle/>
          <a:p>
            <a:pPr algn="l" indent="0" marL="0">
              <a:buNone/>
            </a:pPr>
            <a:r>
              <a:rPr lang="en-US" sz="1400" dirty="0">
                <a:solidFill>
                  <a:srgbClr val="102333"/>
                </a:solidFill>
                <a:latin typeface="Courier New" pitchFamily="34" charset="0"/>
                <a:ea typeface="Courier New" pitchFamily="34" charset="-122"/>
                <a:cs typeface="Courier New" pitchFamily="34" charset="-120"/>
              </a:rPr>
              <a:t>dagster_pipeline.py</a:t>
            </a:r>
            <a:endParaRPr lang="en-US" sz="1400" dirty="0"/>
          </a:p>
        </p:txBody>
      </p:sp>
      <p:sp>
        <p:nvSpPr>
          <p:cNvPr id="9" name="Text 7"/>
          <p:cNvSpPr txBox="1"/>
          <p:nvPr/>
        </p:nvSpPr>
        <p:spPr>
          <a:xfrm>
            <a:off x="6190488" y="1792224"/>
            <a:ext cx="2359152" cy="274320"/>
          </a:xfrm>
          <a:prstGeom prst="rect">
            <a:avLst/>
          </a:prstGeom>
          <a:noFill/>
          <a:ln/>
        </p:spPr>
        <p:txBody>
          <a:bodyPr wrap="square" lIns="0" tIns="0" rIns="0" bIns="0" rtlCol="0" anchor="ctr"/>
          <a:lstStyle/>
          <a:p>
            <a:pPr algn="l" indent="0" marL="0">
              <a:buNone/>
            </a:pPr>
            <a:r>
              <a:rPr lang="en-US" sz="1900" b="1" dirty="0">
                <a:solidFill>
                  <a:srgbClr val="0C1E2C"/>
                </a:solidFill>
                <a:latin typeface="Courier New" pitchFamily="34" charset="0"/>
                <a:ea typeface="Courier New" pitchFamily="34" charset="-122"/>
                <a:cs typeface="Courier New" pitchFamily="34" charset="-120"/>
              </a:rPr>
              <a:t>*/5 * * * *</a:t>
            </a:r>
            <a:endParaRPr lang="en-US" sz="1900" dirty="0"/>
          </a:p>
        </p:txBody>
      </p:sp>
      <p:sp>
        <p:nvSpPr>
          <p:cNvPr id="10" name="Text 8"/>
          <p:cNvSpPr txBox="1"/>
          <p:nvPr/>
        </p:nvSpPr>
        <p:spPr>
          <a:xfrm>
            <a:off x="8668512" y="1792224"/>
            <a:ext cx="2487168" cy="493776"/>
          </a:xfrm>
          <a:prstGeom prst="rect">
            <a:avLst/>
          </a:prstGeom>
          <a:noFill/>
          <a:ln/>
        </p:spPr>
        <p:txBody>
          <a:bodyPr wrap="square" lIns="0" tIns="0" rIns="0" bIns="0" rtlCol="0" anchor="ctr"/>
          <a:lstStyle/>
          <a:p>
            <a:pPr algn="l" indent="0" marL="0">
              <a:buNone/>
            </a:pPr>
            <a:r>
              <a:rPr lang="en-US" sz="1300" dirty="0">
                <a:solidFill>
                  <a:srgbClr val="526B79"/>
                </a:solidFill>
                <a:latin typeface="Arial" pitchFamily="34" charset="0"/>
                <a:ea typeface="Arial" pitchFamily="34" charset="-122"/>
                <a:cs typeface="Arial" pitchFamily="34" charset="-120"/>
              </a:rPr>
              <a:t>Schedule pada asset job</a:t>
            </a:r>
            <a:endParaRPr lang="en-US" sz="1300" dirty="0"/>
          </a:p>
        </p:txBody>
      </p:sp>
      <p:sp>
        <p:nvSpPr>
          <p:cNvPr id="11" name="Shape 9"/>
          <p:cNvSpPr/>
          <p:nvPr/>
        </p:nvSpPr>
        <p:spPr>
          <a:xfrm>
            <a:off x="667512" y="2834640"/>
            <a:ext cx="10863072" cy="978408"/>
          </a:xfrm>
          <a:prstGeom prst="roundRect">
            <a:avLst>
              <a:gd name="adj" fmla="val 9346"/>
            </a:avLst>
          </a:prstGeom>
          <a:solidFill>
            <a:srgbClr val="E7F1FA"/>
          </a:solidFill>
          <a:ln w="12700">
            <a:solidFill>
              <a:srgbClr val="E7F1FA"/>
            </a:solidFill>
            <a:prstDash val="solid"/>
          </a:ln>
        </p:spPr>
      </p:sp>
      <p:sp>
        <p:nvSpPr>
          <p:cNvPr id="12" name="Text 10"/>
          <p:cNvSpPr txBox="1"/>
          <p:nvPr/>
        </p:nvSpPr>
        <p:spPr>
          <a:xfrm>
            <a:off x="932688" y="3008376"/>
            <a:ext cx="2057400" cy="292608"/>
          </a:xfrm>
          <a:prstGeom prst="rect">
            <a:avLst/>
          </a:prstGeom>
          <a:noFill/>
          <a:ln/>
        </p:spPr>
        <p:txBody>
          <a:bodyPr wrap="square" lIns="0" tIns="0" rIns="0" bIns="0" rtlCol="0" anchor="ctr"/>
          <a:lstStyle/>
          <a:p>
            <a:pPr algn="l" indent="0" marL="0">
              <a:buNone/>
            </a:pPr>
            <a:r>
              <a:rPr lang="en-US" sz="2100" b="1" dirty="0">
                <a:solidFill>
                  <a:srgbClr val="2563A6"/>
                </a:solidFill>
                <a:latin typeface="Arial" pitchFamily="34" charset="0"/>
                <a:ea typeface="Arial" pitchFamily="34" charset="-122"/>
                <a:cs typeface="Arial" pitchFamily="34" charset="-120"/>
              </a:rPr>
              <a:t>Prefect</a:t>
            </a:r>
            <a:endParaRPr lang="en-US" sz="2100" dirty="0"/>
          </a:p>
        </p:txBody>
      </p:sp>
      <p:sp>
        <p:nvSpPr>
          <p:cNvPr id="13" name="Text 11"/>
          <p:cNvSpPr txBox="1"/>
          <p:nvPr/>
        </p:nvSpPr>
        <p:spPr>
          <a:xfrm>
            <a:off x="2816352" y="3054096"/>
            <a:ext cx="3200400" cy="237744"/>
          </a:xfrm>
          <a:prstGeom prst="rect">
            <a:avLst/>
          </a:prstGeom>
          <a:noFill/>
          <a:ln/>
        </p:spPr>
        <p:txBody>
          <a:bodyPr wrap="square" lIns="0" tIns="0" rIns="0" bIns="0" rtlCol="0" anchor="ctr"/>
          <a:lstStyle/>
          <a:p>
            <a:pPr algn="l" indent="0" marL="0">
              <a:buNone/>
            </a:pPr>
            <a:r>
              <a:rPr lang="en-US" sz="1400" dirty="0">
                <a:solidFill>
                  <a:srgbClr val="102333"/>
                </a:solidFill>
                <a:latin typeface="Courier New" pitchFamily="34" charset="0"/>
                <a:ea typeface="Courier New" pitchFamily="34" charset="-122"/>
                <a:cs typeface="Courier New" pitchFamily="34" charset="-120"/>
              </a:rPr>
              <a:t>prefect_pipeline.py</a:t>
            </a:r>
            <a:endParaRPr lang="en-US" sz="1400" dirty="0"/>
          </a:p>
        </p:txBody>
      </p:sp>
      <p:sp>
        <p:nvSpPr>
          <p:cNvPr id="14" name="Text 12"/>
          <p:cNvSpPr txBox="1"/>
          <p:nvPr/>
        </p:nvSpPr>
        <p:spPr>
          <a:xfrm>
            <a:off x="6190488" y="3017520"/>
            <a:ext cx="2359152" cy="274320"/>
          </a:xfrm>
          <a:prstGeom prst="rect">
            <a:avLst/>
          </a:prstGeom>
          <a:noFill/>
          <a:ln/>
        </p:spPr>
        <p:txBody>
          <a:bodyPr wrap="square" lIns="0" tIns="0" rIns="0" bIns="0" rtlCol="0" anchor="ctr"/>
          <a:lstStyle/>
          <a:p>
            <a:pPr algn="l" indent="0" marL="0">
              <a:buNone/>
            </a:pPr>
            <a:r>
              <a:rPr lang="en-US" sz="1900" b="1" dirty="0">
                <a:solidFill>
                  <a:srgbClr val="0C1E2C"/>
                </a:solidFill>
                <a:latin typeface="Courier New" pitchFamily="34" charset="0"/>
                <a:ea typeface="Courier New" pitchFamily="34" charset="-122"/>
                <a:cs typeface="Courier New" pitchFamily="34" charset="-120"/>
              </a:rPr>
              <a:t>*/15 * * * *</a:t>
            </a:r>
            <a:endParaRPr lang="en-US" sz="1900" dirty="0"/>
          </a:p>
        </p:txBody>
      </p:sp>
      <p:sp>
        <p:nvSpPr>
          <p:cNvPr id="15" name="Text 13"/>
          <p:cNvSpPr txBox="1"/>
          <p:nvPr/>
        </p:nvSpPr>
        <p:spPr>
          <a:xfrm>
            <a:off x="8668512" y="3017520"/>
            <a:ext cx="2487168" cy="493776"/>
          </a:xfrm>
          <a:prstGeom prst="rect">
            <a:avLst/>
          </a:prstGeom>
          <a:noFill/>
          <a:ln/>
        </p:spPr>
        <p:txBody>
          <a:bodyPr wrap="square" lIns="0" tIns="0" rIns="0" bIns="0" rtlCol="0" anchor="ctr"/>
          <a:lstStyle/>
          <a:p>
            <a:pPr algn="l" indent="0" marL="0">
              <a:buNone/>
            </a:pPr>
            <a:r>
              <a:rPr lang="en-US" sz="1300" dirty="0">
                <a:solidFill>
                  <a:srgbClr val="526B79"/>
                </a:solidFill>
                <a:latin typeface="Arial" pitchFamily="34" charset="0"/>
                <a:ea typeface="Arial" pitchFamily="34" charset="-122"/>
                <a:cs typeface="Arial" pitchFamily="34" charset="-120"/>
              </a:rPr>
              <a:t>Deployment melalui serve()</a:t>
            </a:r>
            <a:endParaRPr lang="en-US" sz="1300" dirty="0"/>
          </a:p>
        </p:txBody>
      </p:sp>
      <p:sp>
        <p:nvSpPr>
          <p:cNvPr id="16" name="Shape 14"/>
          <p:cNvSpPr/>
          <p:nvPr/>
        </p:nvSpPr>
        <p:spPr>
          <a:xfrm>
            <a:off x="667512" y="4059936"/>
            <a:ext cx="10863072" cy="978408"/>
          </a:xfrm>
          <a:prstGeom prst="roundRect">
            <a:avLst>
              <a:gd name="adj" fmla="val 9346"/>
            </a:avLst>
          </a:prstGeom>
          <a:solidFill>
            <a:srgbClr val="FEE8E5"/>
          </a:solidFill>
          <a:ln w="12700">
            <a:solidFill>
              <a:srgbClr val="FEE8E5"/>
            </a:solidFill>
            <a:prstDash val="solid"/>
          </a:ln>
        </p:spPr>
      </p:sp>
      <p:sp>
        <p:nvSpPr>
          <p:cNvPr id="17" name="Text 15"/>
          <p:cNvSpPr txBox="1"/>
          <p:nvPr/>
        </p:nvSpPr>
        <p:spPr>
          <a:xfrm>
            <a:off x="932688" y="4233672"/>
            <a:ext cx="2057400" cy="292608"/>
          </a:xfrm>
          <a:prstGeom prst="rect">
            <a:avLst/>
          </a:prstGeom>
          <a:noFill/>
          <a:ln/>
        </p:spPr>
        <p:txBody>
          <a:bodyPr wrap="square" lIns="0" tIns="0" rIns="0" bIns="0" rtlCol="0" anchor="ctr"/>
          <a:lstStyle/>
          <a:p>
            <a:pPr algn="l" indent="0" marL="0">
              <a:buNone/>
            </a:pPr>
            <a:r>
              <a:rPr lang="en-US" sz="2100" b="1" dirty="0">
                <a:solidFill>
                  <a:srgbClr val="FA6A60"/>
                </a:solidFill>
                <a:latin typeface="Arial" pitchFamily="34" charset="0"/>
                <a:ea typeface="Arial" pitchFamily="34" charset="-122"/>
                <a:cs typeface="Arial" pitchFamily="34" charset="-120"/>
              </a:rPr>
              <a:t>Kestra</a:t>
            </a:r>
            <a:endParaRPr lang="en-US" sz="2100" dirty="0"/>
          </a:p>
        </p:txBody>
      </p:sp>
      <p:sp>
        <p:nvSpPr>
          <p:cNvPr id="18" name="Text 16"/>
          <p:cNvSpPr txBox="1"/>
          <p:nvPr/>
        </p:nvSpPr>
        <p:spPr>
          <a:xfrm>
            <a:off x="2816352" y="4279392"/>
            <a:ext cx="3200400" cy="237744"/>
          </a:xfrm>
          <a:prstGeom prst="rect">
            <a:avLst/>
          </a:prstGeom>
          <a:noFill/>
          <a:ln/>
        </p:spPr>
        <p:txBody>
          <a:bodyPr wrap="square" lIns="0" tIns="0" rIns="0" bIns="0" rtlCol="0" anchor="ctr"/>
          <a:lstStyle/>
          <a:p>
            <a:pPr algn="l" indent="0" marL="0">
              <a:buNone/>
            </a:pPr>
            <a:r>
              <a:rPr lang="en-US" sz="1400" dirty="0">
                <a:solidFill>
                  <a:srgbClr val="102333"/>
                </a:solidFill>
                <a:latin typeface="Courier New" pitchFamily="34" charset="0"/>
                <a:ea typeface="Courier New" pitchFamily="34" charset="-122"/>
                <a:cs typeface="Courier New" pitchFamily="34" charset="-120"/>
              </a:rPr>
              <a:t>flows/elt_pipeline.yml</a:t>
            </a:r>
            <a:endParaRPr lang="en-US" sz="1400" dirty="0"/>
          </a:p>
        </p:txBody>
      </p:sp>
      <p:sp>
        <p:nvSpPr>
          <p:cNvPr id="19" name="Text 17"/>
          <p:cNvSpPr txBox="1"/>
          <p:nvPr/>
        </p:nvSpPr>
        <p:spPr>
          <a:xfrm>
            <a:off x="6190488" y="4242816"/>
            <a:ext cx="2359152" cy="274320"/>
          </a:xfrm>
          <a:prstGeom prst="rect">
            <a:avLst/>
          </a:prstGeom>
          <a:noFill/>
          <a:ln/>
        </p:spPr>
        <p:txBody>
          <a:bodyPr wrap="square" lIns="0" tIns="0" rIns="0" bIns="0" rtlCol="0" anchor="ctr"/>
          <a:lstStyle/>
          <a:p>
            <a:pPr algn="l" indent="0" marL="0">
              <a:buNone/>
            </a:pPr>
            <a:r>
              <a:rPr lang="en-US" sz="1900" b="1" dirty="0">
                <a:solidFill>
                  <a:srgbClr val="0C1E2C"/>
                </a:solidFill>
                <a:latin typeface="Courier New" pitchFamily="34" charset="0"/>
                <a:ea typeface="Courier New" pitchFamily="34" charset="-122"/>
                <a:cs typeface="Courier New" pitchFamily="34" charset="-120"/>
              </a:rPr>
              <a:t>*/5 * * * *</a:t>
            </a:r>
            <a:endParaRPr lang="en-US" sz="1900" dirty="0"/>
          </a:p>
        </p:txBody>
      </p:sp>
      <p:sp>
        <p:nvSpPr>
          <p:cNvPr id="20" name="Text 18"/>
          <p:cNvSpPr txBox="1"/>
          <p:nvPr/>
        </p:nvSpPr>
        <p:spPr>
          <a:xfrm>
            <a:off x="8668512" y="4242816"/>
            <a:ext cx="2487168" cy="493776"/>
          </a:xfrm>
          <a:prstGeom prst="rect">
            <a:avLst/>
          </a:prstGeom>
          <a:noFill/>
          <a:ln/>
        </p:spPr>
        <p:txBody>
          <a:bodyPr wrap="square" lIns="0" tIns="0" rIns="0" bIns="0" rtlCol="0" anchor="ctr"/>
          <a:lstStyle/>
          <a:p>
            <a:pPr algn="l" indent="0" marL="0">
              <a:buNone/>
            </a:pPr>
            <a:r>
              <a:rPr lang="en-US" sz="1300" dirty="0">
                <a:solidFill>
                  <a:srgbClr val="526B79"/>
                </a:solidFill>
                <a:latin typeface="Arial" pitchFamily="34" charset="0"/>
                <a:ea typeface="Arial" pitchFamily="34" charset="-122"/>
                <a:cs typeface="Arial" pitchFamily="34" charset="-120"/>
              </a:rPr>
              <a:t>Schedule trigger di YAML</a:t>
            </a:r>
            <a:endParaRPr lang="en-US" sz="1300" dirty="0"/>
          </a:p>
        </p:txBody>
      </p:sp>
      <p:sp>
        <p:nvSpPr>
          <p:cNvPr id="21" name="Text 19"/>
          <p:cNvSpPr txBox="1"/>
          <p:nvPr/>
        </p:nvSpPr>
        <p:spPr>
          <a:xfrm>
            <a:off x="786384" y="5696712"/>
            <a:ext cx="10652760" cy="420624"/>
          </a:xfrm>
          <a:prstGeom prst="rect">
            <a:avLst/>
          </a:prstGeom>
          <a:noFill/>
          <a:ln/>
        </p:spPr>
        <p:txBody>
          <a:bodyPr wrap="square" lIns="0" tIns="0" rIns="0" bIns="0" rtlCol="0" anchor="ctr"/>
          <a:lstStyle/>
          <a:p>
            <a:pPr algn="l" indent="0" marL="0">
              <a:buNone/>
            </a:pPr>
            <a:r>
              <a:rPr lang="en-US" sz="1500" dirty="0">
                <a:solidFill>
                  <a:srgbClr val="526B79"/>
                </a:solidFill>
                <a:latin typeface="Arial" pitchFamily="34" charset="0"/>
                <a:ea typeface="Arial" pitchFamily="34" charset="-122"/>
                <a:cs typeface="Arial" pitchFamily="34" charset="-120"/>
              </a:rPr>
              <a:t>Dagster dan Kestra menulis Asia/Jakarta pada definisi schedule; untuk Prefect, pastikan timezone deployment sesuai kebutuhan.</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365760"/>
            <a:ext cx="10972800" cy="502920"/>
          </a:xfrm>
          <a:prstGeom prst="rect">
            <a:avLst/>
          </a:prstGeom>
          <a:noFill/>
          <a:ln/>
        </p:spPr>
        <p:txBody>
          <a:bodyPr wrap="square" lIns="0" tIns="0" rIns="0" bIns="0" rtlCol="0" anchor="ctr"/>
          <a:lstStyle/>
          <a:p>
            <a:pPr algn="l" indent="0" marL="0">
              <a:buNone/>
            </a:pPr>
            <a:r>
              <a:rPr lang="en-US" sz="3000" b="1" dirty="0">
                <a:solidFill>
                  <a:srgbClr val="0C1E2C"/>
                </a:solidFill>
                <a:latin typeface="Arial" pitchFamily="34" charset="0"/>
                <a:ea typeface="Arial" pitchFamily="34" charset="-122"/>
                <a:cs typeface="Arial" pitchFamily="34" charset="-120"/>
              </a:rPr>
              <a:t>Satu pipeline, tiga cara mengorkestrasi</a:t>
            </a:r>
            <a:endParaRPr lang="en-US" sz="3000" dirty="0"/>
          </a:p>
        </p:txBody>
      </p:sp>
      <p:sp>
        <p:nvSpPr>
          <p:cNvPr id="3" name="Text 1"/>
          <p:cNvSpPr txBox="1"/>
          <p:nvPr/>
        </p:nvSpPr>
        <p:spPr>
          <a:xfrm>
            <a:off x="640080" y="941832"/>
            <a:ext cx="10881360" cy="320040"/>
          </a:xfrm>
          <a:prstGeom prst="rect">
            <a:avLst/>
          </a:prstGeom>
          <a:noFill/>
          <a:ln/>
        </p:spPr>
        <p:txBody>
          <a:bodyPr wrap="square" lIns="0" tIns="0" rIns="0" bIns="0" rtlCol="0" anchor="ctr"/>
          <a:lstStyle/>
          <a:p>
            <a:pPr algn="l" indent="0" marL="0">
              <a:buNone/>
            </a:pPr>
            <a:r>
              <a:rPr lang="en-US" sz="1500" dirty="0">
                <a:solidFill>
                  <a:srgbClr val="526B79"/>
                </a:solidFill>
                <a:latin typeface="Arial" pitchFamily="34" charset="0"/>
                <a:ea typeface="Arial" pitchFamily="34" charset="-122"/>
                <a:cs typeface="Arial" pitchFamily="34" charset="-120"/>
              </a:rPr>
              <a:t>Semua tool memanggil script Pertemuan 5 sehingga logika data tetap satu sumber.</a:t>
            </a:r>
            <a:endParaRPr lang="en-US" sz="1500" dirty="0"/>
          </a:p>
        </p:txBody>
      </p:sp>
      <p:sp>
        <p:nvSpPr>
          <p:cNvPr id="4" name="Text 2"/>
          <p:cNvSpPr txBox="1"/>
          <p:nvPr/>
        </p:nvSpPr>
        <p:spPr>
          <a:xfrm>
            <a:off x="640080" y="6565392"/>
            <a:ext cx="5486400" cy="146304"/>
          </a:xfrm>
          <a:prstGeom prst="rect">
            <a:avLst/>
          </a:prstGeom>
          <a:noFill/>
          <a:ln/>
        </p:spPr>
        <p:txBody>
          <a:bodyPr wrap="square" lIns="0" tIns="0" rIns="0" bIns="0" rtlCol="0" anchor="ctr"/>
          <a:lstStyle/>
          <a:p>
            <a:pPr algn="l" indent="0" marL="0">
              <a:buNone/>
            </a:pPr>
            <a:r>
              <a:rPr lang="en-US" sz="900" b="1" dirty="0">
                <a:solidFill>
                  <a:srgbClr val="526B79"/>
                </a:solidFill>
                <a:latin typeface="Arial" pitchFamily="34" charset="0"/>
                <a:ea typeface="Arial" pitchFamily="34" charset="-122"/>
                <a:cs typeface="Arial" pitchFamily="34" charset="-120"/>
              </a:rPr>
              <a:t>PERTEMUAN 6  /  DATA ENGINEERING</a:t>
            </a:r>
            <a:endParaRPr lang="en-US" sz="900" dirty="0"/>
          </a:p>
        </p:txBody>
      </p:sp>
      <p:sp>
        <p:nvSpPr>
          <p:cNvPr id="5" name="Text 3"/>
          <p:cNvSpPr txBox="1"/>
          <p:nvPr/>
        </p:nvSpPr>
        <p:spPr>
          <a:xfrm>
            <a:off x="11155680" y="6519672"/>
            <a:ext cx="438912" cy="182880"/>
          </a:xfrm>
          <a:prstGeom prst="rect">
            <a:avLst/>
          </a:prstGeom>
          <a:noFill/>
          <a:ln/>
        </p:spPr>
        <p:txBody>
          <a:bodyPr wrap="square" lIns="0" tIns="0" rIns="0" bIns="0" rtlCol="0" anchor="ctr"/>
          <a:lstStyle/>
          <a:p>
            <a:pPr algn="r" indent="0" marL="0">
              <a:buNone/>
            </a:pPr>
            <a:r>
              <a:rPr lang="en-US" sz="1000" dirty="0">
                <a:solidFill>
                  <a:srgbClr val="526B79"/>
                </a:solidFill>
                <a:latin typeface="Arial" pitchFamily="34" charset="0"/>
                <a:ea typeface="Arial" pitchFamily="34" charset="-122"/>
                <a:cs typeface="Arial" pitchFamily="34" charset="-120"/>
              </a:rPr>
              <a:t>08</a:t>
            </a:r>
            <a:endParaRPr lang="en-US" sz="1000" dirty="0"/>
          </a:p>
        </p:txBody>
      </p:sp>
      <p:sp>
        <p:nvSpPr>
          <p:cNvPr id="6" name="Shape 4"/>
          <p:cNvSpPr/>
          <p:nvPr/>
        </p:nvSpPr>
        <p:spPr>
          <a:xfrm>
            <a:off x="676656" y="1645920"/>
            <a:ext cx="3182112" cy="1078992"/>
          </a:xfrm>
          <a:prstGeom prst="roundRect">
            <a:avLst>
              <a:gd name="adj" fmla="val 8475"/>
            </a:avLst>
          </a:prstGeom>
          <a:solidFill>
            <a:srgbClr val="00A7A4"/>
          </a:solidFill>
          <a:ln w="12700">
            <a:solidFill>
              <a:srgbClr val="00A7A4"/>
            </a:solidFill>
            <a:prstDash val="solid"/>
          </a:ln>
        </p:spPr>
      </p:sp>
      <p:sp>
        <p:nvSpPr>
          <p:cNvPr id="7" name="Text 5"/>
          <p:cNvSpPr txBox="1"/>
          <p:nvPr/>
        </p:nvSpPr>
        <p:spPr>
          <a:xfrm>
            <a:off x="822960" y="1828800"/>
            <a:ext cx="2889504" cy="29260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Dagster</a:t>
            </a:r>
            <a:endParaRPr lang="en-US" sz="2200" dirty="0"/>
          </a:p>
        </p:txBody>
      </p:sp>
      <p:sp>
        <p:nvSpPr>
          <p:cNvPr id="8" name="Text 6"/>
          <p:cNvSpPr txBox="1"/>
          <p:nvPr/>
        </p:nvSpPr>
        <p:spPr>
          <a:xfrm>
            <a:off x="804672" y="2240280"/>
            <a:ext cx="2926080" cy="402336"/>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asset + schedule</a:t>
            </a:r>
            <a:endParaRPr lang="en-US" sz="1300" dirty="0"/>
          </a:p>
        </p:txBody>
      </p:sp>
      <p:sp>
        <p:nvSpPr>
          <p:cNvPr id="9" name="Shape 7"/>
          <p:cNvSpPr/>
          <p:nvPr/>
        </p:nvSpPr>
        <p:spPr>
          <a:xfrm>
            <a:off x="4498848" y="1645920"/>
            <a:ext cx="3182112" cy="1078992"/>
          </a:xfrm>
          <a:prstGeom prst="roundRect">
            <a:avLst>
              <a:gd name="adj" fmla="val 8475"/>
            </a:avLst>
          </a:prstGeom>
          <a:solidFill>
            <a:srgbClr val="2563A6"/>
          </a:solidFill>
          <a:ln w="12700">
            <a:solidFill>
              <a:srgbClr val="2563A6"/>
            </a:solidFill>
            <a:prstDash val="solid"/>
          </a:ln>
        </p:spPr>
      </p:sp>
      <p:sp>
        <p:nvSpPr>
          <p:cNvPr id="10" name="Text 8"/>
          <p:cNvSpPr txBox="1"/>
          <p:nvPr/>
        </p:nvSpPr>
        <p:spPr>
          <a:xfrm>
            <a:off x="4645152" y="1828800"/>
            <a:ext cx="2889504" cy="29260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Prefect</a:t>
            </a:r>
            <a:endParaRPr lang="en-US" sz="2200" dirty="0"/>
          </a:p>
        </p:txBody>
      </p:sp>
      <p:sp>
        <p:nvSpPr>
          <p:cNvPr id="11" name="Text 9"/>
          <p:cNvSpPr txBox="1"/>
          <p:nvPr/>
        </p:nvSpPr>
        <p:spPr>
          <a:xfrm>
            <a:off x="4626864" y="2240280"/>
            <a:ext cx="2926080" cy="402336"/>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flow + deployment</a:t>
            </a:r>
            <a:endParaRPr lang="en-US" sz="1300" dirty="0"/>
          </a:p>
        </p:txBody>
      </p:sp>
      <p:sp>
        <p:nvSpPr>
          <p:cNvPr id="12" name="Shape 10"/>
          <p:cNvSpPr/>
          <p:nvPr/>
        </p:nvSpPr>
        <p:spPr>
          <a:xfrm>
            <a:off x="8321040" y="1645920"/>
            <a:ext cx="3182112" cy="1078992"/>
          </a:xfrm>
          <a:prstGeom prst="roundRect">
            <a:avLst>
              <a:gd name="adj" fmla="val 8475"/>
            </a:avLst>
          </a:prstGeom>
          <a:solidFill>
            <a:srgbClr val="FA6A60"/>
          </a:solidFill>
          <a:ln w="12700">
            <a:solidFill>
              <a:srgbClr val="FA6A60"/>
            </a:solidFill>
            <a:prstDash val="solid"/>
          </a:ln>
        </p:spPr>
      </p:sp>
      <p:sp>
        <p:nvSpPr>
          <p:cNvPr id="13" name="Text 11"/>
          <p:cNvSpPr txBox="1"/>
          <p:nvPr/>
        </p:nvSpPr>
        <p:spPr>
          <a:xfrm>
            <a:off x="8467344" y="1828800"/>
            <a:ext cx="2889504" cy="29260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Kestra</a:t>
            </a:r>
            <a:endParaRPr lang="en-US" sz="2200" dirty="0"/>
          </a:p>
        </p:txBody>
      </p:sp>
      <p:sp>
        <p:nvSpPr>
          <p:cNvPr id="14" name="Text 12"/>
          <p:cNvSpPr txBox="1"/>
          <p:nvPr/>
        </p:nvSpPr>
        <p:spPr>
          <a:xfrm>
            <a:off x="8449056" y="2240280"/>
            <a:ext cx="2926080" cy="402336"/>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YAML + trigger</a:t>
            </a:r>
            <a:endParaRPr lang="en-US" sz="1300" dirty="0"/>
          </a:p>
        </p:txBody>
      </p:sp>
      <p:sp>
        <p:nvSpPr>
          <p:cNvPr id="15" name="Shape 13"/>
          <p:cNvSpPr/>
          <p:nvPr/>
        </p:nvSpPr>
        <p:spPr>
          <a:xfrm>
            <a:off x="2267712" y="2734056"/>
            <a:ext cx="0" cy="603504"/>
          </a:xfrm>
          <a:prstGeom prst="line">
            <a:avLst/>
          </a:prstGeom>
          <a:noFill/>
          <a:ln w="25400">
            <a:solidFill>
              <a:srgbClr val="D8E3E9"/>
            </a:solidFill>
            <a:prstDash val="solid"/>
            <a:tailEnd type="triangle"/>
          </a:ln>
        </p:spPr>
      </p:sp>
      <p:sp>
        <p:nvSpPr>
          <p:cNvPr id="16" name="Shape 14"/>
          <p:cNvSpPr/>
          <p:nvPr/>
        </p:nvSpPr>
        <p:spPr>
          <a:xfrm>
            <a:off x="6089904" y="2734056"/>
            <a:ext cx="0" cy="603504"/>
          </a:xfrm>
          <a:prstGeom prst="line">
            <a:avLst/>
          </a:prstGeom>
          <a:noFill/>
          <a:ln w="25400">
            <a:solidFill>
              <a:srgbClr val="D8E3E9"/>
            </a:solidFill>
            <a:prstDash val="solid"/>
            <a:tailEnd type="triangle"/>
          </a:ln>
        </p:spPr>
      </p:sp>
      <p:sp>
        <p:nvSpPr>
          <p:cNvPr id="17" name="Shape 15"/>
          <p:cNvSpPr/>
          <p:nvPr/>
        </p:nvSpPr>
        <p:spPr>
          <a:xfrm>
            <a:off x="9912096" y="2734056"/>
            <a:ext cx="0" cy="603504"/>
          </a:xfrm>
          <a:prstGeom prst="line">
            <a:avLst/>
          </a:prstGeom>
          <a:noFill/>
          <a:ln w="25400">
            <a:solidFill>
              <a:srgbClr val="D8E3E9"/>
            </a:solidFill>
            <a:prstDash val="solid"/>
            <a:tailEnd type="triangle"/>
          </a:ln>
        </p:spPr>
      </p:sp>
      <p:sp>
        <p:nvSpPr>
          <p:cNvPr id="18" name="Shape 16"/>
          <p:cNvSpPr/>
          <p:nvPr/>
        </p:nvSpPr>
        <p:spPr>
          <a:xfrm>
            <a:off x="2048256" y="3401568"/>
            <a:ext cx="8101584" cy="950976"/>
          </a:xfrm>
          <a:prstGeom prst="roundRect">
            <a:avLst>
              <a:gd name="adj" fmla="val 9615"/>
            </a:avLst>
          </a:prstGeom>
          <a:solidFill>
            <a:srgbClr val="0C1E2C"/>
          </a:solidFill>
          <a:ln w="12700">
            <a:solidFill>
              <a:srgbClr val="0C1E2C"/>
            </a:solidFill>
            <a:prstDash val="solid"/>
          </a:ln>
        </p:spPr>
      </p:sp>
      <p:sp>
        <p:nvSpPr>
          <p:cNvPr id="19" name="Text 17"/>
          <p:cNvSpPr txBox="1"/>
          <p:nvPr/>
        </p:nvSpPr>
        <p:spPr>
          <a:xfrm>
            <a:off x="2194560" y="3584448"/>
            <a:ext cx="7808976" cy="29260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bash pertemuan-5/run_pipeline.sh</a:t>
            </a:r>
            <a:endParaRPr lang="en-US" sz="2200" dirty="0"/>
          </a:p>
        </p:txBody>
      </p:sp>
      <p:sp>
        <p:nvSpPr>
          <p:cNvPr id="20" name="Text 18"/>
          <p:cNvSpPr txBox="1"/>
          <p:nvPr/>
        </p:nvSpPr>
        <p:spPr>
          <a:xfrm>
            <a:off x="2176272" y="3995928"/>
            <a:ext cx="7845552" cy="274320"/>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Python load → dbt run/test → verify_pipeline.py</a:t>
            </a:r>
            <a:endParaRPr lang="en-US" sz="1300" dirty="0"/>
          </a:p>
        </p:txBody>
      </p:sp>
      <p:sp>
        <p:nvSpPr>
          <p:cNvPr id="21" name="Shape 19"/>
          <p:cNvSpPr/>
          <p:nvPr/>
        </p:nvSpPr>
        <p:spPr>
          <a:xfrm>
            <a:off x="6099048" y="4361688"/>
            <a:ext cx="0" cy="384048"/>
          </a:xfrm>
          <a:prstGeom prst="line">
            <a:avLst/>
          </a:prstGeom>
          <a:noFill/>
          <a:ln w="25400">
            <a:solidFill>
              <a:srgbClr val="D8E3E9"/>
            </a:solidFill>
            <a:prstDash val="solid"/>
            <a:tailEnd type="triangle"/>
          </a:ln>
        </p:spPr>
      </p:sp>
      <p:sp>
        <p:nvSpPr>
          <p:cNvPr id="22" name="Shape 20"/>
          <p:cNvSpPr/>
          <p:nvPr/>
        </p:nvSpPr>
        <p:spPr>
          <a:xfrm>
            <a:off x="2048256" y="4828032"/>
            <a:ext cx="8101584" cy="713232"/>
          </a:xfrm>
          <a:prstGeom prst="roundRect">
            <a:avLst>
              <a:gd name="adj" fmla="val 12821"/>
            </a:avLst>
          </a:prstGeom>
          <a:solidFill>
            <a:srgbClr val="F4F8FA"/>
          </a:solidFill>
          <a:ln w="12700">
            <a:solidFill>
              <a:srgbClr val="F4F8FA"/>
            </a:solidFill>
            <a:prstDash val="solid"/>
          </a:ln>
        </p:spPr>
      </p:sp>
      <p:sp>
        <p:nvSpPr>
          <p:cNvPr id="23" name="Text 21"/>
          <p:cNvSpPr txBox="1"/>
          <p:nvPr/>
        </p:nvSpPr>
        <p:spPr>
          <a:xfrm>
            <a:off x="2194560" y="5010912"/>
            <a:ext cx="7808976" cy="292608"/>
          </a:xfrm>
          <a:prstGeom prst="rect">
            <a:avLst/>
          </a:prstGeom>
          <a:noFill/>
          <a:ln/>
        </p:spPr>
        <p:txBody>
          <a:bodyPr wrap="square" lIns="0" tIns="0" rIns="0" bIns="0" rtlCol="0" anchor="ctr"/>
          <a:lstStyle/>
          <a:p>
            <a:pPr algn="ctr" indent="0" marL="0">
              <a:buNone/>
            </a:pPr>
            <a:r>
              <a:rPr lang="en-US" sz="1800" b="1" dirty="0">
                <a:solidFill>
                  <a:srgbClr val="102333"/>
                </a:solidFill>
                <a:latin typeface="Arial" pitchFamily="34" charset="0"/>
                <a:ea typeface="Arial" pitchFamily="34" charset="-122"/>
                <a:cs typeface="Arial" pitchFamily="34" charset="-120"/>
              </a:rPr>
              <a:t>PostgreSQL  →  ClickHouse raw  →  datamart</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365760"/>
            <a:ext cx="10972800" cy="502920"/>
          </a:xfrm>
          <a:prstGeom prst="rect">
            <a:avLst/>
          </a:prstGeom>
          <a:noFill/>
          <a:ln/>
        </p:spPr>
        <p:txBody>
          <a:bodyPr wrap="square" lIns="0" tIns="0" rIns="0" bIns="0" rtlCol="0" anchor="ctr"/>
          <a:lstStyle/>
          <a:p>
            <a:pPr algn="l" indent="0" marL="0">
              <a:buNone/>
            </a:pPr>
            <a:r>
              <a:rPr lang="en-US" sz="3000" b="1" dirty="0">
                <a:solidFill>
                  <a:srgbClr val="0C1E2C"/>
                </a:solidFill>
                <a:latin typeface="Arial" pitchFamily="34" charset="0"/>
                <a:ea typeface="Arial" pitchFamily="34" charset="-122"/>
                <a:cs typeface="Arial" pitchFamily="34" charset="-120"/>
              </a:rPr>
              <a:t>Dagster: asset, job, schedule</a:t>
            </a:r>
            <a:endParaRPr lang="en-US" sz="3000" dirty="0"/>
          </a:p>
        </p:txBody>
      </p:sp>
      <p:sp>
        <p:nvSpPr>
          <p:cNvPr id="3" name="Text 1"/>
          <p:cNvSpPr txBox="1"/>
          <p:nvPr/>
        </p:nvSpPr>
        <p:spPr>
          <a:xfrm>
            <a:off x="640080" y="941832"/>
            <a:ext cx="10881360" cy="320040"/>
          </a:xfrm>
          <a:prstGeom prst="rect">
            <a:avLst/>
          </a:prstGeom>
          <a:noFill/>
          <a:ln/>
        </p:spPr>
        <p:txBody>
          <a:bodyPr wrap="square" lIns="0" tIns="0" rIns="0" bIns="0" rtlCol="0" anchor="ctr"/>
          <a:lstStyle/>
          <a:p>
            <a:pPr algn="l" indent="0" marL="0">
              <a:buNone/>
            </a:pPr>
            <a:r>
              <a:rPr lang="en-US" sz="1500" dirty="0">
                <a:solidFill>
                  <a:srgbClr val="526B79"/>
                </a:solidFill>
                <a:latin typeface="Arial" pitchFamily="34" charset="0"/>
                <a:ea typeface="Arial" pitchFamily="34" charset="-122"/>
                <a:cs typeface="Arial" pitchFamily="34" charset="-120"/>
              </a:rPr>
              <a:t>Dalam latihan ini, satu asset menjalankan pipeline Pertemuan 5.</a:t>
            </a:r>
            <a:endParaRPr lang="en-US" sz="1500" dirty="0"/>
          </a:p>
        </p:txBody>
      </p:sp>
      <p:sp>
        <p:nvSpPr>
          <p:cNvPr id="4" name="Text 2"/>
          <p:cNvSpPr txBox="1"/>
          <p:nvPr/>
        </p:nvSpPr>
        <p:spPr>
          <a:xfrm>
            <a:off x="640080" y="6565392"/>
            <a:ext cx="5486400" cy="146304"/>
          </a:xfrm>
          <a:prstGeom prst="rect">
            <a:avLst/>
          </a:prstGeom>
          <a:noFill/>
          <a:ln/>
        </p:spPr>
        <p:txBody>
          <a:bodyPr wrap="square" lIns="0" tIns="0" rIns="0" bIns="0" rtlCol="0" anchor="ctr"/>
          <a:lstStyle/>
          <a:p>
            <a:pPr algn="l" indent="0" marL="0">
              <a:buNone/>
            </a:pPr>
            <a:r>
              <a:rPr lang="en-US" sz="900" b="1" dirty="0">
                <a:solidFill>
                  <a:srgbClr val="526B79"/>
                </a:solidFill>
                <a:latin typeface="Arial" pitchFamily="34" charset="0"/>
                <a:ea typeface="Arial" pitchFamily="34" charset="-122"/>
                <a:cs typeface="Arial" pitchFamily="34" charset="-120"/>
              </a:rPr>
              <a:t>PERTEMUAN 6  /  DATA ENGINEERING</a:t>
            </a:r>
            <a:endParaRPr lang="en-US" sz="900" dirty="0"/>
          </a:p>
        </p:txBody>
      </p:sp>
      <p:sp>
        <p:nvSpPr>
          <p:cNvPr id="5" name="Text 3"/>
          <p:cNvSpPr txBox="1"/>
          <p:nvPr/>
        </p:nvSpPr>
        <p:spPr>
          <a:xfrm>
            <a:off x="11155680" y="6519672"/>
            <a:ext cx="438912" cy="182880"/>
          </a:xfrm>
          <a:prstGeom prst="rect">
            <a:avLst/>
          </a:prstGeom>
          <a:noFill/>
          <a:ln/>
        </p:spPr>
        <p:txBody>
          <a:bodyPr wrap="square" lIns="0" tIns="0" rIns="0" bIns="0" rtlCol="0" anchor="ctr"/>
          <a:lstStyle/>
          <a:p>
            <a:pPr algn="r" indent="0" marL="0">
              <a:buNone/>
            </a:pPr>
            <a:r>
              <a:rPr lang="en-US" sz="1000" dirty="0">
                <a:solidFill>
                  <a:srgbClr val="526B79"/>
                </a:solidFill>
                <a:latin typeface="Arial" pitchFamily="34" charset="0"/>
                <a:ea typeface="Arial" pitchFamily="34" charset="-122"/>
                <a:cs typeface="Arial" pitchFamily="34" charset="-120"/>
              </a:rPr>
              <a:t>09</a:t>
            </a:r>
            <a:endParaRPr lang="en-US" sz="1000" dirty="0"/>
          </a:p>
        </p:txBody>
      </p:sp>
      <p:sp>
        <p:nvSpPr>
          <p:cNvPr id="6" name="Shape 4"/>
          <p:cNvSpPr/>
          <p:nvPr/>
        </p:nvSpPr>
        <p:spPr>
          <a:xfrm>
            <a:off x="676656" y="1600200"/>
            <a:ext cx="3474720" cy="2331720"/>
          </a:xfrm>
          <a:prstGeom prst="roundRect">
            <a:avLst>
              <a:gd name="adj" fmla="val 3922"/>
            </a:avLst>
          </a:prstGeom>
          <a:solidFill>
            <a:srgbClr val="DDF5F3"/>
          </a:solidFill>
          <a:ln w="12700">
            <a:solidFill>
              <a:srgbClr val="DDF5F3"/>
            </a:solidFill>
            <a:prstDash val="solid"/>
          </a:ln>
        </p:spPr>
      </p:sp>
      <p:sp>
        <p:nvSpPr>
          <p:cNvPr id="7" name="Shape 5"/>
          <p:cNvSpPr/>
          <p:nvPr/>
        </p:nvSpPr>
        <p:spPr>
          <a:xfrm>
            <a:off x="896112" y="1819656"/>
            <a:ext cx="347472" cy="347472"/>
          </a:xfrm>
          <a:prstGeom prst="ellipse">
            <a:avLst/>
          </a:prstGeom>
          <a:solidFill>
            <a:srgbClr val="00A7A4"/>
          </a:solidFill>
          <a:ln w="12700">
            <a:solidFill>
              <a:srgbClr val="00A7A4"/>
            </a:solidFill>
            <a:prstDash val="solid"/>
          </a:ln>
        </p:spPr>
      </p:sp>
      <p:sp>
        <p:nvSpPr>
          <p:cNvPr id="8" name="Text 6"/>
          <p:cNvSpPr txBox="1"/>
          <p:nvPr/>
        </p:nvSpPr>
        <p:spPr>
          <a:xfrm>
            <a:off x="1371600" y="1810512"/>
            <a:ext cx="2542032" cy="347472"/>
          </a:xfrm>
          <a:prstGeom prst="rect">
            <a:avLst/>
          </a:prstGeom>
          <a:noFill/>
          <a:ln/>
        </p:spPr>
        <p:txBody>
          <a:bodyPr wrap="square" lIns="0" tIns="0" rIns="0" bIns="0" rtlCol="0" anchor="ctr"/>
          <a:lstStyle/>
          <a:p>
            <a:pPr algn="l" indent="0" marL="0">
              <a:buNone/>
            </a:pPr>
            <a:r>
              <a:rPr lang="en-US" sz="1900" b="1" dirty="0">
                <a:solidFill>
                  <a:srgbClr val="102333"/>
                </a:solidFill>
                <a:latin typeface="Arial" pitchFamily="34" charset="0"/>
                <a:ea typeface="Arial" pitchFamily="34" charset="-122"/>
                <a:cs typeface="Arial" pitchFamily="34" charset="-120"/>
              </a:rPr>
              <a:t>Asset: elt_pipeline</a:t>
            </a:r>
            <a:endParaRPr lang="en-US" sz="1900" dirty="0"/>
          </a:p>
        </p:txBody>
      </p:sp>
      <p:sp>
        <p:nvSpPr>
          <p:cNvPr id="9" name="Text 7"/>
          <p:cNvSpPr txBox="1"/>
          <p:nvPr/>
        </p:nvSpPr>
        <p:spPr>
          <a:xfrm>
            <a:off x="932688" y="2368296"/>
            <a:ext cx="2962656" cy="1399032"/>
          </a:xfrm>
          <a:prstGeom prst="rect">
            <a:avLst/>
          </a:prstGeom>
          <a:noFill/>
          <a:ln/>
        </p:spPr>
        <p:txBody>
          <a:bodyPr wrap="square" lIns="0" tIns="0" rIns="0" bIns="0" rtlCol="0" anchor="t"/>
          <a:lstStyle/>
          <a:p>
            <a:pPr algn="l" indent="0" marL="0">
              <a:buNone/>
            </a:pPr>
            <a:r>
              <a:rPr lang="en-US" sz="1600" dirty="0">
                <a:solidFill>
                  <a:srgbClr val="526B79"/>
                </a:solidFill>
                <a:latin typeface="Arial" pitchFamily="34" charset="0"/>
                <a:ea typeface="Arial" pitchFamily="34" charset="-122"/>
                <a:cs typeface="Arial" pitchFamily="34" charset="-120"/>
              </a:rPr>
              <a:t>Function Python yang menjalankan run_pipeline.sh dan mencatat status/materialization.</a:t>
            </a:r>
            <a:endParaRPr lang="en-US" sz="1600" dirty="0"/>
          </a:p>
        </p:txBody>
      </p:sp>
      <p:sp>
        <p:nvSpPr>
          <p:cNvPr id="10" name="Shape 8"/>
          <p:cNvSpPr/>
          <p:nvPr/>
        </p:nvSpPr>
        <p:spPr>
          <a:xfrm>
            <a:off x="4343400" y="1600200"/>
            <a:ext cx="3474720" cy="2331720"/>
          </a:xfrm>
          <a:prstGeom prst="roundRect">
            <a:avLst>
              <a:gd name="adj" fmla="val 3922"/>
            </a:avLst>
          </a:prstGeom>
          <a:solidFill>
            <a:srgbClr val="E7F1FA"/>
          </a:solidFill>
          <a:ln w="12700">
            <a:solidFill>
              <a:srgbClr val="E7F1FA"/>
            </a:solidFill>
            <a:prstDash val="solid"/>
          </a:ln>
        </p:spPr>
      </p:sp>
      <p:sp>
        <p:nvSpPr>
          <p:cNvPr id="11" name="Shape 9"/>
          <p:cNvSpPr/>
          <p:nvPr/>
        </p:nvSpPr>
        <p:spPr>
          <a:xfrm>
            <a:off x="4562856" y="1819656"/>
            <a:ext cx="347472" cy="347472"/>
          </a:xfrm>
          <a:prstGeom prst="ellipse">
            <a:avLst/>
          </a:prstGeom>
          <a:solidFill>
            <a:srgbClr val="2563A6"/>
          </a:solidFill>
          <a:ln w="12700">
            <a:solidFill>
              <a:srgbClr val="2563A6"/>
            </a:solidFill>
            <a:prstDash val="solid"/>
          </a:ln>
        </p:spPr>
      </p:sp>
      <p:sp>
        <p:nvSpPr>
          <p:cNvPr id="12" name="Text 10"/>
          <p:cNvSpPr txBox="1"/>
          <p:nvPr/>
        </p:nvSpPr>
        <p:spPr>
          <a:xfrm>
            <a:off x="5038344" y="1810512"/>
            <a:ext cx="2542032" cy="347472"/>
          </a:xfrm>
          <a:prstGeom prst="rect">
            <a:avLst/>
          </a:prstGeom>
          <a:noFill/>
          <a:ln/>
        </p:spPr>
        <p:txBody>
          <a:bodyPr wrap="square" lIns="0" tIns="0" rIns="0" bIns="0" rtlCol="0" anchor="ctr"/>
          <a:lstStyle/>
          <a:p>
            <a:pPr algn="l" indent="0" marL="0">
              <a:buNone/>
            </a:pPr>
            <a:r>
              <a:rPr lang="en-US" sz="1900" b="1" dirty="0">
                <a:solidFill>
                  <a:srgbClr val="102333"/>
                </a:solidFill>
                <a:latin typeface="Arial" pitchFamily="34" charset="0"/>
                <a:ea typeface="Arial" pitchFamily="34" charset="-122"/>
                <a:cs typeface="Arial" pitchFamily="34" charset="-120"/>
              </a:rPr>
              <a:t>Job: elt_pipeline_job</a:t>
            </a:r>
            <a:endParaRPr lang="en-US" sz="1900" dirty="0"/>
          </a:p>
        </p:txBody>
      </p:sp>
      <p:sp>
        <p:nvSpPr>
          <p:cNvPr id="13" name="Text 11"/>
          <p:cNvSpPr txBox="1"/>
          <p:nvPr/>
        </p:nvSpPr>
        <p:spPr>
          <a:xfrm>
            <a:off x="4599432" y="2368296"/>
            <a:ext cx="2962656" cy="1399032"/>
          </a:xfrm>
          <a:prstGeom prst="rect">
            <a:avLst/>
          </a:prstGeom>
          <a:noFill/>
          <a:ln/>
        </p:spPr>
        <p:txBody>
          <a:bodyPr wrap="square" lIns="0" tIns="0" rIns="0" bIns="0" rtlCol="0" anchor="t"/>
          <a:lstStyle/>
          <a:p>
            <a:pPr algn="l" indent="0" marL="0">
              <a:buNone/>
            </a:pPr>
            <a:r>
              <a:rPr lang="en-US" sz="1600" dirty="0">
                <a:solidFill>
                  <a:srgbClr val="526B79"/>
                </a:solidFill>
                <a:latin typeface="Arial" pitchFamily="34" charset="0"/>
                <a:ea typeface="Arial" pitchFamily="34" charset="-122"/>
                <a:cs typeface="Arial" pitchFamily="34" charset="-120"/>
              </a:rPr>
              <a:t>Memilih asset yang perlu dijalankan ketika ada manual run atau schedule.</a:t>
            </a:r>
            <a:endParaRPr lang="en-US" sz="1600" dirty="0"/>
          </a:p>
        </p:txBody>
      </p:sp>
      <p:sp>
        <p:nvSpPr>
          <p:cNvPr id="14" name="Shape 12"/>
          <p:cNvSpPr/>
          <p:nvPr/>
        </p:nvSpPr>
        <p:spPr>
          <a:xfrm>
            <a:off x="8010144" y="1600200"/>
            <a:ext cx="3474720" cy="2331720"/>
          </a:xfrm>
          <a:prstGeom prst="roundRect">
            <a:avLst>
              <a:gd name="adj" fmla="val 3922"/>
            </a:avLst>
          </a:prstGeom>
          <a:solidFill>
            <a:srgbClr val="FEE8E5"/>
          </a:solidFill>
          <a:ln w="12700">
            <a:solidFill>
              <a:srgbClr val="FEE8E5"/>
            </a:solidFill>
            <a:prstDash val="solid"/>
          </a:ln>
        </p:spPr>
      </p:sp>
      <p:sp>
        <p:nvSpPr>
          <p:cNvPr id="15" name="Shape 13"/>
          <p:cNvSpPr/>
          <p:nvPr/>
        </p:nvSpPr>
        <p:spPr>
          <a:xfrm>
            <a:off x="8229600" y="1819656"/>
            <a:ext cx="347472" cy="347472"/>
          </a:xfrm>
          <a:prstGeom prst="ellipse">
            <a:avLst/>
          </a:prstGeom>
          <a:solidFill>
            <a:srgbClr val="FA6A60"/>
          </a:solidFill>
          <a:ln w="12700">
            <a:solidFill>
              <a:srgbClr val="FA6A60"/>
            </a:solidFill>
            <a:prstDash val="solid"/>
          </a:ln>
        </p:spPr>
      </p:sp>
      <p:sp>
        <p:nvSpPr>
          <p:cNvPr id="16" name="Text 14"/>
          <p:cNvSpPr txBox="1"/>
          <p:nvPr/>
        </p:nvSpPr>
        <p:spPr>
          <a:xfrm>
            <a:off x="8705088" y="1810512"/>
            <a:ext cx="2542032" cy="347472"/>
          </a:xfrm>
          <a:prstGeom prst="rect">
            <a:avLst/>
          </a:prstGeom>
          <a:noFill/>
          <a:ln/>
        </p:spPr>
        <p:txBody>
          <a:bodyPr wrap="square" lIns="0" tIns="0" rIns="0" bIns="0" rtlCol="0" anchor="ctr"/>
          <a:lstStyle/>
          <a:p>
            <a:pPr algn="l" indent="0" marL="0">
              <a:buNone/>
            </a:pPr>
            <a:r>
              <a:rPr lang="en-US" sz="1900" b="1" dirty="0">
                <a:solidFill>
                  <a:srgbClr val="102333"/>
                </a:solidFill>
                <a:latin typeface="Arial" pitchFamily="34" charset="0"/>
                <a:ea typeface="Arial" pitchFamily="34" charset="-122"/>
                <a:cs typeface="Arial" pitchFamily="34" charset="-120"/>
              </a:rPr>
              <a:t>Schedule</a:t>
            </a:r>
            <a:endParaRPr lang="en-US" sz="1900" dirty="0"/>
          </a:p>
        </p:txBody>
      </p:sp>
      <p:sp>
        <p:nvSpPr>
          <p:cNvPr id="17" name="Text 15"/>
          <p:cNvSpPr txBox="1"/>
          <p:nvPr/>
        </p:nvSpPr>
        <p:spPr>
          <a:xfrm>
            <a:off x="8266176" y="2368296"/>
            <a:ext cx="2962656" cy="1399032"/>
          </a:xfrm>
          <a:prstGeom prst="rect">
            <a:avLst/>
          </a:prstGeom>
          <a:noFill/>
          <a:ln/>
        </p:spPr>
        <p:txBody>
          <a:bodyPr wrap="square" lIns="0" tIns="0" rIns="0" bIns="0" rtlCol="0" anchor="t"/>
          <a:lstStyle/>
          <a:p>
            <a:pPr algn="l" indent="0" marL="0">
              <a:buNone/>
            </a:pPr>
            <a:r>
              <a:rPr lang="en-US" sz="1600" dirty="0">
                <a:solidFill>
                  <a:srgbClr val="526B79"/>
                </a:solidFill>
                <a:latin typeface="Arial" pitchFamily="34" charset="0"/>
                <a:ea typeface="Arial" pitchFamily="34" charset="-122"/>
                <a:cs typeface="Arial" pitchFamily="34" charset="-120"/>
              </a:rPr>
              <a:t>Cron */5 * * * * membuat run berkala dengan timezone Asia/Jakarta.</a:t>
            </a:r>
            <a:endParaRPr lang="en-US" sz="1600" dirty="0"/>
          </a:p>
        </p:txBody>
      </p:sp>
      <p:sp>
        <p:nvSpPr>
          <p:cNvPr id="18" name="Shape 16"/>
          <p:cNvSpPr/>
          <p:nvPr/>
        </p:nvSpPr>
        <p:spPr>
          <a:xfrm>
            <a:off x="941832" y="4590288"/>
            <a:ext cx="10314432" cy="832104"/>
          </a:xfrm>
          <a:prstGeom prst="roundRect">
            <a:avLst>
              <a:gd name="adj" fmla="val 10989"/>
            </a:avLst>
          </a:prstGeom>
          <a:solidFill>
            <a:srgbClr val="0C1E2C"/>
          </a:solidFill>
          <a:ln w="12700">
            <a:solidFill>
              <a:srgbClr val="0C1E2C"/>
            </a:solidFill>
            <a:prstDash val="solid"/>
          </a:ln>
        </p:spPr>
      </p:sp>
      <p:sp>
        <p:nvSpPr>
          <p:cNvPr id="19" name="Text 17"/>
          <p:cNvSpPr txBox="1"/>
          <p:nvPr/>
        </p:nvSpPr>
        <p:spPr>
          <a:xfrm>
            <a:off x="1188720" y="4873752"/>
            <a:ext cx="9829800" cy="329184"/>
          </a:xfrm>
          <a:prstGeom prst="rect">
            <a:avLst/>
          </a:prstGeom>
          <a:noFill/>
          <a:ln/>
        </p:spPr>
        <p:txBody>
          <a:bodyPr wrap="square" lIns="0" tIns="0" rIns="0" bIns="0" rtlCol="0" anchor="ctr"/>
          <a:lstStyle/>
          <a:p>
            <a:pPr algn="ctr" indent="0" marL="0">
              <a:buNone/>
            </a:pPr>
            <a:r>
              <a:rPr lang="en-US" sz="1700" dirty="0">
                <a:solidFill>
                  <a:srgbClr val="FFFFFF"/>
                </a:solidFill>
                <a:latin typeface="Courier New" pitchFamily="34" charset="0"/>
                <a:ea typeface="Courier New" pitchFamily="34" charset="-122"/>
                <a:cs typeface="Courier New" pitchFamily="34" charset="-120"/>
              </a:rPr>
              <a:t>@schedule(cron_schedule="*/5 * * * *", execution_timezone="Asia/Jakarta")</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365760"/>
            <a:ext cx="10972800" cy="502920"/>
          </a:xfrm>
          <a:prstGeom prst="rect">
            <a:avLst/>
          </a:prstGeom>
          <a:noFill/>
          <a:ln/>
        </p:spPr>
        <p:txBody>
          <a:bodyPr wrap="square" lIns="0" tIns="0" rIns="0" bIns="0" rtlCol="0" anchor="ctr"/>
          <a:lstStyle/>
          <a:p>
            <a:pPr algn="l" indent="0" marL="0">
              <a:buNone/>
            </a:pPr>
            <a:r>
              <a:rPr lang="en-US" sz="3000" b="1" dirty="0">
                <a:solidFill>
                  <a:srgbClr val="0C1E2C"/>
                </a:solidFill>
                <a:latin typeface="Arial" pitchFamily="34" charset="0"/>
                <a:ea typeface="Arial" pitchFamily="34" charset="-122"/>
                <a:cs typeface="Arial" pitchFamily="34" charset="-120"/>
              </a:rPr>
              <a:t>Dagster: siapa melakukan apa?</a:t>
            </a:r>
            <a:endParaRPr lang="en-US" sz="3000" dirty="0"/>
          </a:p>
        </p:txBody>
      </p:sp>
      <p:sp>
        <p:nvSpPr>
          <p:cNvPr id="3" name="Text 1"/>
          <p:cNvSpPr txBox="1"/>
          <p:nvPr/>
        </p:nvSpPr>
        <p:spPr>
          <a:xfrm>
            <a:off x="640080" y="941832"/>
            <a:ext cx="10881360" cy="320040"/>
          </a:xfrm>
          <a:prstGeom prst="rect">
            <a:avLst/>
          </a:prstGeom>
          <a:noFill/>
          <a:ln/>
        </p:spPr>
        <p:txBody>
          <a:bodyPr wrap="square" lIns="0" tIns="0" rIns="0" bIns="0" rtlCol="0" anchor="ctr"/>
          <a:lstStyle/>
          <a:p>
            <a:pPr algn="l" indent="0" marL="0">
              <a:buNone/>
            </a:pPr>
            <a:r>
              <a:rPr lang="en-US" sz="1500" dirty="0">
                <a:solidFill>
                  <a:srgbClr val="526B79"/>
                </a:solidFill>
                <a:latin typeface="Arial" pitchFamily="34" charset="0"/>
                <a:ea typeface="Arial" pitchFamily="34" charset="-122"/>
                <a:cs typeface="Arial" pitchFamily="34" charset="-120"/>
              </a:rPr>
              <a:t>Webserver menampilkan UI, daemon mengevaluasi jadwal, dan asset menjalankan pipeline.</a:t>
            </a:r>
            <a:endParaRPr lang="en-US" sz="1500" dirty="0"/>
          </a:p>
        </p:txBody>
      </p:sp>
      <p:sp>
        <p:nvSpPr>
          <p:cNvPr id="4" name="Text 2"/>
          <p:cNvSpPr txBox="1"/>
          <p:nvPr/>
        </p:nvSpPr>
        <p:spPr>
          <a:xfrm>
            <a:off x="640080" y="6565392"/>
            <a:ext cx="5486400" cy="146304"/>
          </a:xfrm>
          <a:prstGeom prst="rect">
            <a:avLst/>
          </a:prstGeom>
          <a:noFill/>
          <a:ln/>
        </p:spPr>
        <p:txBody>
          <a:bodyPr wrap="square" lIns="0" tIns="0" rIns="0" bIns="0" rtlCol="0" anchor="ctr"/>
          <a:lstStyle/>
          <a:p>
            <a:pPr algn="l" indent="0" marL="0">
              <a:buNone/>
            </a:pPr>
            <a:r>
              <a:rPr lang="en-US" sz="900" b="1" dirty="0">
                <a:solidFill>
                  <a:srgbClr val="526B79"/>
                </a:solidFill>
                <a:latin typeface="Arial" pitchFamily="34" charset="0"/>
                <a:ea typeface="Arial" pitchFamily="34" charset="-122"/>
                <a:cs typeface="Arial" pitchFamily="34" charset="-120"/>
              </a:rPr>
              <a:t>PERTEMUAN 6  /  DATA ENGINEERING</a:t>
            </a:r>
            <a:endParaRPr lang="en-US" sz="900" dirty="0"/>
          </a:p>
        </p:txBody>
      </p:sp>
      <p:sp>
        <p:nvSpPr>
          <p:cNvPr id="5" name="Text 3"/>
          <p:cNvSpPr txBox="1"/>
          <p:nvPr/>
        </p:nvSpPr>
        <p:spPr>
          <a:xfrm>
            <a:off x="11155680" y="6519672"/>
            <a:ext cx="438912" cy="182880"/>
          </a:xfrm>
          <a:prstGeom prst="rect">
            <a:avLst/>
          </a:prstGeom>
          <a:noFill/>
          <a:ln/>
        </p:spPr>
        <p:txBody>
          <a:bodyPr wrap="square" lIns="0" tIns="0" rIns="0" bIns="0" rtlCol="0" anchor="ctr"/>
          <a:lstStyle/>
          <a:p>
            <a:pPr algn="r" indent="0" marL="0">
              <a:buNone/>
            </a:pPr>
            <a:r>
              <a:rPr lang="en-US" sz="1000" dirty="0">
                <a:solidFill>
                  <a:srgbClr val="526B79"/>
                </a:solidFill>
                <a:latin typeface="Arial" pitchFamily="34" charset="0"/>
                <a:ea typeface="Arial" pitchFamily="34" charset="-122"/>
                <a:cs typeface="Arial" pitchFamily="34" charset="-120"/>
              </a:rPr>
              <a:t>10</a:t>
            </a:r>
            <a:endParaRPr lang="en-US" sz="1000" dirty="0"/>
          </a:p>
        </p:txBody>
      </p:sp>
      <p:sp>
        <p:nvSpPr>
          <p:cNvPr id="6" name="Shape 4"/>
          <p:cNvSpPr/>
          <p:nvPr/>
        </p:nvSpPr>
        <p:spPr>
          <a:xfrm>
            <a:off x="832104" y="1856232"/>
            <a:ext cx="3090672" cy="1261872"/>
          </a:xfrm>
          <a:prstGeom prst="roundRect">
            <a:avLst>
              <a:gd name="adj" fmla="val 7246"/>
            </a:avLst>
          </a:prstGeom>
          <a:solidFill>
            <a:srgbClr val="0C1E2C"/>
          </a:solidFill>
          <a:ln w="12700">
            <a:solidFill>
              <a:srgbClr val="0C1E2C"/>
            </a:solidFill>
            <a:prstDash val="solid"/>
          </a:ln>
        </p:spPr>
      </p:sp>
      <p:sp>
        <p:nvSpPr>
          <p:cNvPr id="7" name="Text 5"/>
          <p:cNvSpPr txBox="1"/>
          <p:nvPr/>
        </p:nvSpPr>
        <p:spPr>
          <a:xfrm>
            <a:off x="978408" y="2039112"/>
            <a:ext cx="2798064" cy="292608"/>
          </a:xfrm>
          <a:prstGeom prst="rect">
            <a:avLst/>
          </a:prstGeom>
          <a:noFill/>
          <a:ln/>
        </p:spPr>
        <p:txBody>
          <a:bodyPr wrap="squar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dagster-webserver</a:t>
            </a:r>
            <a:endParaRPr lang="en-US" sz="2100" dirty="0"/>
          </a:p>
        </p:txBody>
      </p:sp>
      <p:sp>
        <p:nvSpPr>
          <p:cNvPr id="8" name="Text 6"/>
          <p:cNvSpPr txBox="1"/>
          <p:nvPr/>
        </p:nvSpPr>
        <p:spPr>
          <a:xfrm>
            <a:off x="960120" y="2450592"/>
            <a:ext cx="2834640" cy="585216"/>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UI dan riwayat run</a:t>
            </a:r>
            <a:endParaRPr lang="en-US" sz="1300" dirty="0"/>
          </a:p>
          <a:p>
            <a:pPr algn="ctr" indent="0" marL="0">
              <a:buNone/>
            </a:pPr>
            <a:r>
              <a:rPr lang="en-US" sz="1300" dirty="0">
                <a:solidFill>
                  <a:srgbClr val="FFFFFF"/>
                </a:solidFill>
                <a:latin typeface="Arial" pitchFamily="34" charset="0"/>
                <a:ea typeface="Arial" pitchFamily="34" charset="-122"/>
                <a:cs typeface="Arial" pitchFamily="34" charset="-120"/>
              </a:rPr>
              <a:t>localhost:3000</a:t>
            </a:r>
            <a:endParaRPr lang="en-US" sz="1300" dirty="0"/>
          </a:p>
        </p:txBody>
      </p:sp>
      <p:sp>
        <p:nvSpPr>
          <p:cNvPr id="9" name="Shape 7"/>
          <p:cNvSpPr/>
          <p:nvPr/>
        </p:nvSpPr>
        <p:spPr>
          <a:xfrm>
            <a:off x="4608576" y="1856232"/>
            <a:ext cx="3090672" cy="1261872"/>
          </a:xfrm>
          <a:prstGeom prst="roundRect">
            <a:avLst>
              <a:gd name="adj" fmla="val 7246"/>
            </a:avLst>
          </a:prstGeom>
          <a:solidFill>
            <a:srgbClr val="00A7A4"/>
          </a:solidFill>
          <a:ln w="12700">
            <a:solidFill>
              <a:srgbClr val="00A7A4"/>
            </a:solidFill>
            <a:prstDash val="solid"/>
          </a:ln>
        </p:spPr>
      </p:sp>
      <p:sp>
        <p:nvSpPr>
          <p:cNvPr id="10" name="Text 8"/>
          <p:cNvSpPr txBox="1"/>
          <p:nvPr/>
        </p:nvSpPr>
        <p:spPr>
          <a:xfrm>
            <a:off x="4754880" y="2039112"/>
            <a:ext cx="2798064" cy="292608"/>
          </a:xfrm>
          <a:prstGeom prst="rect">
            <a:avLst/>
          </a:prstGeom>
          <a:noFill/>
          <a:ln/>
        </p:spPr>
        <p:txBody>
          <a:bodyPr wrap="squar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dagster-daemon</a:t>
            </a:r>
            <a:endParaRPr lang="en-US" sz="2100" dirty="0"/>
          </a:p>
        </p:txBody>
      </p:sp>
      <p:sp>
        <p:nvSpPr>
          <p:cNvPr id="11" name="Text 9"/>
          <p:cNvSpPr txBox="1"/>
          <p:nvPr/>
        </p:nvSpPr>
        <p:spPr>
          <a:xfrm>
            <a:off x="4736592" y="2450592"/>
            <a:ext cx="2834640" cy="585216"/>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Mengevaluasi schedule</a:t>
            </a:r>
            <a:endParaRPr lang="en-US" sz="1300" dirty="0"/>
          </a:p>
        </p:txBody>
      </p:sp>
      <p:sp>
        <p:nvSpPr>
          <p:cNvPr id="12" name="Shape 10"/>
          <p:cNvSpPr/>
          <p:nvPr/>
        </p:nvSpPr>
        <p:spPr>
          <a:xfrm>
            <a:off x="8385048" y="1856232"/>
            <a:ext cx="3090672" cy="1261872"/>
          </a:xfrm>
          <a:prstGeom prst="roundRect">
            <a:avLst>
              <a:gd name="adj" fmla="val 7246"/>
            </a:avLst>
          </a:prstGeom>
          <a:solidFill>
            <a:srgbClr val="FA6A60"/>
          </a:solidFill>
          <a:ln w="12700">
            <a:solidFill>
              <a:srgbClr val="FA6A60"/>
            </a:solidFill>
            <a:prstDash val="solid"/>
          </a:ln>
        </p:spPr>
      </p:sp>
      <p:sp>
        <p:nvSpPr>
          <p:cNvPr id="13" name="Text 11"/>
          <p:cNvSpPr txBox="1"/>
          <p:nvPr/>
        </p:nvSpPr>
        <p:spPr>
          <a:xfrm>
            <a:off x="8531352" y="2039112"/>
            <a:ext cx="2798064" cy="292608"/>
          </a:xfrm>
          <a:prstGeom prst="rect">
            <a:avLst/>
          </a:prstGeom>
          <a:noFill/>
          <a:ln/>
        </p:spPr>
        <p:txBody>
          <a:bodyPr wrap="squar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elt_pipeline asset</a:t>
            </a:r>
            <a:endParaRPr lang="en-US" sz="2100" dirty="0"/>
          </a:p>
        </p:txBody>
      </p:sp>
      <p:sp>
        <p:nvSpPr>
          <p:cNvPr id="14" name="Text 12"/>
          <p:cNvSpPr txBox="1"/>
          <p:nvPr/>
        </p:nvSpPr>
        <p:spPr>
          <a:xfrm>
            <a:off x="8513064" y="2450592"/>
            <a:ext cx="2834640" cy="585216"/>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Memanggil script ELT</a:t>
            </a:r>
            <a:endParaRPr lang="en-US" sz="1300" dirty="0"/>
          </a:p>
        </p:txBody>
      </p:sp>
      <p:sp>
        <p:nvSpPr>
          <p:cNvPr id="15" name="Shape 13"/>
          <p:cNvSpPr/>
          <p:nvPr/>
        </p:nvSpPr>
        <p:spPr>
          <a:xfrm>
            <a:off x="4014216" y="2468880"/>
            <a:ext cx="429768" cy="0"/>
          </a:xfrm>
          <a:prstGeom prst="line">
            <a:avLst/>
          </a:prstGeom>
          <a:noFill/>
          <a:ln w="38100">
            <a:solidFill>
              <a:srgbClr val="D8E3E9"/>
            </a:solidFill>
            <a:prstDash val="solid"/>
            <a:tailEnd type="triangle"/>
          </a:ln>
        </p:spPr>
      </p:sp>
      <p:sp>
        <p:nvSpPr>
          <p:cNvPr id="16" name="Shape 14"/>
          <p:cNvSpPr/>
          <p:nvPr/>
        </p:nvSpPr>
        <p:spPr>
          <a:xfrm>
            <a:off x="7790688" y="2468880"/>
            <a:ext cx="429768" cy="0"/>
          </a:xfrm>
          <a:prstGeom prst="line">
            <a:avLst/>
          </a:prstGeom>
          <a:noFill/>
          <a:ln w="38100">
            <a:solidFill>
              <a:srgbClr val="D8E3E9"/>
            </a:solidFill>
            <a:prstDash val="solid"/>
            <a:tailEnd type="triangle"/>
          </a:ln>
        </p:spPr>
      </p:sp>
      <p:sp>
        <p:nvSpPr>
          <p:cNvPr id="17" name="Shape 15"/>
          <p:cNvSpPr/>
          <p:nvPr/>
        </p:nvSpPr>
        <p:spPr>
          <a:xfrm>
            <a:off x="1234440" y="4142232"/>
            <a:ext cx="9692640" cy="1060704"/>
          </a:xfrm>
          <a:prstGeom prst="roundRect">
            <a:avLst>
              <a:gd name="adj" fmla="val 8621"/>
            </a:avLst>
          </a:prstGeom>
          <a:solidFill>
            <a:srgbClr val="F4F8FA"/>
          </a:solidFill>
          <a:ln w="12700">
            <a:solidFill>
              <a:srgbClr val="F4F8FA"/>
            </a:solidFill>
            <a:prstDash val="solid"/>
          </a:ln>
        </p:spPr>
      </p:sp>
      <p:sp>
        <p:nvSpPr>
          <p:cNvPr id="18" name="Text 16"/>
          <p:cNvSpPr txBox="1"/>
          <p:nvPr/>
        </p:nvSpPr>
        <p:spPr>
          <a:xfrm>
            <a:off x="1463040" y="4407408"/>
            <a:ext cx="9217152" cy="320040"/>
          </a:xfrm>
          <a:prstGeom prst="rect">
            <a:avLst/>
          </a:prstGeom>
          <a:noFill/>
          <a:ln/>
        </p:spPr>
        <p:txBody>
          <a:bodyPr wrap="square" lIns="0" tIns="0" rIns="0" bIns="0" rtlCol="0" anchor="ctr"/>
          <a:lstStyle/>
          <a:p>
            <a:pPr algn="ctr" indent="0" marL="0">
              <a:buNone/>
            </a:pPr>
            <a:r>
              <a:rPr lang="en-US" sz="2000" b="1" dirty="0">
                <a:solidFill>
                  <a:srgbClr val="0C1E2C"/>
                </a:solidFill>
                <a:latin typeface="Arial" pitchFamily="34" charset="0"/>
                <a:ea typeface="Arial" pitchFamily="34" charset="-122"/>
                <a:cs typeface="Arial" pitchFamily="34" charset="-120"/>
              </a:rPr>
              <a:t>Manual: Assets → elt_pipeline → Materialize → Runs → buka log</a:t>
            </a:r>
            <a:endParaRPr lang="en-US" sz="2000" dirty="0"/>
          </a:p>
        </p:txBody>
      </p:sp>
      <p:sp>
        <p:nvSpPr>
          <p:cNvPr id="19" name="Text 17"/>
          <p:cNvSpPr txBox="1"/>
          <p:nvPr/>
        </p:nvSpPr>
        <p:spPr>
          <a:xfrm>
            <a:off x="1947672" y="4791456"/>
            <a:ext cx="8293608" cy="265176"/>
          </a:xfrm>
          <a:prstGeom prst="rect">
            <a:avLst/>
          </a:prstGeom>
          <a:noFill/>
          <a:ln/>
        </p:spPr>
        <p:txBody>
          <a:bodyPr wrap="square" lIns="0" tIns="0" rIns="0" bIns="0" rtlCol="0" anchor="ctr"/>
          <a:lstStyle/>
          <a:p>
            <a:pPr algn="ctr" indent="0" marL="0">
              <a:buNone/>
            </a:pPr>
            <a:r>
              <a:rPr lang="en-US" sz="1600" dirty="0">
                <a:solidFill>
                  <a:srgbClr val="526B79"/>
                </a:solidFill>
                <a:latin typeface="Arial" pitchFamily="34" charset="0"/>
                <a:ea typeface="Arial" pitchFamily="34" charset="-122"/>
                <a:cs typeface="Arial" pitchFamily="34" charset="-120"/>
              </a:rPr>
              <a:t>Terjadwal: pastikan daemon hidup dan schedule aktif.</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365760"/>
            <a:ext cx="10972800" cy="502920"/>
          </a:xfrm>
          <a:prstGeom prst="rect">
            <a:avLst/>
          </a:prstGeom>
          <a:noFill/>
          <a:ln/>
        </p:spPr>
        <p:txBody>
          <a:bodyPr wrap="square" lIns="0" tIns="0" rIns="0" bIns="0" rtlCol="0" anchor="ctr"/>
          <a:lstStyle/>
          <a:p>
            <a:pPr algn="l" indent="0" marL="0">
              <a:buNone/>
            </a:pPr>
            <a:r>
              <a:rPr lang="en-US" sz="3000" b="1" dirty="0">
                <a:solidFill>
                  <a:srgbClr val="0C1E2C"/>
                </a:solidFill>
                <a:latin typeface="Arial" pitchFamily="34" charset="0"/>
                <a:ea typeface="Arial" pitchFamily="34" charset="-122"/>
                <a:cs typeface="Arial" pitchFamily="34" charset="-120"/>
              </a:rPr>
              <a:t>Prefect: flow, task, deployment</a:t>
            </a:r>
            <a:endParaRPr lang="en-US" sz="3000" dirty="0"/>
          </a:p>
        </p:txBody>
      </p:sp>
      <p:sp>
        <p:nvSpPr>
          <p:cNvPr id="3" name="Text 1"/>
          <p:cNvSpPr txBox="1"/>
          <p:nvPr/>
        </p:nvSpPr>
        <p:spPr>
          <a:xfrm>
            <a:off x="640080" y="941832"/>
            <a:ext cx="10881360" cy="320040"/>
          </a:xfrm>
          <a:prstGeom prst="rect">
            <a:avLst/>
          </a:prstGeom>
          <a:noFill/>
          <a:ln/>
        </p:spPr>
        <p:txBody>
          <a:bodyPr wrap="square" lIns="0" tIns="0" rIns="0" bIns="0" rtlCol="0" anchor="ctr"/>
          <a:lstStyle/>
          <a:p>
            <a:pPr algn="l" indent="0" marL="0">
              <a:buNone/>
            </a:pPr>
            <a:r>
              <a:rPr lang="en-US" sz="1500" dirty="0">
                <a:solidFill>
                  <a:srgbClr val="526B79"/>
                </a:solidFill>
                <a:latin typeface="Arial" pitchFamily="34" charset="0"/>
                <a:ea typeface="Arial" pitchFamily="34" charset="-122"/>
                <a:cs typeface="Arial" pitchFamily="34" charset="-120"/>
              </a:rPr>
              <a:t>Function Python diberi decorator; serve() mendaftarkan deployment dan menunggu run.</a:t>
            </a:r>
            <a:endParaRPr lang="en-US" sz="1500" dirty="0"/>
          </a:p>
        </p:txBody>
      </p:sp>
      <p:sp>
        <p:nvSpPr>
          <p:cNvPr id="4" name="Text 2"/>
          <p:cNvSpPr txBox="1"/>
          <p:nvPr/>
        </p:nvSpPr>
        <p:spPr>
          <a:xfrm>
            <a:off x="640080" y="6565392"/>
            <a:ext cx="5486400" cy="146304"/>
          </a:xfrm>
          <a:prstGeom prst="rect">
            <a:avLst/>
          </a:prstGeom>
          <a:noFill/>
          <a:ln/>
        </p:spPr>
        <p:txBody>
          <a:bodyPr wrap="square" lIns="0" tIns="0" rIns="0" bIns="0" rtlCol="0" anchor="ctr"/>
          <a:lstStyle/>
          <a:p>
            <a:pPr algn="l" indent="0" marL="0">
              <a:buNone/>
            </a:pPr>
            <a:r>
              <a:rPr lang="en-US" sz="900" b="1" dirty="0">
                <a:solidFill>
                  <a:srgbClr val="526B79"/>
                </a:solidFill>
                <a:latin typeface="Arial" pitchFamily="34" charset="0"/>
                <a:ea typeface="Arial" pitchFamily="34" charset="-122"/>
                <a:cs typeface="Arial" pitchFamily="34" charset="-120"/>
              </a:rPr>
              <a:t>PERTEMUAN 6  /  DATA ENGINEERING</a:t>
            </a:r>
            <a:endParaRPr lang="en-US" sz="900" dirty="0"/>
          </a:p>
        </p:txBody>
      </p:sp>
      <p:sp>
        <p:nvSpPr>
          <p:cNvPr id="5" name="Text 3"/>
          <p:cNvSpPr txBox="1"/>
          <p:nvPr/>
        </p:nvSpPr>
        <p:spPr>
          <a:xfrm>
            <a:off x="11155680" y="6519672"/>
            <a:ext cx="438912" cy="182880"/>
          </a:xfrm>
          <a:prstGeom prst="rect">
            <a:avLst/>
          </a:prstGeom>
          <a:noFill/>
          <a:ln/>
        </p:spPr>
        <p:txBody>
          <a:bodyPr wrap="square" lIns="0" tIns="0" rIns="0" bIns="0" rtlCol="0" anchor="ctr"/>
          <a:lstStyle/>
          <a:p>
            <a:pPr algn="r" indent="0" marL="0">
              <a:buNone/>
            </a:pPr>
            <a:r>
              <a:rPr lang="en-US" sz="1000" dirty="0">
                <a:solidFill>
                  <a:srgbClr val="526B79"/>
                </a:solidFill>
                <a:latin typeface="Arial" pitchFamily="34" charset="0"/>
                <a:ea typeface="Arial" pitchFamily="34" charset="-122"/>
                <a:cs typeface="Arial" pitchFamily="34" charset="-120"/>
              </a:rPr>
              <a:t>11</a:t>
            </a:r>
            <a:endParaRPr lang="en-US" sz="1000" dirty="0"/>
          </a:p>
        </p:txBody>
      </p:sp>
      <p:sp>
        <p:nvSpPr>
          <p:cNvPr id="6" name="Shape 4"/>
          <p:cNvSpPr/>
          <p:nvPr/>
        </p:nvSpPr>
        <p:spPr>
          <a:xfrm>
            <a:off x="694944" y="1572768"/>
            <a:ext cx="6629400" cy="3877056"/>
          </a:xfrm>
          <a:prstGeom prst="roundRect">
            <a:avLst>
              <a:gd name="adj" fmla="val 2358"/>
            </a:avLst>
          </a:prstGeom>
          <a:solidFill>
            <a:srgbClr val="0C1E2C"/>
          </a:solidFill>
          <a:ln w="12700">
            <a:solidFill>
              <a:srgbClr val="0C1E2C"/>
            </a:solidFill>
            <a:prstDash val="solid"/>
          </a:ln>
        </p:spPr>
      </p:sp>
      <p:sp>
        <p:nvSpPr>
          <p:cNvPr id="7" name="Text 5"/>
          <p:cNvSpPr txBox="1"/>
          <p:nvPr/>
        </p:nvSpPr>
        <p:spPr>
          <a:xfrm>
            <a:off x="978408" y="1874520"/>
            <a:ext cx="6172200" cy="3273552"/>
          </a:xfrm>
          <a:prstGeom prst="rect">
            <a:avLst/>
          </a:prstGeom>
          <a:noFill/>
          <a:ln/>
        </p:spPr>
        <p:txBody>
          <a:bodyPr wrap="square" lIns="0" tIns="0" rIns="0" bIns="0" rtlCol="0" anchor="t"/>
          <a:lstStyle/>
          <a:p>
            <a:pPr algn="l" indent="0" marL="0">
              <a:buNone/>
            </a:pPr>
            <a:r>
              <a:rPr lang="en-US" sz="1500" dirty="0">
                <a:solidFill>
                  <a:srgbClr val="FFFFFF"/>
                </a:solidFill>
                <a:latin typeface="Courier New" pitchFamily="34" charset="0"/>
                <a:ea typeface="Courier New" pitchFamily="34" charset="-122"/>
                <a:cs typeface="Courier New" pitchFamily="34" charset="-120"/>
              </a:rPr>
              <a:t>@task(retries=1, retry_delay_seconds=10)</a:t>
            </a:r>
            <a:endParaRPr lang="en-US" sz="1500" dirty="0"/>
          </a:p>
          <a:p>
            <a:pPr algn="l" indent="0" marL="0">
              <a:buNone/>
            </a:pPr>
            <a:r>
              <a:rPr lang="en-US" sz="1500" dirty="0">
                <a:solidFill>
                  <a:srgbClr val="FFFFFF"/>
                </a:solidFill>
                <a:latin typeface="Courier New" pitchFamily="34" charset="0"/>
                <a:ea typeface="Courier New" pitchFamily="34" charset="-122"/>
                <a:cs typeface="Courier New" pitchFamily="34" charset="-120"/>
              </a:rPr>
              <a:t>def run_elt_pipeline():</a:t>
            </a:r>
            <a:endParaRPr lang="en-US" sz="1500" dirty="0"/>
          </a:p>
          <a:p>
            <a:pPr algn="l" indent="0" marL="0">
              <a:buNone/>
            </a:pPr>
            <a:r>
              <a:rPr lang="en-US" sz="1500" dirty="0">
                <a:solidFill>
                  <a:srgbClr val="FFFFFF"/>
                </a:solidFill>
                <a:latin typeface="Courier New" pitchFamily="34" charset="0"/>
                <a:ea typeface="Courier New" pitchFamily="34" charset="-122"/>
                <a:cs typeface="Courier New" pitchFamily="34" charset="-120"/>
              </a:rPr>
              <a:t>    ...  # bash pertemuan-5/run_pipeline.sh</a:t>
            </a:r>
            <a:endParaRPr lang="en-US" sz="1500" dirty="0"/>
          </a:p>
          <a:p>
            <a:pPr algn="l" indent="0" marL="0">
              <a:buNone/>
            </a:pPr>
            <a:endParaRPr lang="en-US" sz="1500" dirty="0"/>
          </a:p>
          <a:p>
            <a:pPr algn="l" indent="0" marL="0">
              <a:buNone/>
            </a:pPr>
            <a:r>
              <a:rPr lang="en-US" sz="1500" dirty="0">
                <a:solidFill>
                  <a:srgbClr val="FFFFFF"/>
                </a:solidFill>
                <a:latin typeface="Courier New" pitchFamily="34" charset="0"/>
                <a:ea typeface="Courier New" pitchFamily="34" charset="-122"/>
                <a:cs typeface="Courier New" pitchFamily="34" charset="-120"/>
              </a:rPr>
              <a:t>@flow(name="pertemuan-6-elt")</a:t>
            </a:r>
            <a:endParaRPr lang="en-US" sz="1500" dirty="0"/>
          </a:p>
          <a:p>
            <a:pPr algn="l" indent="0" marL="0">
              <a:buNone/>
            </a:pPr>
            <a:r>
              <a:rPr lang="en-US" sz="1500" dirty="0">
                <a:solidFill>
                  <a:srgbClr val="FFFFFF"/>
                </a:solidFill>
                <a:latin typeface="Courier New" pitchFamily="34" charset="0"/>
                <a:ea typeface="Courier New" pitchFamily="34" charset="-122"/>
                <a:cs typeface="Courier New" pitchFamily="34" charset="-120"/>
              </a:rPr>
              <a:t>def elt_flow():</a:t>
            </a:r>
            <a:endParaRPr lang="en-US" sz="1500" dirty="0"/>
          </a:p>
          <a:p>
            <a:pPr algn="l" indent="0" marL="0">
              <a:buNone/>
            </a:pPr>
            <a:r>
              <a:rPr lang="en-US" sz="1500" dirty="0">
                <a:solidFill>
                  <a:srgbClr val="FFFFFF"/>
                </a:solidFill>
                <a:latin typeface="Courier New" pitchFamily="34" charset="0"/>
                <a:ea typeface="Courier New" pitchFamily="34" charset="-122"/>
                <a:cs typeface="Courier New" pitchFamily="34" charset="-120"/>
              </a:rPr>
              <a:t>    return run_elt_pipeline()</a:t>
            </a:r>
            <a:endParaRPr lang="en-US" sz="1500" dirty="0"/>
          </a:p>
          <a:p>
            <a:pPr algn="l" indent="0" marL="0">
              <a:buNone/>
            </a:pPr>
            <a:endParaRPr lang="en-US" sz="1500" dirty="0"/>
          </a:p>
          <a:p>
            <a:pPr algn="l" indent="0" marL="0">
              <a:buNone/>
            </a:pPr>
            <a:r>
              <a:rPr lang="en-US" sz="1500" dirty="0">
                <a:solidFill>
                  <a:srgbClr val="FFFFFF"/>
                </a:solidFill>
                <a:latin typeface="Courier New" pitchFamily="34" charset="0"/>
                <a:ea typeface="Courier New" pitchFamily="34" charset="-122"/>
                <a:cs typeface="Courier New" pitchFamily="34" charset="-120"/>
              </a:rPr>
              <a:t>elt_flow.serve(</a:t>
            </a:r>
            <a:endParaRPr lang="en-US" sz="1500" dirty="0"/>
          </a:p>
          <a:p>
            <a:pPr algn="l" indent="0" marL="0">
              <a:buNone/>
            </a:pPr>
            <a:r>
              <a:rPr lang="en-US" sz="1500" dirty="0">
                <a:solidFill>
                  <a:srgbClr val="FFFFFF"/>
                </a:solidFill>
                <a:latin typeface="Courier New" pitchFamily="34" charset="0"/>
                <a:ea typeface="Courier New" pitchFamily="34" charset="-122"/>
                <a:cs typeface="Courier New" pitchFamily="34" charset="-120"/>
              </a:rPr>
              <a:t>    name="pertemuan-6-elt",</a:t>
            </a:r>
            <a:endParaRPr lang="en-US" sz="1500" dirty="0"/>
          </a:p>
          <a:p>
            <a:pPr algn="l" indent="0" marL="0">
              <a:buNone/>
            </a:pPr>
            <a:r>
              <a:rPr lang="en-US" sz="1500" dirty="0">
                <a:solidFill>
                  <a:srgbClr val="FFFFFF"/>
                </a:solidFill>
                <a:latin typeface="Courier New" pitchFamily="34" charset="0"/>
                <a:ea typeface="Courier New" pitchFamily="34" charset="-122"/>
                <a:cs typeface="Courier New" pitchFamily="34" charset="-120"/>
              </a:rPr>
              <a:t>    cron="*/15 * * * *",</a:t>
            </a:r>
            <a:endParaRPr lang="en-US" sz="1500" dirty="0"/>
          </a:p>
          <a:p>
            <a:pPr algn="l" indent="0" marL="0">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p:txBody>
      </p:sp>
      <p:sp>
        <p:nvSpPr>
          <p:cNvPr id="8" name="Shape 6"/>
          <p:cNvSpPr/>
          <p:nvPr/>
        </p:nvSpPr>
        <p:spPr>
          <a:xfrm>
            <a:off x="7644384" y="1728216"/>
            <a:ext cx="3840480" cy="1508760"/>
          </a:xfrm>
          <a:prstGeom prst="roundRect">
            <a:avLst>
              <a:gd name="adj" fmla="val 6061"/>
            </a:avLst>
          </a:prstGeom>
          <a:solidFill>
            <a:srgbClr val="E7F1FA"/>
          </a:solidFill>
          <a:ln w="12700">
            <a:solidFill>
              <a:srgbClr val="E7F1FA"/>
            </a:solidFill>
            <a:prstDash val="solid"/>
          </a:ln>
        </p:spPr>
      </p:sp>
      <p:sp>
        <p:nvSpPr>
          <p:cNvPr id="9" name="Shape 7"/>
          <p:cNvSpPr/>
          <p:nvPr/>
        </p:nvSpPr>
        <p:spPr>
          <a:xfrm>
            <a:off x="7863840" y="1947672"/>
            <a:ext cx="347472" cy="347472"/>
          </a:xfrm>
          <a:prstGeom prst="ellipse">
            <a:avLst/>
          </a:prstGeom>
          <a:solidFill>
            <a:srgbClr val="2563A6"/>
          </a:solidFill>
          <a:ln w="12700">
            <a:solidFill>
              <a:srgbClr val="2563A6"/>
            </a:solidFill>
            <a:prstDash val="solid"/>
          </a:ln>
        </p:spPr>
      </p:sp>
      <p:sp>
        <p:nvSpPr>
          <p:cNvPr id="10" name="Text 8"/>
          <p:cNvSpPr txBox="1"/>
          <p:nvPr/>
        </p:nvSpPr>
        <p:spPr>
          <a:xfrm>
            <a:off x="8339328" y="1938528"/>
            <a:ext cx="2907792" cy="347472"/>
          </a:xfrm>
          <a:prstGeom prst="rect">
            <a:avLst/>
          </a:prstGeom>
          <a:noFill/>
          <a:ln/>
        </p:spPr>
        <p:txBody>
          <a:bodyPr wrap="square" lIns="0" tIns="0" rIns="0" bIns="0" rtlCol="0" anchor="ctr"/>
          <a:lstStyle/>
          <a:p>
            <a:pPr algn="l" indent="0" marL="0">
              <a:buNone/>
            </a:pPr>
            <a:r>
              <a:rPr lang="en-US" sz="1900" b="1" dirty="0">
                <a:solidFill>
                  <a:srgbClr val="102333"/>
                </a:solidFill>
                <a:latin typeface="Arial" pitchFamily="34" charset="0"/>
                <a:ea typeface="Arial" pitchFamily="34" charset="-122"/>
                <a:cs typeface="Arial" pitchFamily="34" charset="-120"/>
              </a:rPr>
              <a:t>@task</a:t>
            </a:r>
            <a:endParaRPr lang="en-US" sz="1900" dirty="0"/>
          </a:p>
        </p:txBody>
      </p:sp>
      <p:sp>
        <p:nvSpPr>
          <p:cNvPr id="11" name="Text 9"/>
          <p:cNvSpPr txBox="1"/>
          <p:nvPr/>
        </p:nvSpPr>
        <p:spPr>
          <a:xfrm>
            <a:off x="7900416" y="2496312"/>
            <a:ext cx="3328416" cy="576072"/>
          </a:xfrm>
          <a:prstGeom prst="rect">
            <a:avLst/>
          </a:prstGeom>
          <a:noFill/>
          <a:ln/>
        </p:spPr>
        <p:txBody>
          <a:bodyPr wrap="square" lIns="0" tIns="0" rIns="0" bIns="0" rtlCol="0" anchor="t"/>
          <a:lstStyle/>
          <a:p>
            <a:pPr algn="l" indent="0" marL="0">
              <a:buNone/>
            </a:pPr>
            <a:r>
              <a:rPr lang="en-US" sz="1500" dirty="0">
                <a:solidFill>
                  <a:srgbClr val="526B79"/>
                </a:solidFill>
                <a:latin typeface="Arial" pitchFamily="34" charset="0"/>
                <a:ea typeface="Arial" pitchFamily="34" charset="-122"/>
                <a:cs typeface="Arial" pitchFamily="34" charset="-120"/>
              </a:rPr>
              <a:t>Unit kerja dengan retry dan log.</a:t>
            </a:r>
            <a:endParaRPr lang="en-US" sz="1500" dirty="0"/>
          </a:p>
        </p:txBody>
      </p:sp>
      <p:sp>
        <p:nvSpPr>
          <p:cNvPr id="12" name="Shape 10"/>
          <p:cNvSpPr/>
          <p:nvPr/>
        </p:nvSpPr>
        <p:spPr>
          <a:xfrm>
            <a:off x="7644384" y="3429000"/>
            <a:ext cx="3840480" cy="1508760"/>
          </a:xfrm>
          <a:prstGeom prst="roundRect">
            <a:avLst>
              <a:gd name="adj" fmla="val 6061"/>
            </a:avLst>
          </a:prstGeom>
          <a:solidFill>
            <a:srgbClr val="DDF5F3"/>
          </a:solidFill>
          <a:ln w="12700">
            <a:solidFill>
              <a:srgbClr val="DDF5F3"/>
            </a:solidFill>
            <a:prstDash val="solid"/>
          </a:ln>
        </p:spPr>
      </p:sp>
      <p:sp>
        <p:nvSpPr>
          <p:cNvPr id="13" name="Shape 11"/>
          <p:cNvSpPr/>
          <p:nvPr/>
        </p:nvSpPr>
        <p:spPr>
          <a:xfrm>
            <a:off x="7863840" y="3648456"/>
            <a:ext cx="347472" cy="347472"/>
          </a:xfrm>
          <a:prstGeom prst="ellipse">
            <a:avLst/>
          </a:prstGeom>
          <a:solidFill>
            <a:srgbClr val="00A7A4"/>
          </a:solidFill>
          <a:ln w="12700">
            <a:solidFill>
              <a:srgbClr val="00A7A4"/>
            </a:solidFill>
            <a:prstDash val="solid"/>
          </a:ln>
        </p:spPr>
      </p:sp>
      <p:sp>
        <p:nvSpPr>
          <p:cNvPr id="14" name="Text 12"/>
          <p:cNvSpPr txBox="1"/>
          <p:nvPr/>
        </p:nvSpPr>
        <p:spPr>
          <a:xfrm>
            <a:off x="8339328" y="3639312"/>
            <a:ext cx="2907792" cy="347472"/>
          </a:xfrm>
          <a:prstGeom prst="rect">
            <a:avLst/>
          </a:prstGeom>
          <a:noFill/>
          <a:ln/>
        </p:spPr>
        <p:txBody>
          <a:bodyPr wrap="square" lIns="0" tIns="0" rIns="0" bIns="0" rtlCol="0" anchor="ctr"/>
          <a:lstStyle/>
          <a:p>
            <a:pPr algn="l" indent="0" marL="0">
              <a:buNone/>
            </a:pPr>
            <a:r>
              <a:rPr lang="en-US" sz="1900" b="1" dirty="0">
                <a:solidFill>
                  <a:srgbClr val="102333"/>
                </a:solidFill>
                <a:latin typeface="Arial" pitchFamily="34" charset="0"/>
                <a:ea typeface="Arial" pitchFamily="34" charset="-122"/>
                <a:cs typeface="Arial" pitchFamily="34" charset="-120"/>
              </a:rPr>
              <a:t>@flow + serve()</a:t>
            </a:r>
            <a:endParaRPr lang="en-US" sz="1900" dirty="0"/>
          </a:p>
        </p:txBody>
      </p:sp>
      <p:sp>
        <p:nvSpPr>
          <p:cNvPr id="15" name="Text 13"/>
          <p:cNvSpPr txBox="1"/>
          <p:nvPr/>
        </p:nvSpPr>
        <p:spPr>
          <a:xfrm>
            <a:off x="7900416" y="4197096"/>
            <a:ext cx="3328416" cy="576072"/>
          </a:xfrm>
          <a:prstGeom prst="rect">
            <a:avLst/>
          </a:prstGeom>
          <a:noFill/>
          <a:ln/>
        </p:spPr>
        <p:txBody>
          <a:bodyPr wrap="square" lIns="0" tIns="0" rIns="0" bIns="0" rtlCol="0" anchor="t"/>
          <a:lstStyle/>
          <a:p>
            <a:pPr algn="l" indent="0" marL="0">
              <a:buNone/>
            </a:pPr>
            <a:r>
              <a:rPr lang="en-US" sz="1500" dirty="0">
                <a:solidFill>
                  <a:srgbClr val="526B79"/>
                </a:solidFill>
                <a:latin typeface="Arial" pitchFamily="34" charset="0"/>
                <a:ea typeface="Arial" pitchFamily="34" charset="-122"/>
                <a:cs typeface="Arial" pitchFamily="34" charset="-120"/>
              </a:rPr>
              <a:t>Workflow dan deployment terjadwal.</a:t>
            </a:r>
            <a:endParaRPr lang="en-US" sz="1500" dirty="0"/>
          </a:p>
        </p:txBody>
      </p:sp>
      <p:sp>
        <p:nvSpPr>
          <p:cNvPr id="16" name="Text 14"/>
          <p:cNvSpPr txBox="1"/>
          <p:nvPr/>
        </p:nvSpPr>
        <p:spPr>
          <a:xfrm>
            <a:off x="7863840" y="5248656"/>
            <a:ext cx="3493008" cy="256032"/>
          </a:xfrm>
          <a:prstGeom prst="rect">
            <a:avLst/>
          </a:prstGeom>
          <a:noFill/>
          <a:ln/>
        </p:spPr>
        <p:txBody>
          <a:bodyPr wrap="square" lIns="0" tIns="0" rIns="0" bIns="0" rtlCol="0" anchor="ctr"/>
          <a:lstStyle/>
          <a:p>
            <a:pPr algn="l" indent="0" marL="0">
              <a:buNone/>
            </a:pPr>
            <a:r>
              <a:rPr lang="en-US" sz="1600" b="1" dirty="0">
                <a:solidFill>
                  <a:srgbClr val="0C1E2C"/>
                </a:solidFill>
                <a:latin typeface="Arial" pitchFamily="34" charset="0"/>
                <a:ea typeface="Arial" pitchFamily="34" charset="-122"/>
                <a:cs typeface="Arial" pitchFamily="34" charset="-120"/>
              </a:rPr>
              <a:t>UI: localhost:4200</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365760"/>
            <a:ext cx="10972800" cy="502920"/>
          </a:xfrm>
          <a:prstGeom prst="rect">
            <a:avLst/>
          </a:prstGeom>
          <a:noFill/>
          <a:ln/>
        </p:spPr>
        <p:txBody>
          <a:bodyPr wrap="square" lIns="0" tIns="0" rIns="0" bIns="0" rtlCol="0" anchor="ctr"/>
          <a:lstStyle/>
          <a:p>
            <a:pPr algn="l" indent="0" marL="0">
              <a:buNone/>
            </a:pPr>
            <a:r>
              <a:rPr lang="en-US" sz="3000" b="1" dirty="0">
                <a:solidFill>
                  <a:srgbClr val="0C1E2C"/>
                </a:solidFill>
                <a:latin typeface="Arial" pitchFamily="34" charset="0"/>
                <a:ea typeface="Arial" pitchFamily="34" charset="-122"/>
                <a:cs typeface="Arial" pitchFamily="34" charset="-120"/>
              </a:rPr>
              <a:t>Kestra: flow YAML dan task runner</a:t>
            </a:r>
            <a:endParaRPr lang="en-US" sz="3000" dirty="0"/>
          </a:p>
        </p:txBody>
      </p:sp>
      <p:sp>
        <p:nvSpPr>
          <p:cNvPr id="3" name="Text 1"/>
          <p:cNvSpPr txBox="1"/>
          <p:nvPr/>
        </p:nvSpPr>
        <p:spPr>
          <a:xfrm>
            <a:off x="640080" y="941832"/>
            <a:ext cx="10881360" cy="320040"/>
          </a:xfrm>
          <a:prstGeom prst="rect">
            <a:avLst/>
          </a:prstGeom>
          <a:noFill/>
          <a:ln/>
        </p:spPr>
        <p:txBody>
          <a:bodyPr wrap="square" lIns="0" tIns="0" rIns="0" bIns="0" rtlCol="0" anchor="ctr"/>
          <a:lstStyle/>
          <a:p>
            <a:pPr algn="l" indent="0" marL="0">
              <a:buNone/>
            </a:pPr>
            <a:r>
              <a:rPr lang="en-US" sz="1500" dirty="0">
                <a:solidFill>
                  <a:srgbClr val="526B79"/>
                </a:solidFill>
                <a:latin typeface="Arial" pitchFamily="34" charset="0"/>
                <a:ea typeface="Arial" pitchFamily="34" charset="-122"/>
                <a:cs typeface="Arial" pitchFamily="34" charset="-120"/>
              </a:rPr>
              <a:t>YAML mendefinisikan task dan trigger; Docker runner mengeksekusi command dalam image.</a:t>
            </a:r>
            <a:endParaRPr lang="en-US" sz="1500" dirty="0"/>
          </a:p>
        </p:txBody>
      </p:sp>
      <p:sp>
        <p:nvSpPr>
          <p:cNvPr id="4" name="Text 2"/>
          <p:cNvSpPr txBox="1"/>
          <p:nvPr/>
        </p:nvSpPr>
        <p:spPr>
          <a:xfrm>
            <a:off x="640080" y="6565392"/>
            <a:ext cx="5486400" cy="146304"/>
          </a:xfrm>
          <a:prstGeom prst="rect">
            <a:avLst/>
          </a:prstGeom>
          <a:noFill/>
          <a:ln/>
        </p:spPr>
        <p:txBody>
          <a:bodyPr wrap="square" lIns="0" tIns="0" rIns="0" bIns="0" rtlCol="0" anchor="ctr"/>
          <a:lstStyle/>
          <a:p>
            <a:pPr algn="l" indent="0" marL="0">
              <a:buNone/>
            </a:pPr>
            <a:r>
              <a:rPr lang="en-US" sz="900" b="1" dirty="0">
                <a:solidFill>
                  <a:srgbClr val="526B79"/>
                </a:solidFill>
                <a:latin typeface="Arial" pitchFamily="34" charset="0"/>
                <a:ea typeface="Arial" pitchFamily="34" charset="-122"/>
                <a:cs typeface="Arial" pitchFamily="34" charset="-120"/>
              </a:rPr>
              <a:t>PERTEMUAN 6  /  DATA ENGINEERING</a:t>
            </a:r>
            <a:endParaRPr lang="en-US" sz="900" dirty="0"/>
          </a:p>
        </p:txBody>
      </p:sp>
      <p:sp>
        <p:nvSpPr>
          <p:cNvPr id="5" name="Text 3"/>
          <p:cNvSpPr txBox="1"/>
          <p:nvPr/>
        </p:nvSpPr>
        <p:spPr>
          <a:xfrm>
            <a:off x="11155680" y="6519672"/>
            <a:ext cx="438912" cy="182880"/>
          </a:xfrm>
          <a:prstGeom prst="rect">
            <a:avLst/>
          </a:prstGeom>
          <a:noFill/>
          <a:ln/>
        </p:spPr>
        <p:txBody>
          <a:bodyPr wrap="square" lIns="0" tIns="0" rIns="0" bIns="0" rtlCol="0" anchor="ctr"/>
          <a:lstStyle/>
          <a:p>
            <a:pPr algn="r" indent="0" marL="0">
              <a:buNone/>
            </a:pPr>
            <a:r>
              <a:rPr lang="en-US" sz="1000" dirty="0">
                <a:solidFill>
                  <a:srgbClr val="526B79"/>
                </a:solidFill>
                <a:latin typeface="Arial" pitchFamily="34" charset="0"/>
                <a:ea typeface="Arial" pitchFamily="34" charset="-122"/>
                <a:cs typeface="Arial" pitchFamily="34" charset="-120"/>
              </a:rPr>
              <a:t>12</a:t>
            </a:r>
            <a:endParaRPr lang="en-US" sz="1000" dirty="0"/>
          </a:p>
        </p:txBody>
      </p:sp>
      <p:sp>
        <p:nvSpPr>
          <p:cNvPr id="6" name="Shape 4"/>
          <p:cNvSpPr/>
          <p:nvPr/>
        </p:nvSpPr>
        <p:spPr>
          <a:xfrm>
            <a:off x="694944" y="1572768"/>
            <a:ext cx="6583680" cy="4041648"/>
          </a:xfrm>
          <a:prstGeom prst="roundRect">
            <a:avLst>
              <a:gd name="adj" fmla="val 2262"/>
            </a:avLst>
          </a:prstGeom>
          <a:solidFill>
            <a:srgbClr val="0C1E2C"/>
          </a:solidFill>
          <a:ln w="12700">
            <a:solidFill>
              <a:srgbClr val="0C1E2C"/>
            </a:solidFill>
            <a:prstDash val="solid"/>
          </a:ln>
        </p:spPr>
      </p:sp>
      <p:sp>
        <p:nvSpPr>
          <p:cNvPr id="7" name="Text 5"/>
          <p:cNvSpPr txBox="1"/>
          <p:nvPr/>
        </p:nvSpPr>
        <p:spPr>
          <a:xfrm>
            <a:off x="950976" y="1810512"/>
            <a:ext cx="6099048" cy="3575304"/>
          </a:xfrm>
          <a:prstGeom prst="rect">
            <a:avLst/>
          </a:prstGeom>
          <a:noFill/>
          <a:ln/>
        </p:spPr>
        <p:txBody>
          <a:bodyPr wrap="square" lIns="0" tIns="0" rIns="0" bIns="0" rtlCol="0" anchor="t"/>
          <a:lstStyle/>
          <a:p>
            <a:pPr algn="l" indent="0" marL="0">
              <a:buNone/>
            </a:pPr>
            <a:r>
              <a:rPr lang="en-US" sz="1220" dirty="0">
                <a:solidFill>
                  <a:srgbClr val="FFFFFF"/>
                </a:solidFill>
                <a:latin typeface="Courier New" pitchFamily="34" charset="0"/>
                <a:ea typeface="Courier New" pitchFamily="34" charset="-122"/>
                <a:cs typeface="Courier New" pitchFamily="34" charset="-120"/>
              </a:rPr>
              <a:t>tasks:</a:t>
            </a:r>
            <a:endParaRPr lang="en-US" sz="1220" dirty="0"/>
          </a:p>
          <a:p>
            <a:pPr algn="l" indent="0" marL="0">
              <a:buNone/>
            </a:pPr>
            <a:r>
              <a:rPr lang="en-US" sz="1220" dirty="0">
                <a:solidFill>
                  <a:srgbClr val="FFFFFF"/>
                </a:solidFill>
                <a:latin typeface="Courier New" pitchFamily="34" charset="0"/>
                <a:ea typeface="Courier New" pitchFamily="34" charset="-122"/>
                <a:cs typeface="Courier New" pitchFamily="34" charset="-120"/>
              </a:rPr>
              <a:t>  - id: run_elt_pipeline</a:t>
            </a:r>
            <a:endParaRPr lang="en-US" sz="1220" dirty="0"/>
          </a:p>
          <a:p>
            <a:pPr algn="l" indent="0" marL="0">
              <a:buNone/>
            </a:pPr>
            <a:r>
              <a:rPr lang="en-US" sz="1220" dirty="0">
                <a:solidFill>
                  <a:srgbClr val="FFFFFF"/>
                </a:solidFill>
                <a:latin typeface="Courier New" pitchFamily="34" charset="0"/>
                <a:ea typeface="Courier New" pitchFamily="34" charset="-122"/>
                <a:cs typeface="Courier New" pitchFamily="34" charset="-120"/>
              </a:rPr>
              <a:t>    type: io.kestra.plugin.scripts.shell.Commands</a:t>
            </a:r>
            <a:endParaRPr lang="en-US" sz="1220" dirty="0"/>
          </a:p>
          <a:p>
            <a:pPr algn="l" indent="0" marL="0">
              <a:buNone/>
            </a:pPr>
            <a:r>
              <a:rPr lang="en-US" sz="1220" dirty="0">
                <a:solidFill>
                  <a:srgbClr val="FFFFFF"/>
                </a:solidFill>
                <a:latin typeface="Courier New" pitchFamily="34" charset="0"/>
                <a:ea typeface="Courier New" pitchFamily="34" charset="-122"/>
                <a:cs typeface="Courier New" pitchFamily="34" charset="-120"/>
              </a:rPr>
              <a:t>    containerImage: nusacodes/p6-elt-runner:local</a:t>
            </a:r>
            <a:endParaRPr lang="en-US" sz="1220" dirty="0"/>
          </a:p>
          <a:p>
            <a:pPr algn="l" indent="0" marL="0">
              <a:buNone/>
            </a:pPr>
            <a:r>
              <a:rPr lang="en-US" sz="1220" dirty="0">
                <a:solidFill>
                  <a:srgbClr val="FFFFFF"/>
                </a:solidFill>
                <a:latin typeface="Courier New" pitchFamily="34" charset="0"/>
                <a:ea typeface="Courier New" pitchFamily="34" charset="-122"/>
                <a:cs typeface="Courier New" pitchFamily="34" charset="-120"/>
              </a:rPr>
              <a:t>    taskRunner:</a:t>
            </a:r>
            <a:endParaRPr lang="en-US" sz="1220" dirty="0"/>
          </a:p>
          <a:p>
            <a:pPr algn="l" indent="0" marL="0">
              <a:buNone/>
            </a:pPr>
            <a:r>
              <a:rPr lang="en-US" sz="1220" dirty="0">
                <a:solidFill>
                  <a:srgbClr val="FFFFFF"/>
                </a:solidFill>
                <a:latin typeface="Courier New" pitchFamily="34" charset="0"/>
                <a:ea typeface="Courier New" pitchFamily="34" charset="-122"/>
                <a:cs typeface="Courier New" pitchFamily="34" charset="-120"/>
              </a:rPr>
              <a:t>      type: io.kestra.plugin.scripts.runner.docker.Docker</a:t>
            </a:r>
            <a:endParaRPr lang="en-US" sz="1220" dirty="0"/>
          </a:p>
          <a:p>
            <a:pPr algn="l" indent="0" marL="0">
              <a:buNone/>
            </a:pPr>
            <a:r>
              <a:rPr lang="en-US" sz="1220" dirty="0">
                <a:solidFill>
                  <a:srgbClr val="FFFFFF"/>
                </a:solidFill>
                <a:latin typeface="Courier New" pitchFamily="34" charset="0"/>
                <a:ea typeface="Courier New" pitchFamily="34" charset="-122"/>
                <a:cs typeface="Courier New" pitchFamily="34" charset="-120"/>
              </a:rPr>
              <a:t>    commands:</a:t>
            </a:r>
            <a:endParaRPr lang="en-US" sz="1220" dirty="0"/>
          </a:p>
          <a:p>
            <a:pPr algn="l" indent="0" marL="0">
              <a:buNone/>
            </a:pPr>
            <a:r>
              <a:rPr lang="en-US" sz="1220" dirty="0">
                <a:solidFill>
                  <a:srgbClr val="FFFFFF"/>
                </a:solidFill>
                <a:latin typeface="Courier New" pitchFamily="34" charset="0"/>
                <a:ea typeface="Courier New" pitchFamily="34" charset="-122"/>
                <a:cs typeface="Courier New" pitchFamily="34" charset="-120"/>
              </a:rPr>
              <a:t>      - cd /workspace &amp;&amp; bash pertemuan-5/run_pipeline.sh</a:t>
            </a:r>
            <a:endParaRPr lang="en-US" sz="1220" dirty="0"/>
          </a:p>
          <a:p>
            <a:pPr algn="l" indent="0" marL="0">
              <a:buNone/>
            </a:pPr>
            <a:endParaRPr lang="en-US" sz="1220" dirty="0"/>
          </a:p>
          <a:p>
            <a:pPr algn="l" indent="0" marL="0">
              <a:buNone/>
            </a:pPr>
            <a:r>
              <a:rPr lang="en-US" sz="1220" dirty="0">
                <a:solidFill>
                  <a:srgbClr val="FFFFFF"/>
                </a:solidFill>
                <a:latin typeface="Courier New" pitchFamily="34" charset="0"/>
                <a:ea typeface="Courier New" pitchFamily="34" charset="-122"/>
                <a:cs typeface="Courier New" pitchFamily="34" charset="-120"/>
              </a:rPr>
              <a:t>triggers:</a:t>
            </a:r>
            <a:endParaRPr lang="en-US" sz="1220" dirty="0"/>
          </a:p>
          <a:p>
            <a:pPr algn="l" indent="0" marL="0">
              <a:buNone/>
            </a:pPr>
            <a:r>
              <a:rPr lang="en-US" sz="1220" dirty="0">
                <a:solidFill>
                  <a:srgbClr val="FFFFFF"/>
                </a:solidFill>
                <a:latin typeface="Courier New" pitchFamily="34" charset="0"/>
                <a:ea typeface="Courier New" pitchFamily="34" charset="-122"/>
                <a:cs typeface="Courier New" pitchFamily="34" charset="-120"/>
              </a:rPr>
              <a:t>  - id: every_5_minutes</a:t>
            </a:r>
            <a:endParaRPr lang="en-US" sz="1220" dirty="0"/>
          </a:p>
          <a:p>
            <a:pPr algn="l" indent="0" marL="0">
              <a:buNone/>
            </a:pPr>
            <a:r>
              <a:rPr lang="en-US" sz="1220" dirty="0">
                <a:solidFill>
                  <a:srgbClr val="FFFFFF"/>
                </a:solidFill>
                <a:latin typeface="Courier New" pitchFamily="34" charset="0"/>
                <a:ea typeface="Courier New" pitchFamily="34" charset="-122"/>
                <a:cs typeface="Courier New" pitchFamily="34" charset="-120"/>
              </a:rPr>
              <a:t>    type: io.kestra.plugin.core.trigger.Schedule</a:t>
            </a:r>
            <a:endParaRPr lang="en-US" sz="1220" dirty="0"/>
          </a:p>
          <a:p>
            <a:pPr algn="l" indent="0" marL="0">
              <a:buNone/>
            </a:pPr>
            <a:r>
              <a:rPr lang="en-US" sz="1220" dirty="0">
                <a:solidFill>
                  <a:srgbClr val="FFFFFF"/>
                </a:solidFill>
                <a:latin typeface="Courier New" pitchFamily="34" charset="0"/>
                <a:ea typeface="Courier New" pitchFamily="34" charset="-122"/>
                <a:cs typeface="Courier New" pitchFamily="34" charset="-120"/>
              </a:rPr>
              <a:t>    cron: "*/5 * * * *"</a:t>
            </a:r>
            <a:endParaRPr lang="en-US" sz="1220" dirty="0"/>
          </a:p>
          <a:p>
            <a:pPr algn="l" indent="0" marL="0">
              <a:buNone/>
            </a:pPr>
            <a:r>
              <a:rPr lang="en-US" sz="1220" dirty="0">
                <a:solidFill>
                  <a:srgbClr val="FFFFFF"/>
                </a:solidFill>
                <a:latin typeface="Courier New" pitchFamily="34" charset="0"/>
                <a:ea typeface="Courier New" pitchFamily="34" charset="-122"/>
                <a:cs typeface="Courier New" pitchFamily="34" charset="-120"/>
              </a:rPr>
              <a:t>    timezone: Asia/Jakarta</a:t>
            </a:r>
            <a:endParaRPr lang="en-US" sz="1220" dirty="0"/>
          </a:p>
        </p:txBody>
      </p:sp>
      <p:sp>
        <p:nvSpPr>
          <p:cNvPr id="8" name="Shape 6"/>
          <p:cNvSpPr/>
          <p:nvPr/>
        </p:nvSpPr>
        <p:spPr>
          <a:xfrm>
            <a:off x="7589520" y="1719072"/>
            <a:ext cx="3867912" cy="1627632"/>
          </a:xfrm>
          <a:prstGeom prst="roundRect">
            <a:avLst>
              <a:gd name="adj" fmla="val 5618"/>
            </a:avLst>
          </a:prstGeom>
          <a:solidFill>
            <a:srgbClr val="FEE8E5"/>
          </a:solidFill>
          <a:ln w="12700">
            <a:solidFill>
              <a:srgbClr val="FEE8E5"/>
            </a:solidFill>
            <a:prstDash val="solid"/>
          </a:ln>
        </p:spPr>
      </p:sp>
      <p:sp>
        <p:nvSpPr>
          <p:cNvPr id="9" name="Shape 7"/>
          <p:cNvSpPr/>
          <p:nvPr/>
        </p:nvSpPr>
        <p:spPr>
          <a:xfrm>
            <a:off x="7808976" y="1938528"/>
            <a:ext cx="347472" cy="347472"/>
          </a:xfrm>
          <a:prstGeom prst="ellipse">
            <a:avLst/>
          </a:prstGeom>
          <a:solidFill>
            <a:srgbClr val="FA6A60"/>
          </a:solidFill>
          <a:ln w="12700">
            <a:solidFill>
              <a:srgbClr val="FA6A60"/>
            </a:solidFill>
            <a:prstDash val="solid"/>
          </a:ln>
        </p:spPr>
      </p:sp>
      <p:sp>
        <p:nvSpPr>
          <p:cNvPr id="10" name="Text 8"/>
          <p:cNvSpPr txBox="1"/>
          <p:nvPr/>
        </p:nvSpPr>
        <p:spPr>
          <a:xfrm>
            <a:off x="8284464" y="1929384"/>
            <a:ext cx="2935224" cy="347472"/>
          </a:xfrm>
          <a:prstGeom prst="rect">
            <a:avLst/>
          </a:prstGeom>
          <a:noFill/>
          <a:ln/>
        </p:spPr>
        <p:txBody>
          <a:bodyPr wrap="square" lIns="0" tIns="0" rIns="0" bIns="0" rtlCol="0" anchor="ctr"/>
          <a:lstStyle/>
          <a:p>
            <a:pPr algn="l" indent="0" marL="0">
              <a:buNone/>
            </a:pPr>
            <a:r>
              <a:rPr lang="en-US" sz="1900" b="1" dirty="0">
                <a:solidFill>
                  <a:srgbClr val="102333"/>
                </a:solidFill>
                <a:latin typeface="Arial" pitchFamily="34" charset="0"/>
                <a:ea typeface="Arial" pitchFamily="34" charset="-122"/>
                <a:cs typeface="Arial" pitchFamily="34" charset="-120"/>
              </a:rPr>
              <a:t>Flow + task</a:t>
            </a:r>
            <a:endParaRPr lang="en-US" sz="1900" dirty="0"/>
          </a:p>
        </p:txBody>
      </p:sp>
      <p:sp>
        <p:nvSpPr>
          <p:cNvPr id="11" name="Text 9"/>
          <p:cNvSpPr txBox="1"/>
          <p:nvPr/>
        </p:nvSpPr>
        <p:spPr>
          <a:xfrm>
            <a:off x="7845552" y="2487168"/>
            <a:ext cx="3355848" cy="694944"/>
          </a:xfrm>
          <a:prstGeom prst="rect">
            <a:avLst/>
          </a:prstGeom>
          <a:noFill/>
          <a:ln/>
        </p:spPr>
        <p:txBody>
          <a:bodyPr wrap="square" lIns="0" tIns="0" rIns="0" bIns="0" rtlCol="0" anchor="t"/>
          <a:lstStyle/>
          <a:p>
            <a:pPr algn="l" indent="0" marL="0">
              <a:buNone/>
            </a:pPr>
            <a:r>
              <a:rPr lang="en-US" sz="1500" dirty="0">
                <a:solidFill>
                  <a:srgbClr val="526B79"/>
                </a:solidFill>
                <a:latin typeface="Arial" pitchFamily="34" charset="0"/>
                <a:ea typeface="Arial" pitchFamily="34" charset="-122"/>
                <a:cs typeface="Arial" pitchFamily="34" charset="-120"/>
              </a:rPr>
              <a:t>Langkah kerja dijelaskan secara deklaratif.</a:t>
            </a:r>
            <a:endParaRPr lang="en-US" sz="1500" dirty="0"/>
          </a:p>
        </p:txBody>
      </p:sp>
      <p:sp>
        <p:nvSpPr>
          <p:cNvPr id="12" name="Shape 10"/>
          <p:cNvSpPr/>
          <p:nvPr/>
        </p:nvSpPr>
        <p:spPr>
          <a:xfrm>
            <a:off x="7589520" y="3557016"/>
            <a:ext cx="3867912" cy="1627632"/>
          </a:xfrm>
          <a:prstGeom prst="roundRect">
            <a:avLst>
              <a:gd name="adj" fmla="val 5618"/>
            </a:avLst>
          </a:prstGeom>
          <a:solidFill>
            <a:srgbClr val="DDF5F3"/>
          </a:solidFill>
          <a:ln w="12700">
            <a:solidFill>
              <a:srgbClr val="DDF5F3"/>
            </a:solidFill>
            <a:prstDash val="solid"/>
          </a:ln>
        </p:spPr>
      </p:sp>
      <p:sp>
        <p:nvSpPr>
          <p:cNvPr id="13" name="Shape 11"/>
          <p:cNvSpPr/>
          <p:nvPr/>
        </p:nvSpPr>
        <p:spPr>
          <a:xfrm>
            <a:off x="7808976" y="3776472"/>
            <a:ext cx="347472" cy="347472"/>
          </a:xfrm>
          <a:prstGeom prst="ellipse">
            <a:avLst/>
          </a:prstGeom>
          <a:solidFill>
            <a:srgbClr val="00A7A4"/>
          </a:solidFill>
          <a:ln w="12700">
            <a:solidFill>
              <a:srgbClr val="00A7A4"/>
            </a:solidFill>
            <a:prstDash val="solid"/>
          </a:ln>
        </p:spPr>
      </p:sp>
      <p:sp>
        <p:nvSpPr>
          <p:cNvPr id="14" name="Text 12"/>
          <p:cNvSpPr txBox="1"/>
          <p:nvPr/>
        </p:nvSpPr>
        <p:spPr>
          <a:xfrm>
            <a:off x="8284464" y="3767328"/>
            <a:ext cx="2935224" cy="347472"/>
          </a:xfrm>
          <a:prstGeom prst="rect">
            <a:avLst/>
          </a:prstGeom>
          <a:noFill/>
          <a:ln/>
        </p:spPr>
        <p:txBody>
          <a:bodyPr wrap="square" lIns="0" tIns="0" rIns="0" bIns="0" rtlCol="0" anchor="ctr"/>
          <a:lstStyle/>
          <a:p>
            <a:pPr algn="l" indent="0" marL="0">
              <a:buNone/>
            </a:pPr>
            <a:r>
              <a:rPr lang="en-US" sz="1900" b="1" dirty="0">
                <a:solidFill>
                  <a:srgbClr val="102333"/>
                </a:solidFill>
                <a:latin typeface="Arial" pitchFamily="34" charset="0"/>
                <a:ea typeface="Arial" pitchFamily="34" charset="-122"/>
                <a:cs typeface="Arial" pitchFamily="34" charset="-120"/>
              </a:rPr>
              <a:t>Schedule trigger</a:t>
            </a:r>
            <a:endParaRPr lang="en-US" sz="1900" dirty="0"/>
          </a:p>
        </p:txBody>
      </p:sp>
      <p:sp>
        <p:nvSpPr>
          <p:cNvPr id="15" name="Text 13"/>
          <p:cNvSpPr txBox="1"/>
          <p:nvPr/>
        </p:nvSpPr>
        <p:spPr>
          <a:xfrm>
            <a:off x="7845552" y="4325112"/>
            <a:ext cx="3355848" cy="694944"/>
          </a:xfrm>
          <a:prstGeom prst="rect">
            <a:avLst/>
          </a:prstGeom>
          <a:noFill/>
          <a:ln/>
        </p:spPr>
        <p:txBody>
          <a:bodyPr wrap="square" lIns="0" tIns="0" rIns="0" bIns="0" rtlCol="0" anchor="t"/>
          <a:lstStyle/>
          <a:p>
            <a:pPr algn="l" indent="0" marL="0">
              <a:buNone/>
            </a:pPr>
            <a:r>
              <a:rPr lang="en-US" sz="1500" dirty="0">
                <a:solidFill>
                  <a:srgbClr val="526B79"/>
                </a:solidFill>
                <a:latin typeface="Arial" pitchFamily="34" charset="0"/>
                <a:ea typeface="Arial" pitchFamily="34" charset="-122"/>
                <a:cs typeface="Arial" pitchFamily="34" charset="-120"/>
              </a:rPr>
              <a:t>Menjalankan flow tiap 5 menit WIB.</a:t>
            </a:r>
            <a:endParaRPr lang="en-US" sz="1500" dirty="0"/>
          </a:p>
        </p:txBody>
      </p:sp>
      <p:sp>
        <p:nvSpPr>
          <p:cNvPr id="16" name="Text 14"/>
          <p:cNvSpPr txBox="1"/>
          <p:nvPr/>
        </p:nvSpPr>
        <p:spPr>
          <a:xfrm>
            <a:off x="7836408" y="5440680"/>
            <a:ext cx="3374136" cy="237744"/>
          </a:xfrm>
          <a:prstGeom prst="rect">
            <a:avLst/>
          </a:prstGeom>
          <a:noFill/>
          <a:ln/>
        </p:spPr>
        <p:txBody>
          <a:bodyPr wrap="square" lIns="0" tIns="0" rIns="0" bIns="0" rtlCol="0" anchor="ctr"/>
          <a:lstStyle/>
          <a:p>
            <a:pPr algn="l" indent="0" marL="0">
              <a:buNone/>
            </a:pPr>
            <a:r>
              <a:rPr lang="en-US" sz="1600" b="1" dirty="0">
                <a:solidFill>
                  <a:srgbClr val="0C1E2C"/>
                </a:solidFill>
                <a:latin typeface="Arial" pitchFamily="34" charset="0"/>
                <a:ea typeface="Arial" pitchFamily="34" charset="-122"/>
                <a:cs typeface="Arial" pitchFamily="34" charset="-120"/>
              </a:rPr>
              <a:t>UI: localhost:8080</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365760"/>
            <a:ext cx="10972800" cy="502920"/>
          </a:xfrm>
          <a:prstGeom prst="rect">
            <a:avLst/>
          </a:prstGeom>
          <a:noFill/>
          <a:ln/>
        </p:spPr>
        <p:txBody>
          <a:bodyPr wrap="square" lIns="0" tIns="0" rIns="0" bIns="0" rtlCol="0" anchor="ctr"/>
          <a:lstStyle/>
          <a:p>
            <a:pPr algn="l" indent="0" marL="0">
              <a:buNone/>
            </a:pPr>
            <a:r>
              <a:rPr lang="en-US" sz="3000" b="1" dirty="0">
                <a:solidFill>
                  <a:srgbClr val="0C1E2C"/>
                </a:solidFill>
                <a:latin typeface="Arial" pitchFamily="34" charset="0"/>
                <a:ea typeface="Arial" pitchFamily="34" charset="-122"/>
                <a:cs typeface="Arial" pitchFamily="34" charset="-120"/>
              </a:rPr>
              <a:t>Tiga tool, satu target hasil</a:t>
            </a:r>
            <a:endParaRPr lang="en-US" sz="3000" dirty="0"/>
          </a:p>
        </p:txBody>
      </p:sp>
      <p:sp>
        <p:nvSpPr>
          <p:cNvPr id="3" name="Text 1"/>
          <p:cNvSpPr txBox="1"/>
          <p:nvPr/>
        </p:nvSpPr>
        <p:spPr>
          <a:xfrm>
            <a:off x="640080" y="941832"/>
            <a:ext cx="10881360" cy="320040"/>
          </a:xfrm>
          <a:prstGeom prst="rect">
            <a:avLst/>
          </a:prstGeom>
          <a:noFill/>
          <a:ln/>
        </p:spPr>
        <p:txBody>
          <a:bodyPr wrap="square" lIns="0" tIns="0" rIns="0" bIns="0" rtlCol="0" anchor="ctr"/>
          <a:lstStyle/>
          <a:p>
            <a:pPr algn="l" indent="0" marL="0">
              <a:buNone/>
            </a:pPr>
            <a:r>
              <a:rPr lang="en-US" sz="1500" dirty="0">
                <a:solidFill>
                  <a:srgbClr val="526B79"/>
                </a:solidFill>
                <a:latin typeface="Arial" pitchFamily="34" charset="0"/>
                <a:ea typeface="Arial" pitchFamily="34" charset="-122"/>
                <a:cs typeface="Arial" pitchFamily="34" charset="-120"/>
              </a:rPr>
              <a:t>Perbedaannya terutama ada pada cara menulis workflow dan cara menjalankannya.</a:t>
            </a:r>
            <a:endParaRPr lang="en-US" sz="1500" dirty="0"/>
          </a:p>
        </p:txBody>
      </p:sp>
      <p:sp>
        <p:nvSpPr>
          <p:cNvPr id="4" name="Text 2"/>
          <p:cNvSpPr txBox="1"/>
          <p:nvPr/>
        </p:nvSpPr>
        <p:spPr>
          <a:xfrm>
            <a:off x="640080" y="6565392"/>
            <a:ext cx="5486400" cy="146304"/>
          </a:xfrm>
          <a:prstGeom prst="rect">
            <a:avLst/>
          </a:prstGeom>
          <a:noFill/>
          <a:ln/>
        </p:spPr>
        <p:txBody>
          <a:bodyPr wrap="square" lIns="0" tIns="0" rIns="0" bIns="0" rtlCol="0" anchor="ctr"/>
          <a:lstStyle/>
          <a:p>
            <a:pPr algn="l" indent="0" marL="0">
              <a:buNone/>
            </a:pPr>
            <a:r>
              <a:rPr lang="en-US" sz="900" b="1" dirty="0">
                <a:solidFill>
                  <a:srgbClr val="526B79"/>
                </a:solidFill>
                <a:latin typeface="Arial" pitchFamily="34" charset="0"/>
                <a:ea typeface="Arial" pitchFamily="34" charset="-122"/>
                <a:cs typeface="Arial" pitchFamily="34" charset="-120"/>
              </a:rPr>
              <a:t>PERTEMUAN 6  /  DATA ENGINEERING</a:t>
            </a:r>
            <a:endParaRPr lang="en-US" sz="900" dirty="0"/>
          </a:p>
        </p:txBody>
      </p:sp>
      <p:sp>
        <p:nvSpPr>
          <p:cNvPr id="5" name="Text 3"/>
          <p:cNvSpPr txBox="1"/>
          <p:nvPr/>
        </p:nvSpPr>
        <p:spPr>
          <a:xfrm>
            <a:off x="11155680" y="6519672"/>
            <a:ext cx="438912" cy="182880"/>
          </a:xfrm>
          <a:prstGeom prst="rect">
            <a:avLst/>
          </a:prstGeom>
          <a:noFill/>
          <a:ln/>
        </p:spPr>
        <p:txBody>
          <a:bodyPr wrap="square" lIns="0" tIns="0" rIns="0" bIns="0" rtlCol="0" anchor="ctr"/>
          <a:lstStyle/>
          <a:p>
            <a:pPr algn="r" indent="0" marL="0">
              <a:buNone/>
            </a:pPr>
            <a:r>
              <a:rPr lang="en-US" sz="1000" dirty="0">
                <a:solidFill>
                  <a:srgbClr val="526B79"/>
                </a:solidFill>
                <a:latin typeface="Arial" pitchFamily="34" charset="0"/>
                <a:ea typeface="Arial" pitchFamily="34" charset="-122"/>
                <a:cs typeface="Arial" pitchFamily="34" charset="-120"/>
              </a:rPr>
              <a:t>13</a:t>
            </a:r>
            <a:endParaRPr lang="en-US" sz="1000" dirty="0"/>
          </a:p>
        </p:txBody>
      </p:sp>
      <p:sp>
        <p:nvSpPr>
          <p:cNvPr id="6" name="Shape 4"/>
          <p:cNvSpPr/>
          <p:nvPr/>
        </p:nvSpPr>
        <p:spPr>
          <a:xfrm>
            <a:off x="658368" y="1554480"/>
            <a:ext cx="2075688" cy="621792"/>
          </a:xfrm>
          <a:prstGeom prst="rect">
            <a:avLst/>
          </a:prstGeom>
          <a:solidFill>
            <a:srgbClr val="0C1E2C"/>
          </a:solidFill>
          <a:ln w="12700">
            <a:solidFill>
              <a:srgbClr val="0C1E2C"/>
            </a:solidFill>
            <a:prstDash val="solid"/>
          </a:ln>
        </p:spPr>
      </p:sp>
      <p:sp>
        <p:nvSpPr>
          <p:cNvPr id="7" name="Text 5"/>
          <p:cNvSpPr txBox="1"/>
          <p:nvPr/>
        </p:nvSpPr>
        <p:spPr>
          <a:xfrm>
            <a:off x="813816" y="1691640"/>
            <a:ext cx="1764792" cy="338328"/>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Aspek</a:t>
            </a:r>
            <a:endParaRPr lang="en-US" sz="1500" dirty="0"/>
          </a:p>
        </p:txBody>
      </p:sp>
      <p:sp>
        <p:nvSpPr>
          <p:cNvPr id="8" name="Shape 6"/>
          <p:cNvSpPr/>
          <p:nvPr/>
        </p:nvSpPr>
        <p:spPr>
          <a:xfrm>
            <a:off x="2788920" y="1554480"/>
            <a:ext cx="2816352" cy="621792"/>
          </a:xfrm>
          <a:prstGeom prst="rect">
            <a:avLst/>
          </a:prstGeom>
          <a:solidFill>
            <a:srgbClr val="0C1E2C"/>
          </a:solidFill>
          <a:ln w="12700">
            <a:solidFill>
              <a:srgbClr val="0C1E2C"/>
            </a:solidFill>
            <a:prstDash val="solid"/>
          </a:ln>
        </p:spPr>
      </p:sp>
      <p:sp>
        <p:nvSpPr>
          <p:cNvPr id="9" name="Text 7"/>
          <p:cNvSpPr txBox="1"/>
          <p:nvPr/>
        </p:nvSpPr>
        <p:spPr>
          <a:xfrm>
            <a:off x="2944368" y="1691640"/>
            <a:ext cx="2505456" cy="338328"/>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Dagster</a:t>
            </a:r>
            <a:endParaRPr lang="en-US" sz="1500" dirty="0"/>
          </a:p>
        </p:txBody>
      </p:sp>
      <p:sp>
        <p:nvSpPr>
          <p:cNvPr id="10" name="Shape 8"/>
          <p:cNvSpPr/>
          <p:nvPr/>
        </p:nvSpPr>
        <p:spPr>
          <a:xfrm>
            <a:off x="5669280" y="1554480"/>
            <a:ext cx="2816352" cy="621792"/>
          </a:xfrm>
          <a:prstGeom prst="rect">
            <a:avLst/>
          </a:prstGeom>
          <a:solidFill>
            <a:srgbClr val="0C1E2C"/>
          </a:solidFill>
          <a:ln w="12700">
            <a:solidFill>
              <a:srgbClr val="0C1E2C"/>
            </a:solidFill>
            <a:prstDash val="solid"/>
          </a:ln>
        </p:spPr>
      </p:sp>
      <p:sp>
        <p:nvSpPr>
          <p:cNvPr id="11" name="Text 9"/>
          <p:cNvSpPr txBox="1"/>
          <p:nvPr/>
        </p:nvSpPr>
        <p:spPr>
          <a:xfrm>
            <a:off x="5824728" y="1691640"/>
            <a:ext cx="2505456" cy="338328"/>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Prefect</a:t>
            </a:r>
            <a:endParaRPr lang="en-US" sz="1500" dirty="0"/>
          </a:p>
        </p:txBody>
      </p:sp>
      <p:sp>
        <p:nvSpPr>
          <p:cNvPr id="12" name="Shape 10"/>
          <p:cNvSpPr/>
          <p:nvPr/>
        </p:nvSpPr>
        <p:spPr>
          <a:xfrm>
            <a:off x="8549640" y="1554480"/>
            <a:ext cx="2935224" cy="621792"/>
          </a:xfrm>
          <a:prstGeom prst="rect">
            <a:avLst/>
          </a:prstGeom>
          <a:solidFill>
            <a:srgbClr val="0C1E2C"/>
          </a:solidFill>
          <a:ln w="12700">
            <a:solidFill>
              <a:srgbClr val="0C1E2C"/>
            </a:solidFill>
            <a:prstDash val="solid"/>
          </a:ln>
        </p:spPr>
      </p:sp>
      <p:sp>
        <p:nvSpPr>
          <p:cNvPr id="13" name="Text 11"/>
          <p:cNvSpPr txBox="1"/>
          <p:nvPr/>
        </p:nvSpPr>
        <p:spPr>
          <a:xfrm>
            <a:off x="8705088" y="1691640"/>
            <a:ext cx="2624328" cy="338328"/>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Kestra</a:t>
            </a:r>
            <a:endParaRPr lang="en-US" sz="1500" dirty="0"/>
          </a:p>
        </p:txBody>
      </p:sp>
      <p:sp>
        <p:nvSpPr>
          <p:cNvPr id="14" name="Shape 12"/>
          <p:cNvSpPr/>
          <p:nvPr/>
        </p:nvSpPr>
        <p:spPr>
          <a:xfrm>
            <a:off x="658368" y="2203704"/>
            <a:ext cx="2075688" cy="621792"/>
          </a:xfrm>
          <a:prstGeom prst="rect">
            <a:avLst/>
          </a:prstGeom>
          <a:solidFill>
            <a:srgbClr val="F4F8FA"/>
          </a:solidFill>
          <a:ln w="12700">
            <a:solidFill>
              <a:srgbClr val="F4F8FA"/>
            </a:solidFill>
            <a:prstDash val="solid"/>
          </a:ln>
        </p:spPr>
      </p:sp>
      <p:sp>
        <p:nvSpPr>
          <p:cNvPr id="15" name="Text 13"/>
          <p:cNvSpPr txBox="1"/>
          <p:nvPr/>
        </p:nvSpPr>
        <p:spPr>
          <a:xfrm>
            <a:off x="813816" y="2340864"/>
            <a:ext cx="1764792" cy="338328"/>
          </a:xfrm>
          <a:prstGeom prst="rect">
            <a:avLst/>
          </a:prstGeom>
          <a:noFill/>
          <a:ln/>
        </p:spPr>
        <p:txBody>
          <a:bodyPr wrap="square" lIns="0" tIns="0" rIns="0" bIns="0" rtlCol="0" anchor="ctr"/>
          <a:lstStyle/>
          <a:p>
            <a:pPr algn="l" indent="0" marL="0">
              <a:buNone/>
            </a:pPr>
            <a:r>
              <a:rPr lang="en-US" sz="1420" b="1" dirty="0">
                <a:solidFill>
                  <a:srgbClr val="0C1E2C"/>
                </a:solidFill>
                <a:latin typeface="Arial" pitchFamily="34" charset="0"/>
                <a:ea typeface="Arial" pitchFamily="34" charset="-122"/>
                <a:cs typeface="Arial" pitchFamily="34" charset="-120"/>
              </a:rPr>
              <a:t>Definisi</a:t>
            </a:r>
            <a:endParaRPr lang="en-US" sz="1420" dirty="0"/>
          </a:p>
        </p:txBody>
      </p:sp>
      <p:sp>
        <p:nvSpPr>
          <p:cNvPr id="16" name="Shape 14"/>
          <p:cNvSpPr/>
          <p:nvPr/>
        </p:nvSpPr>
        <p:spPr>
          <a:xfrm>
            <a:off x="2788920" y="2203704"/>
            <a:ext cx="2816352" cy="621792"/>
          </a:xfrm>
          <a:prstGeom prst="rect">
            <a:avLst/>
          </a:prstGeom>
          <a:solidFill>
            <a:srgbClr val="F4F8FA"/>
          </a:solidFill>
          <a:ln w="12700">
            <a:solidFill>
              <a:srgbClr val="F4F8FA"/>
            </a:solidFill>
            <a:prstDash val="solid"/>
          </a:ln>
        </p:spPr>
      </p:sp>
      <p:sp>
        <p:nvSpPr>
          <p:cNvPr id="17" name="Text 15"/>
          <p:cNvSpPr txBox="1"/>
          <p:nvPr/>
        </p:nvSpPr>
        <p:spPr>
          <a:xfrm>
            <a:off x="2944368" y="2340864"/>
            <a:ext cx="2505456" cy="338328"/>
          </a:xfrm>
          <a:prstGeom prst="rect">
            <a:avLst/>
          </a:prstGeom>
          <a:noFill/>
          <a:ln/>
        </p:spPr>
        <p:txBody>
          <a:bodyPr wrap="square" lIns="0" tIns="0" rIns="0" bIns="0" rtlCol="0" anchor="ctr"/>
          <a:lstStyle/>
          <a:p>
            <a:pPr algn="l" indent="0" marL="0">
              <a:buNone/>
            </a:pPr>
            <a:r>
              <a:rPr lang="en-US" sz="1420" dirty="0">
                <a:solidFill>
                  <a:srgbClr val="102333"/>
                </a:solidFill>
                <a:latin typeface="Arial" pitchFamily="34" charset="0"/>
                <a:ea typeface="Arial" pitchFamily="34" charset="-122"/>
                <a:cs typeface="Arial" pitchFamily="34" charset="-120"/>
              </a:rPr>
              <a:t>Python asset + job</a:t>
            </a:r>
            <a:endParaRPr lang="en-US" sz="1420" dirty="0"/>
          </a:p>
        </p:txBody>
      </p:sp>
      <p:sp>
        <p:nvSpPr>
          <p:cNvPr id="18" name="Shape 16"/>
          <p:cNvSpPr/>
          <p:nvPr/>
        </p:nvSpPr>
        <p:spPr>
          <a:xfrm>
            <a:off x="5669280" y="2203704"/>
            <a:ext cx="2816352" cy="621792"/>
          </a:xfrm>
          <a:prstGeom prst="rect">
            <a:avLst/>
          </a:prstGeom>
          <a:solidFill>
            <a:srgbClr val="F4F8FA"/>
          </a:solidFill>
          <a:ln w="12700">
            <a:solidFill>
              <a:srgbClr val="F4F8FA"/>
            </a:solidFill>
            <a:prstDash val="solid"/>
          </a:ln>
        </p:spPr>
      </p:sp>
      <p:sp>
        <p:nvSpPr>
          <p:cNvPr id="19" name="Text 17"/>
          <p:cNvSpPr txBox="1"/>
          <p:nvPr/>
        </p:nvSpPr>
        <p:spPr>
          <a:xfrm>
            <a:off x="5824728" y="2340864"/>
            <a:ext cx="2505456" cy="338328"/>
          </a:xfrm>
          <a:prstGeom prst="rect">
            <a:avLst/>
          </a:prstGeom>
          <a:noFill/>
          <a:ln/>
        </p:spPr>
        <p:txBody>
          <a:bodyPr wrap="square" lIns="0" tIns="0" rIns="0" bIns="0" rtlCol="0" anchor="ctr"/>
          <a:lstStyle/>
          <a:p>
            <a:pPr algn="l" indent="0" marL="0">
              <a:buNone/>
            </a:pPr>
            <a:r>
              <a:rPr lang="en-US" sz="1420" dirty="0">
                <a:solidFill>
                  <a:srgbClr val="102333"/>
                </a:solidFill>
                <a:latin typeface="Arial" pitchFamily="34" charset="0"/>
                <a:ea typeface="Arial" pitchFamily="34" charset="-122"/>
                <a:cs typeface="Arial" pitchFamily="34" charset="-120"/>
              </a:rPr>
              <a:t>Python @flow + @task</a:t>
            </a:r>
            <a:endParaRPr lang="en-US" sz="1420" dirty="0"/>
          </a:p>
        </p:txBody>
      </p:sp>
      <p:sp>
        <p:nvSpPr>
          <p:cNvPr id="20" name="Shape 18"/>
          <p:cNvSpPr/>
          <p:nvPr/>
        </p:nvSpPr>
        <p:spPr>
          <a:xfrm>
            <a:off x="8549640" y="2203704"/>
            <a:ext cx="2935224" cy="621792"/>
          </a:xfrm>
          <a:prstGeom prst="rect">
            <a:avLst/>
          </a:prstGeom>
          <a:solidFill>
            <a:srgbClr val="F4F8FA"/>
          </a:solidFill>
          <a:ln w="12700">
            <a:solidFill>
              <a:srgbClr val="F4F8FA"/>
            </a:solidFill>
            <a:prstDash val="solid"/>
          </a:ln>
        </p:spPr>
      </p:sp>
      <p:sp>
        <p:nvSpPr>
          <p:cNvPr id="21" name="Text 19"/>
          <p:cNvSpPr txBox="1"/>
          <p:nvPr/>
        </p:nvSpPr>
        <p:spPr>
          <a:xfrm>
            <a:off x="8705088" y="2340864"/>
            <a:ext cx="2624328" cy="338328"/>
          </a:xfrm>
          <a:prstGeom prst="rect">
            <a:avLst/>
          </a:prstGeom>
          <a:noFill/>
          <a:ln/>
        </p:spPr>
        <p:txBody>
          <a:bodyPr wrap="square" lIns="0" tIns="0" rIns="0" bIns="0" rtlCol="0" anchor="ctr"/>
          <a:lstStyle/>
          <a:p>
            <a:pPr algn="l" indent="0" marL="0">
              <a:buNone/>
            </a:pPr>
            <a:r>
              <a:rPr lang="en-US" sz="1420" dirty="0">
                <a:solidFill>
                  <a:srgbClr val="102333"/>
                </a:solidFill>
                <a:latin typeface="Arial" pitchFamily="34" charset="0"/>
                <a:ea typeface="Arial" pitchFamily="34" charset="-122"/>
                <a:cs typeface="Arial" pitchFamily="34" charset="-120"/>
              </a:rPr>
              <a:t>YAML flow + task</a:t>
            </a:r>
            <a:endParaRPr lang="en-US" sz="1420" dirty="0"/>
          </a:p>
        </p:txBody>
      </p:sp>
      <p:sp>
        <p:nvSpPr>
          <p:cNvPr id="22" name="Shape 20"/>
          <p:cNvSpPr/>
          <p:nvPr/>
        </p:nvSpPr>
        <p:spPr>
          <a:xfrm>
            <a:off x="658368" y="2852928"/>
            <a:ext cx="2075688" cy="621792"/>
          </a:xfrm>
          <a:prstGeom prst="rect">
            <a:avLst/>
          </a:prstGeom>
          <a:solidFill>
            <a:srgbClr val="FFFFFF"/>
          </a:solidFill>
          <a:ln w="12700">
            <a:solidFill>
              <a:srgbClr val="FFFFFF"/>
            </a:solidFill>
            <a:prstDash val="solid"/>
          </a:ln>
        </p:spPr>
      </p:sp>
      <p:sp>
        <p:nvSpPr>
          <p:cNvPr id="23" name="Text 21"/>
          <p:cNvSpPr txBox="1"/>
          <p:nvPr/>
        </p:nvSpPr>
        <p:spPr>
          <a:xfrm>
            <a:off x="813816" y="2990088"/>
            <a:ext cx="1764792" cy="338328"/>
          </a:xfrm>
          <a:prstGeom prst="rect">
            <a:avLst/>
          </a:prstGeom>
          <a:noFill/>
          <a:ln/>
        </p:spPr>
        <p:txBody>
          <a:bodyPr wrap="square" lIns="0" tIns="0" rIns="0" bIns="0" rtlCol="0" anchor="ctr"/>
          <a:lstStyle/>
          <a:p>
            <a:pPr algn="l" indent="0" marL="0">
              <a:buNone/>
            </a:pPr>
            <a:r>
              <a:rPr lang="en-US" sz="1420" b="1" dirty="0">
                <a:solidFill>
                  <a:srgbClr val="0C1E2C"/>
                </a:solidFill>
                <a:latin typeface="Arial" pitchFamily="34" charset="0"/>
                <a:ea typeface="Arial" pitchFamily="34" charset="-122"/>
                <a:cs typeface="Arial" pitchFamily="34" charset="-120"/>
              </a:rPr>
              <a:t>Pemicu latihan</a:t>
            </a:r>
            <a:endParaRPr lang="en-US" sz="1420" dirty="0"/>
          </a:p>
        </p:txBody>
      </p:sp>
      <p:sp>
        <p:nvSpPr>
          <p:cNvPr id="24" name="Shape 22"/>
          <p:cNvSpPr/>
          <p:nvPr/>
        </p:nvSpPr>
        <p:spPr>
          <a:xfrm>
            <a:off x="2788920" y="2852928"/>
            <a:ext cx="2816352" cy="621792"/>
          </a:xfrm>
          <a:prstGeom prst="rect">
            <a:avLst/>
          </a:prstGeom>
          <a:solidFill>
            <a:srgbClr val="FFFFFF"/>
          </a:solidFill>
          <a:ln w="12700">
            <a:solidFill>
              <a:srgbClr val="FFFFFF"/>
            </a:solidFill>
            <a:prstDash val="solid"/>
          </a:ln>
        </p:spPr>
      </p:sp>
      <p:sp>
        <p:nvSpPr>
          <p:cNvPr id="25" name="Text 23"/>
          <p:cNvSpPr txBox="1"/>
          <p:nvPr/>
        </p:nvSpPr>
        <p:spPr>
          <a:xfrm>
            <a:off x="2944368" y="2990088"/>
            <a:ext cx="2505456" cy="338328"/>
          </a:xfrm>
          <a:prstGeom prst="rect">
            <a:avLst/>
          </a:prstGeom>
          <a:noFill/>
          <a:ln/>
        </p:spPr>
        <p:txBody>
          <a:bodyPr wrap="square" lIns="0" tIns="0" rIns="0" bIns="0" rtlCol="0" anchor="ctr"/>
          <a:lstStyle/>
          <a:p>
            <a:pPr algn="l" indent="0" marL="0">
              <a:buNone/>
            </a:pPr>
            <a:r>
              <a:rPr lang="en-US" sz="1420" dirty="0">
                <a:solidFill>
                  <a:srgbClr val="102333"/>
                </a:solidFill>
                <a:latin typeface="Arial" pitchFamily="34" charset="0"/>
                <a:ea typeface="Arial" pitchFamily="34" charset="-122"/>
                <a:cs typeface="Arial" pitchFamily="34" charset="-120"/>
              </a:rPr>
              <a:t>Schedule 5 menit</a:t>
            </a:r>
            <a:endParaRPr lang="en-US" sz="1420" dirty="0"/>
          </a:p>
        </p:txBody>
      </p:sp>
      <p:sp>
        <p:nvSpPr>
          <p:cNvPr id="26" name="Shape 24"/>
          <p:cNvSpPr/>
          <p:nvPr/>
        </p:nvSpPr>
        <p:spPr>
          <a:xfrm>
            <a:off x="5669280" y="2852928"/>
            <a:ext cx="2816352" cy="621792"/>
          </a:xfrm>
          <a:prstGeom prst="rect">
            <a:avLst/>
          </a:prstGeom>
          <a:solidFill>
            <a:srgbClr val="FFFFFF"/>
          </a:solidFill>
          <a:ln w="12700">
            <a:solidFill>
              <a:srgbClr val="FFFFFF"/>
            </a:solidFill>
            <a:prstDash val="solid"/>
          </a:ln>
        </p:spPr>
      </p:sp>
      <p:sp>
        <p:nvSpPr>
          <p:cNvPr id="27" name="Text 25"/>
          <p:cNvSpPr txBox="1"/>
          <p:nvPr/>
        </p:nvSpPr>
        <p:spPr>
          <a:xfrm>
            <a:off x="5824728" y="2990088"/>
            <a:ext cx="2505456" cy="338328"/>
          </a:xfrm>
          <a:prstGeom prst="rect">
            <a:avLst/>
          </a:prstGeom>
          <a:noFill/>
          <a:ln/>
        </p:spPr>
        <p:txBody>
          <a:bodyPr wrap="square" lIns="0" tIns="0" rIns="0" bIns="0" rtlCol="0" anchor="ctr"/>
          <a:lstStyle/>
          <a:p>
            <a:pPr algn="l" indent="0" marL="0">
              <a:buNone/>
            </a:pPr>
            <a:r>
              <a:rPr lang="en-US" sz="1420" dirty="0">
                <a:solidFill>
                  <a:srgbClr val="102333"/>
                </a:solidFill>
                <a:latin typeface="Arial" pitchFamily="34" charset="0"/>
                <a:ea typeface="Arial" pitchFamily="34" charset="-122"/>
                <a:cs typeface="Arial" pitchFamily="34" charset="-120"/>
              </a:rPr>
              <a:t>Deployment 15 menit</a:t>
            </a:r>
            <a:endParaRPr lang="en-US" sz="1420" dirty="0"/>
          </a:p>
        </p:txBody>
      </p:sp>
      <p:sp>
        <p:nvSpPr>
          <p:cNvPr id="28" name="Shape 26"/>
          <p:cNvSpPr/>
          <p:nvPr/>
        </p:nvSpPr>
        <p:spPr>
          <a:xfrm>
            <a:off x="8549640" y="2852928"/>
            <a:ext cx="2935224" cy="621792"/>
          </a:xfrm>
          <a:prstGeom prst="rect">
            <a:avLst/>
          </a:prstGeom>
          <a:solidFill>
            <a:srgbClr val="FFFFFF"/>
          </a:solidFill>
          <a:ln w="12700">
            <a:solidFill>
              <a:srgbClr val="FFFFFF"/>
            </a:solidFill>
            <a:prstDash val="solid"/>
          </a:ln>
        </p:spPr>
      </p:sp>
      <p:sp>
        <p:nvSpPr>
          <p:cNvPr id="29" name="Text 27"/>
          <p:cNvSpPr txBox="1"/>
          <p:nvPr/>
        </p:nvSpPr>
        <p:spPr>
          <a:xfrm>
            <a:off x="8705088" y="2990088"/>
            <a:ext cx="2624328" cy="338328"/>
          </a:xfrm>
          <a:prstGeom prst="rect">
            <a:avLst/>
          </a:prstGeom>
          <a:noFill/>
          <a:ln/>
        </p:spPr>
        <p:txBody>
          <a:bodyPr wrap="square" lIns="0" tIns="0" rIns="0" bIns="0" rtlCol="0" anchor="ctr"/>
          <a:lstStyle/>
          <a:p>
            <a:pPr algn="l" indent="0" marL="0">
              <a:buNone/>
            </a:pPr>
            <a:r>
              <a:rPr lang="en-US" sz="1420" dirty="0">
                <a:solidFill>
                  <a:srgbClr val="102333"/>
                </a:solidFill>
                <a:latin typeface="Arial" pitchFamily="34" charset="0"/>
                <a:ea typeface="Arial" pitchFamily="34" charset="-122"/>
                <a:cs typeface="Arial" pitchFamily="34" charset="-120"/>
              </a:rPr>
              <a:t>Trigger 5 menit</a:t>
            </a:r>
            <a:endParaRPr lang="en-US" sz="1420" dirty="0"/>
          </a:p>
        </p:txBody>
      </p:sp>
      <p:sp>
        <p:nvSpPr>
          <p:cNvPr id="30" name="Shape 28"/>
          <p:cNvSpPr/>
          <p:nvPr/>
        </p:nvSpPr>
        <p:spPr>
          <a:xfrm>
            <a:off x="658368" y="3502152"/>
            <a:ext cx="2075688" cy="621792"/>
          </a:xfrm>
          <a:prstGeom prst="rect">
            <a:avLst/>
          </a:prstGeom>
          <a:solidFill>
            <a:srgbClr val="F4F8FA"/>
          </a:solidFill>
          <a:ln w="12700">
            <a:solidFill>
              <a:srgbClr val="F4F8FA"/>
            </a:solidFill>
            <a:prstDash val="solid"/>
          </a:ln>
        </p:spPr>
      </p:sp>
      <p:sp>
        <p:nvSpPr>
          <p:cNvPr id="31" name="Text 29"/>
          <p:cNvSpPr txBox="1"/>
          <p:nvPr/>
        </p:nvSpPr>
        <p:spPr>
          <a:xfrm>
            <a:off x="813816" y="3639312"/>
            <a:ext cx="1764792" cy="338328"/>
          </a:xfrm>
          <a:prstGeom prst="rect">
            <a:avLst/>
          </a:prstGeom>
          <a:noFill/>
          <a:ln/>
        </p:spPr>
        <p:txBody>
          <a:bodyPr wrap="square" lIns="0" tIns="0" rIns="0" bIns="0" rtlCol="0" anchor="ctr"/>
          <a:lstStyle/>
          <a:p>
            <a:pPr algn="l" indent="0" marL="0">
              <a:buNone/>
            </a:pPr>
            <a:r>
              <a:rPr lang="en-US" sz="1420" b="1" dirty="0">
                <a:solidFill>
                  <a:srgbClr val="0C1E2C"/>
                </a:solidFill>
                <a:latin typeface="Arial" pitchFamily="34" charset="0"/>
                <a:ea typeface="Arial" pitchFamily="34" charset="-122"/>
                <a:cs typeface="Arial" pitchFamily="34" charset="-120"/>
              </a:rPr>
              <a:t>Runtime latihan</a:t>
            </a:r>
            <a:endParaRPr lang="en-US" sz="1420" dirty="0"/>
          </a:p>
        </p:txBody>
      </p:sp>
      <p:sp>
        <p:nvSpPr>
          <p:cNvPr id="32" name="Shape 30"/>
          <p:cNvSpPr/>
          <p:nvPr/>
        </p:nvSpPr>
        <p:spPr>
          <a:xfrm>
            <a:off x="2788920" y="3502152"/>
            <a:ext cx="2816352" cy="621792"/>
          </a:xfrm>
          <a:prstGeom prst="rect">
            <a:avLst/>
          </a:prstGeom>
          <a:solidFill>
            <a:srgbClr val="F4F8FA"/>
          </a:solidFill>
          <a:ln w="12700">
            <a:solidFill>
              <a:srgbClr val="F4F8FA"/>
            </a:solidFill>
            <a:prstDash val="solid"/>
          </a:ln>
        </p:spPr>
      </p:sp>
      <p:sp>
        <p:nvSpPr>
          <p:cNvPr id="33" name="Text 31"/>
          <p:cNvSpPr txBox="1"/>
          <p:nvPr/>
        </p:nvSpPr>
        <p:spPr>
          <a:xfrm>
            <a:off x="2944368" y="3639312"/>
            <a:ext cx="2505456" cy="338328"/>
          </a:xfrm>
          <a:prstGeom prst="rect">
            <a:avLst/>
          </a:prstGeom>
          <a:noFill/>
          <a:ln/>
        </p:spPr>
        <p:txBody>
          <a:bodyPr wrap="square" lIns="0" tIns="0" rIns="0" bIns="0" rtlCol="0" anchor="ctr"/>
          <a:lstStyle/>
          <a:p>
            <a:pPr algn="l" indent="0" marL="0">
              <a:buNone/>
            </a:pPr>
            <a:r>
              <a:rPr lang="en-US" sz="1420" dirty="0">
                <a:solidFill>
                  <a:srgbClr val="102333"/>
                </a:solidFill>
                <a:latin typeface="Arial" pitchFamily="34" charset="0"/>
                <a:ea typeface="Arial" pitchFamily="34" charset="-122"/>
                <a:cs typeface="Arial" pitchFamily="34" charset="-120"/>
              </a:rPr>
              <a:t>Webserver + daemon</a:t>
            </a:r>
            <a:endParaRPr lang="en-US" sz="1420" dirty="0"/>
          </a:p>
        </p:txBody>
      </p:sp>
      <p:sp>
        <p:nvSpPr>
          <p:cNvPr id="34" name="Shape 32"/>
          <p:cNvSpPr/>
          <p:nvPr/>
        </p:nvSpPr>
        <p:spPr>
          <a:xfrm>
            <a:off x="5669280" y="3502152"/>
            <a:ext cx="2816352" cy="621792"/>
          </a:xfrm>
          <a:prstGeom prst="rect">
            <a:avLst/>
          </a:prstGeom>
          <a:solidFill>
            <a:srgbClr val="F4F8FA"/>
          </a:solidFill>
          <a:ln w="12700">
            <a:solidFill>
              <a:srgbClr val="F4F8FA"/>
            </a:solidFill>
            <a:prstDash val="solid"/>
          </a:ln>
        </p:spPr>
      </p:sp>
      <p:sp>
        <p:nvSpPr>
          <p:cNvPr id="35" name="Text 33"/>
          <p:cNvSpPr txBox="1"/>
          <p:nvPr/>
        </p:nvSpPr>
        <p:spPr>
          <a:xfrm>
            <a:off x="5824728" y="3639312"/>
            <a:ext cx="2505456" cy="338328"/>
          </a:xfrm>
          <a:prstGeom prst="rect">
            <a:avLst/>
          </a:prstGeom>
          <a:noFill/>
          <a:ln/>
        </p:spPr>
        <p:txBody>
          <a:bodyPr wrap="square" lIns="0" tIns="0" rIns="0" bIns="0" rtlCol="0" anchor="ctr"/>
          <a:lstStyle/>
          <a:p>
            <a:pPr algn="l" indent="0" marL="0">
              <a:buNone/>
            </a:pPr>
            <a:r>
              <a:rPr lang="en-US" sz="1420" dirty="0">
                <a:solidFill>
                  <a:srgbClr val="102333"/>
                </a:solidFill>
                <a:latin typeface="Arial" pitchFamily="34" charset="0"/>
                <a:ea typeface="Arial" pitchFamily="34" charset="-122"/>
                <a:cs typeface="Arial" pitchFamily="34" charset="-120"/>
              </a:rPr>
              <a:t>Server + flow serve</a:t>
            </a:r>
            <a:endParaRPr lang="en-US" sz="1420" dirty="0"/>
          </a:p>
        </p:txBody>
      </p:sp>
      <p:sp>
        <p:nvSpPr>
          <p:cNvPr id="36" name="Shape 34"/>
          <p:cNvSpPr/>
          <p:nvPr/>
        </p:nvSpPr>
        <p:spPr>
          <a:xfrm>
            <a:off x="8549640" y="3502152"/>
            <a:ext cx="2935224" cy="621792"/>
          </a:xfrm>
          <a:prstGeom prst="rect">
            <a:avLst/>
          </a:prstGeom>
          <a:solidFill>
            <a:srgbClr val="F4F8FA"/>
          </a:solidFill>
          <a:ln w="12700">
            <a:solidFill>
              <a:srgbClr val="F4F8FA"/>
            </a:solidFill>
            <a:prstDash val="solid"/>
          </a:ln>
        </p:spPr>
      </p:sp>
      <p:sp>
        <p:nvSpPr>
          <p:cNvPr id="37" name="Text 35"/>
          <p:cNvSpPr txBox="1"/>
          <p:nvPr/>
        </p:nvSpPr>
        <p:spPr>
          <a:xfrm>
            <a:off x="8705088" y="3639312"/>
            <a:ext cx="2624328" cy="338328"/>
          </a:xfrm>
          <a:prstGeom prst="rect">
            <a:avLst/>
          </a:prstGeom>
          <a:noFill/>
          <a:ln/>
        </p:spPr>
        <p:txBody>
          <a:bodyPr wrap="square" lIns="0" tIns="0" rIns="0" bIns="0" rtlCol="0" anchor="ctr"/>
          <a:lstStyle/>
          <a:p>
            <a:pPr algn="l" indent="0" marL="0">
              <a:buNone/>
            </a:pPr>
            <a:r>
              <a:rPr lang="en-US" sz="1420" dirty="0">
                <a:solidFill>
                  <a:srgbClr val="102333"/>
                </a:solidFill>
                <a:latin typeface="Arial" pitchFamily="34" charset="0"/>
                <a:ea typeface="Arial" pitchFamily="34" charset="-122"/>
                <a:cs typeface="Arial" pitchFamily="34" charset="-120"/>
              </a:rPr>
              <a:t>Server + Docker runner</a:t>
            </a:r>
            <a:endParaRPr lang="en-US" sz="1420" dirty="0"/>
          </a:p>
        </p:txBody>
      </p:sp>
      <p:sp>
        <p:nvSpPr>
          <p:cNvPr id="38" name="Shape 36"/>
          <p:cNvSpPr/>
          <p:nvPr/>
        </p:nvSpPr>
        <p:spPr>
          <a:xfrm>
            <a:off x="658368" y="4151376"/>
            <a:ext cx="2075688" cy="621792"/>
          </a:xfrm>
          <a:prstGeom prst="rect">
            <a:avLst/>
          </a:prstGeom>
          <a:solidFill>
            <a:srgbClr val="FFFFFF"/>
          </a:solidFill>
          <a:ln w="12700">
            <a:solidFill>
              <a:srgbClr val="FFFFFF"/>
            </a:solidFill>
            <a:prstDash val="solid"/>
          </a:ln>
        </p:spPr>
      </p:sp>
      <p:sp>
        <p:nvSpPr>
          <p:cNvPr id="39" name="Text 37"/>
          <p:cNvSpPr txBox="1"/>
          <p:nvPr/>
        </p:nvSpPr>
        <p:spPr>
          <a:xfrm>
            <a:off x="813816" y="4288536"/>
            <a:ext cx="1764792" cy="338328"/>
          </a:xfrm>
          <a:prstGeom prst="rect">
            <a:avLst/>
          </a:prstGeom>
          <a:noFill/>
          <a:ln/>
        </p:spPr>
        <p:txBody>
          <a:bodyPr wrap="square" lIns="0" tIns="0" rIns="0" bIns="0" rtlCol="0" anchor="ctr"/>
          <a:lstStyle/>
          <a:p>
            <a:pPr algn="l" indent="0" marL="0">
              <a:buNone/>
            </a:pPr>
            <a:r>
              <a:rPr lang="en-US" sz="1420" b="1" dirty="0">
                <a:solidFill>
                  <a:srgbClr val="0C1E2C"/>
                </a:solidFill>
                <a:latin typeface="Arial" pitchFamily="34" charset="0"/>
                <a:ea typeface="Arial" pitchFamily="34" charset="-122"/>
                <a:cs typeface="Arial" pitchFamily="34" charset="-120"/>
              </a:rPr>
              <a:t>UI lokal</a:t>
            </a:r>
            <a:endParaRPr lang="en-US" sz="1420" dirty="0"/>
          </a:p>
        </p:txBody>
      </p:sp>
      <p:sp>
        <p:nvSpPr>
          <p:cNvPr id="40" name="Shape 38"/>
          <p:cNvSpPr/>
          <p:nvPr/>
        </p:nvSpPr>
        <p:spPr>
          <a:xfrm>
            <a:off x="2788920" y="4151376"/>
            <a:ext cx="2816352" cy="621792"/>
          </a:xfrm>
          <a:prstGeom prst="rect">
            <a:avLst/>
          </a:prstGeom>
          <a:solidFill>
            <a:srgbClr val="FFFFFF"/>
          </a:solidFill>
          <a:ln w="12700">
            <a:solidFill>
              <a:srgbClr val="FFFFFF"/>
            </a:solidFill>
            <a:prstDash val="solid"/>
          </a:ln>
        </p:spPr>
      </p:sp>
      <p:sp>
        <p:nvSpPr>
          <p:cNvPr id="41" name="Text 39"/>
          <p:cNvSpPr txBox="1"/>
          <p:nvPr/>
        </p:nvSpPr>
        <p:spPr>
          <a:xfrm>
            <a:off x="2944368" y="4288536"/>
            <a:ext cx="2505456" cy="338328"/>
          </a:xfrm>
          <a:prstGeom prst="rect">
            <a:avLst/>
          </a:prstGeom>
          <a:noFill/>
          <a:ln/>
        </p:spPr>
        <p:txBody>
          <a:bodyPr wrap="square" lIns="0" tIns="0" rIns="0" bIns="0" rtlCol="0" anchor="ctr"/>
          <a:lstStyle/>
          <a:p>
            <a:pPr algn="l" indent="0" marL="0">
              <a:buNone/>
            </a:pPr>
            <a:r>
              <a:rPr lang="en-US" sz="1420" dirty="0">
                <a:solidFill>
                  <a:srgbClr val="102333"/>
                </a:solidFill>
                <a:latin typeface="Arial" pitchFamily="34" charset="0"/>
                <a:ea typeface="Arial" pitchFamily="34" charset="-122"/>
                <a:cs typeface="Arial" pitchFamily="34" charset="-120"/>
              </a:rPr>
              <a:t>localhost:3000</a:t>
            </a:r>
            <a:endParaRPr lang="en-US" sz="1420" dirty="0"/>
          </a:p>
        </p:txBody>
      </p:sp>
      <p:sp>
        <p:nvSpPr>
          <p:cNvPr id="42" name="Shape 40"/>
          <p:cNvSpPr/>
          <p:nvPr/>
        </p:nvSpPr>
        <p:spPr>
          <a:xfrm>
            <a:off x="5669280" y="4151376"/>
            <a:ext cx="2816352" cy="621792"/>
          </a:xfrm>
          <a:prstGeom prst="rect">
            <a:avLst/>
          </a:prstGeom>
          <a:solidFill>
            <a:srgbClr val="FFFFFF"/>
          </a:solidFill>
          <a:ln w="12700">
            <a:solidFill>
              <a:srgbClr val="FFFFFF"/>
            </a:solidFill>
            <a:prstDash val="solid"/>
          </a:ln>
        </p:spPr>
      </p:sp>
      <p:sp>
        <p:nvSpPr>
          <p:cNvPr id="43" name="Text 41"/>
          <p:cNvSpPr txBox="1"/>
          <p:nvPr/>
        </p:nvSpPr>
        <p:spPr>
          <a:xfrm>
            <a:off x="5824728" y="4288536"/>
            <a:ext cx="2505456" cy="338328"/>
          </a:xfrm>
          <a:prstGeom prst="rect">
            <a:avLst/>
          </a:prstGeom>
          <a:noFill/>
          <a:ln/>
        </p:spPr>
        <p:txBody>
          <a:bodyPr wrap="square" lIns="0" tIns="0" rIns="0" bIns="0" rtlCol="0" anchor="ctr"/>
          <a:lstStyle/>
          <a:p>
            <a:pPr algn="l" indent="0" marL="0">
              <a:buNone/>
            </a:pPr>
            <a:r>
              <a:rPr lang="en-US" sz="1420" dirty="0">
                <a:solidFill>
                  <a:srgbClr val="102333"/>
                </a:solidFill>
                <a:latin typeface="Arial" pitchFamily="34" charset="0"/>
                <a:ea typeface="Arial" pitchFamily="34" charset="-122"/>
                <a:cs typeface="Arial" pitchFamily="34" charset="-120"/>
              </a:rPr>
              <a:t>localhost:4200</a:t>
            </a:r>
            <a:endParaRPr lang="en-US" sz="1420" dirty="0"/>
          </a:p>
        </p:txBody>
      </p:sp>
      <p:sp>
        <p:nvSpPr>
          <p:cNvPr id="44" name="Shape 42"/>
          <p:cNvSpPr/>
          <p:nvPr/>
        </p:nvSpPr>
        <p:spPr>
          <a:xfrm>
            <a:off x="8549640" y="4151376"/>
            <a:ext cx="2935224" cy="621792"/>
          </a:xfrm>
          <a:prstGeom prst="rect">
            <a:avLst/>
          </a:prstGeom>
          <a:solidFill>
            <a:srgbClr val="FFFFFF"/>
          </a:solidFill>
          <a:ln w="12700">
            <a:solidFill>
              <a:srgbClr val="FFFFFF"/>
            </a:solidFill>
            <a:prstDash val="solid"/>
          </a:ln>
        </p:spPr>
      </p:sp>
      <p:sp>
        <p:nvSpPr>
          <p:cNvPr id="45" name="Text 43"/>
          <p:cNvSpPr txBox="1"/>
          <p:nvPr/>
        </p:nvSpPr>
        <p:spPr>
          <a:xfrm>
            <a:off x="8705088" y="4288536"/>
            <a:ext cx="2624328" cy="338328"/>
          </a:xfrm>
          <a:prstGeom prst="rect">
            <a:avLst/>
          </a:prstGeom>
          <a:noFill/>
          <a:ln/>
        </p:spPr>
        <p:txBody>
          <a:bodyPr wrap="square" lIns="0" tIns="0" rIns="0" bIns="0" rtlCol="0" anchor="ctr"/>
          <a:lstStyle/>
          <a:p>
            <a:pPr algn="l" indent="0" marL="0">
              <a:buNone/>
            </a:pPr>
            <a:r>
              <a:rPr lang="en-US" sz="1420" dirty="0">
                <a:solidFill>
                  <a:srgbClr val="102333"/>
                </a:solidFill>
                <a:latin typeface="Arial" pitchFamily="34" charset="0"/>
                <a:ea typeface="Arial" pitchFamily="34" charset="-122"/>
                <a:cs typeface="Arial" pitchFamily="34" charset="-120"/>
              </a:rPr>
              <a:t>localhost:8080</a:t>
            </a:r>
            <a:endParaRPr lang="en-US" sz="1420" dirty="0"/>
          </a:p>
        </p:txBody>
      </p:sp>
      <p:sp>
        <p:nvSpPr>
          <p:cNvPr id="46" name="Shape 44"/>
          <p:cNvSpPr/>
          <p:nvPr/>
        </p:nvSpPr>
        <p:spPr>
          <a:xfrm>
            <a:off x="658368" y="4800600"/>
            <a:ext cx="2075688" cy="621792"/>
          </a:xfrm>
          <a:prstGeom prst="rect">
            <a:avLst/>
          </a:prstGeom>
          <a:solidFill>
            <a:srgbClr val="F4F8FA"/>
          </a:solidFill>
          <a:ln w="12700">
            <a:solidFill>
              <a:srgbClr val="F4F8FA"/>
            </a:solidFill>
            <a:prstDash val="solid"/>
          </a:ln>
        </p:spPr>
      </p:sp>
      <p:sp>
        <p:nvSpPr>
          <p:cNvPr id="47" name="Text 45"/>
          <p:cNvSpPr txBox="1"/>
          <p:nvPr/>
        </p:nvSpPr>
        <p:spPr>
          <a:xfrm>
            <a:off x="813816" y="4937760"/>
            <a:ext cx="1764792" cy="338328"/>
          </a:xfrm>
          <a:prstGeom prst="rect">
            <a:avLst/>
          </a:prstGeom>
          <a:noFill/>
          <a:ln/>
        </p:spPr>
        <p:txBody>
          <a:bodyPr wrap="square" lIns="0" tIns="0" rIns="0" bIns="0" rtlCol="0" anchor="ctr"/>
          <a:lstStyle/>
          <a:p>
            <a:pPr algn="l" indent="0" marL="0">
              <a:buNone/>
            </a:pPr>
            <a:r>
              <a:rPr lang="en-US" sz="1420" b="1" dirty="0">
                <a:solidFill>
                  <a:srgbClr val="0C1E2C"/>
                </a:solidFill>
                <a:latin typeface="Arial" pitchFamily="34" charset="0"/>
                <a:ea typeface="Arial" pitchFamily="34" charset="-122"/>
                <a:cs typeface="Arial" pitchFamily="34" charset="-120"/>
              </a:rPr>
              <a:t>Run manual</a:t>
            </a:r>
            <a:endParaRPr lang="en-US" sz="1420" dirty="0"/>
          </a:p>
        </p:txBody>
      </p:sp>
      <p:sp>
        <p:nvSpPr>
          <p:cNvPr id="48" name="Shape 46"/>
          <p:cNvSpPr/>
          <p:nvPr/>
        </p:nvSpPr>
        <p:spPr>
          <a:xfrm>
            <a:off x="2788920" y="4800600"/>
            <a:ext cx="2816352" cy="621792"/>
          </a:xfrm>
          <a:prstGeom prst="rect">
            <a:avLst/>
          </a:prstGeom>
          <a:solidFill>
            <a:srgbClr val="F4F8FA"/>
          </a:solidFill>
          <a:ln w="12700">
            <a:solidFill>
              <a:srgbClr val="F4F8FA"/>
            </a:solidFill>
            <a:prstDash val="solid"/>
          </a:ln>
        </p:spPr>
      </p:sp>
      <p:sp>
        <p:nvSpPr>
          <p:cNvPr id="49" name="Text 47"/>
          <p:cNvSpPr txBox="1"/>
          <p:nvPr/>
        </p:nvSpPr>
        <p:spPr>
          <a:xfrm>
            <a:off x="2944368" y="4937760"/>
            <a:ext cx="2505456" cy="338328"/>
          </a:xfrm>
          <a:prstGeom prst="rect">
            <a:avLst/>
          </a:prstGeom>
          <a:noFill/>
          <a:ln/>
        </p:spPr>
        <p:txBody>
          <a:bodyPr wrap="square" lIns="0" tIns="0" rIns="0" bIns="0" rtlCol="0" anchor="ctr"/>
          <a:lstStyle/>
          <a:p>
            <a:pPr algn="l" indent="0" marL="0">
              <a:buNone/>
            </a:pPr>
            <a:r>
              <a:rPr lang="en-US" sz="1420" dirty="0">
                <a:solidFill>
                  <a:srgbClr val="102333"/>
                </a:solidFill>
                <a:latin typeface="Arial" pitchFamily="34" charset="0"/>
                <a:ea typeface="Arial" pitchFamily="34" charset="-122"/>
                <a:cs typeface="Arial" pitchFamily="34" charset="-120"/>
              </a:rPr>
              <a:t>Materialize asset</a:t>
            </a:r>
            <a:endParaRPr lang="en-US" sz="1420" dirty="0"/>
          </a:p>
        </p:txBody>
      </p:sp>
      <p:sp>
        <p:nvSpPr>
          <p:cNvPr id="50" name="Shape 48"/>
          <p:cNvSpPr/>
          <p:nvPr/>
        </p:nvSpPr>
        <p:spPr>
          <a:xfrm>
            <a:off x="5669280" y="4800600"/>
            <a:ext cx="2816352" cy="621792"/>
          </a:xfrm>
          <a:prstGeom prst="rect">
            <a:avLst/>
          </a:prstGeom>
          <a:solidFill>
            <a:srgbClr val="F4F8FA"/>
          </a:solidFill>
          <a:ln w="12700">
            <a:solidFill>
              <a:srgbClr val="F4F8FA"/>
            </a:solidFill>
            <a:prstDash val="solid"/>
          </a:ln>
        </p:spPr>
      </p:sp>
      <p:sp>
        <p:nvSpPr>
          <p:cNvPr id="51" name="Text 49"/>
          <p:cNvSpPr txBox="1"/>
          <p:nvPr/>
        </p:nvSpPr>
        <p:spPr>
          <a:xfrm>
            <a:off x="5824728" y="4937760"/>
            <a:ext cx="2505456" cy="338328"/>
          </a:xfrm>
          <a:prstGeom prst="rect">
            <a:avLst/>
          </a:prstGeom>
          <a:noFill/>
          <a:ln/>
        </p:spPr>
        <p:txBody>
          <a:bodyPr wrap="square" lIns="0" tIns="0" rIns="0" bIns="0" rtlCol="0" anchor="ctr"/>
          <a:lstStyle/>
          <a:p>
            <a:pPr algn="l" indent="0" marL="0">
              <a:buNone/>
            </a:pPr>
            <a:r>
              <a:rPr lang="en-US" sz="1420" dirty="0">
                <a:solidFill>
                  <a:srgbClr val="102333"/>
                </a:solidFill>
                <a:latin typeface="Arial" pitchFamily="34" charset="0"/>
                <a:ea typeface="Arial" pitchFamily="34" charset="-122"/>
                <a:cs typeface="Arial" pitchFamily="34" charset="-120"/>
              </a:rPr>
              <a:t>Run deployment</a:t>
            </a:r>
            <a:endParaRPr lang="en-US" sz="1420" dirty="0"/>
          </a:p>
        </p:txBody>
      </p:sp>
      <p:sp>
        <p:nvSpPr>
          <p:cNvPr id="52" name="Shape 50"/>
          <p:cNvSpPr/>
          <p:nvPr/>
        </p:nvSpPr>
        <p:spPr>
          <a:xfrm>
            <a:off x="8549640" y="4800600"/>
            <a:ext cx="2935224" cy="621792"/>
          </a:xfrm>
          <a:prstGeom prst="rect">
            <a:avLst/>
          </a:prstGeom>
          <a:solidFill>
            <a:srgbClr val="F4F8FA"/>
          </a:solidFill>
          <a:ln w="12700">
            <a:solidFill>
              <a:srgbClr val="F4F8FA"/>
            </a:solidFill>
            <a:prstDash val="solid"/>
          </a:ln>
        </p:spPr>
      </p:sp>
      <p:sp>
        <p:nvSpPr>
          <p:cNvPr id="53" name="Text 51"/>
          <p:cNvSpPr txBox="1"/>
          <p:nvPr/>
        </p:nvSpPr>
        <p:spPr>
          <a:xfrm>
            <a:off x="8705088" y="4937760"/>
            <a:ext cx="2624328" cy="338328"/>
          </a:xfrm>
          <a:prstGeom prst="rect">
            <a:avLst/>
          </a:prstGeom>
          <a:noFill/>
          <a:ln/>
        </p:spPr>
        <p:txBody>
          <a:bodyPr wrap="square" lIns="0" tIns="0" rIns="0" bIns="0" rtlCol="0" anchor="ctr"/>
          <a:lstStyle/>
          <a:p>
            <a:pPr algn="l" indent="0" marL="0">
              <a:buNone/>
            </a:pPr>
            <a:r>
              <a:rPr lang="en-US" sz="1420" dirty="0">
                <a:solidFill>
                  <a:srgbClr val="102333"/>
                </a:solidFill>
                <a:latin typeface="Arial" pitchFamily="34" charset="0"/>
                <a:ea typeface="Arial" pitchFamily="34" charset="-122"/>
                <a:cs typeface="Arial" pitchFamily="34" charset="-120"/>
              </a:rPr>
              <a:t>Execute flow</a:t>
            </a:r>
            <a:endParaRPr lang="en-US" sz="1420" dirty="0"/>
          </a:p>
        </p:txBody>
      </p:sp>
      <p:sp>
        <p:nvSpPr>
          <p:cNvPr id="54" name="Text 52"/>
          <p:cNvSpPr txBox="1"/>
          <p:nvPr/>
        </p:nvSpPr>
        <p:spPr>
          <a:xfrm>
            <a:off x="832104" y="5852160"/>
            <a:ext cx="10607040" cy="292608"/>
          </a:xfrm>
          <a:prstGeom prst="rect">
            <a:avLst/>
          </a:prstGeom>
          <a:noFill/>
          <a:ln/>
        </p:spPr>
        <p:txBody>
          <a:bodyPr wrap="square" lIns="0" tIns="0" rIns="0" bIns="0" rtlCol="0" anchor="ctr"/>
          <a:lstStyle/>
          <a:p>
            <a:pPr algn="ctr" indent="0" marL="0">
              <a:buNone/>
            </a:pPr>
            <a:r>
              <a:rPr lang="en-US" sz="1700" b="1" dirty="0">
                <a:solidFill>
                  <a:srgbClr val="00A7A4"/>
                </a:solidFill>
                <a:latin typeface="Arial" pitchFamily="34" charset="0"/>
                <a:ea typeface="Arial" pitchFamily="34" charset="-122"/>
                <a:cs typeface="Arial" pitchFamily="34" charset="-120"/>
              </a:rPr>
              <a:t>Semua memanggil pertemuan-5/run_pipeline.sh dan harus menghasilkan datamart yang sama.</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365760"/>
            <a:ext cx="10972800" cy="502920"/>
          </a:xfrm>
          <a:prstGeom prst="rect">
            <a:avLst/>
          </a:prstGeom>
          <a:noFill/>
          <a:ln/>
        </p:spPr>
        <p:txBody>
          <a:bodyPr wrap="square" lIns="0" tIns="0" rIns="0" bIns="0" rtlCol="0" anchor="ctr"/>
          <a:lstStyle/>
          <a:p>
            <a:pPr algn="l" indent="0" marL="0">
              <a:buNone/>
            </a:pPr>
            <a:r>
              <a:rPr lang="en-US" sz="3000" b="1" dirty="0">
                <a:solidFill>
                  <a:srgbClr val="0C1E2C"/>
                </a:solidFill>
                <a:latin typeface="Arial" pitchFamily="34" charset="0"/>
                <a:ea typeface="Arial" pitchFamily="34" charset="-122"/>
                <a:cs typeface="Arial" pitchFamily="34" charset="-120"/>
              </a:rPr>
              <a:t>Demo 1: siapkan pipeline dasar</a:t>
            </a:r>
            <a:endParaRPr lang="en-US" sz="3000" dirty="0"/>
          </a:p>
        </p:txBody>
      </p:sp>
      <p:sp>
        <p:nvSpPr>
          <p:cNvPr id="3" name="Text 1"/>
          <p:cNvSpPr txBox="1"/>
          <p:nvPr/>
        </p:nvSpPr>
        <p:spPr>
          <a:xfrm>
            <a:off x="640080" y="941832"/>
            <a:ext cx="10881360" cy="320040"/>
          </a:xfrm>
          <a:prstGeom prst="rect">
            <a:avLst/>
          </a:prstGeom>
          <a:noFill/>
          <a:ln/>
        </p:spPr>
        <p:txBody>
          <a:bodyPr wrap="square" lIns="0" tIns="0" rIns="0" bIns="0" rtlCol="0" anchor="ctr"/>
          <a:lstStyle/>
          <a:p>
            <a:pPr algn="l" indent="0" marL="0">
              <a:buNone/>
            </a:pPr>
            <a:r>
              <a:rPr lang="en-US" sz="1500" dirty="0">
                <a:solidFill>
                  <a:srgbClr val="526B79"/>
                </a:solidFill>
                <a:latin typeface="Arial" pitchFamily="34" charset="0"/>
                <a:ea typeface="Arial" pitchFamily="34" charset="-122"/>
                <a:cs typeface="Arial" pitchFamily="34" charset="-120"/>
              </a:rPr>
              <a:t>Mulai dari sumber dan target data Pertemuan 5 sebelum membuka orchestrator.</a:t>
            </a:r>
            <a:endParaRPr lang="en-US" sz="1500" dirty="0"/>
          </a:p>
        </p:txBody>
      </p:sp>
      <p:sp>
        <p:nvSpPr>
          <p:cNvPr id="4" name="Text 2"/>
          <p:cNvSpPr txBox="1"/>
          <p:nvPr/>
        </p:nvSpPr>
        <p:spPr>
          <a:xfrm>
            <a:off x="640080" y="6565392"/>
            <a:ext cx="5486400" cy="146304"/>
          </a:xfrm>
          <a:prstGeom prst="rect">
            <a:avLst/>
          </a:prstGeom>
          <a:noFill/>
          <a:ln/>
        </p:spPr>
        <p:txBody>
          <a:bodyPr wrap="square" lIns="0" tIns="0" rIns="0" bIns="0" rtlCol="0" anchor="ctr"/>
          <a:lstStyle/>
          <a:p>
            <a:pPr algn="l" indent="0" marL="0">
              <a:buNone/>
            </a:pPr>
            <a:r>
              <a:rPr lang="en-US" sz="900" b="1" dirty="0">
                <a:solidFill>
                  <a:srgbClr val="526B79"/>
                </a:solidFill>
                <a:latin typeface="Arial" pitchFamily="34" charset="0"/>
                <a:ea typeface="Arial" pitchFamily="34" charset="-122"/>
                <a:cs typeface="Arial" pitchFamily="34" charset="-120"/>
              </a:rPr>
              <a:t>PERTEMUAN 6  /  DATA ENGINEERING</a:t>
            </a:r>
            <a:endParaRPr lang="en-US" sz="900" dirty="0"/>
          </a:p>
        </p:txBody>
      </p:sp>
      <p:sp>
        <p:nvSpPr>
          <p:cNvPr id="5" name="Text 3"/>
          <p:cNvSpPr txBox="1"/>
          <p:nvPr/>
        </p:nvSpPr>
        <p:spPr>
          <a:xfrm>
            <a:off x="11155680" y="6519672"/>
            <a:ext cx="438912" cy="182880"/>
          </a:xfrm>
          <a:prstGeom prst="rect">
            <a:avLst/>
          </a:prstGeom>
          <a:noFill/>
          <a:ln/>
        </p:spPr>
        <p:txBody>
          <a:bodyPr wrap="square" lIns="0" tIns="0" rIns="0" bIns="0" rtlCol="0" anchor="ctr"/>
          <a:lstStyle/>
          <a:p>
            <a:pPr algn="r" indent="0" marL="0">
              <a:buNone/>
            </a:pPr>
            <a:r>
              <a:rPr lang="en-US" sz="1000" dirty="0">
                <a:solidFill>
                  <a:srgbClr val="526B79"/>
                </a:solidFill>
                <a:latin typeface="Arial" pitchFamily="34" charset="0"/>
                <a:ea typeface="Arial" pitchFamily="34" charset="-122"/>
                <a:cs typeface="Arial" pitchFamily="34" charset="-120"/>
              </a:rPr>
              <a:t>14</a:t>
            </a:r>
            <a:endParaRPr lang="en-US" sz="1000" dirty="0"/>
          </a:p>
        </p:txBody>
      </p:sp>
      <p:sp>
        <p:nvSpPr>
          <p:cNvPr id="6" name="Shape 4"/>
          <p:cNvSpPr/>
          <p:nvPr/>
        </p:nvSpPr>
        <p:spPr>
          <a:xfrm>
            <a:off x="731520" y="1691640"/>
            <a:ext cx="621792" cy="621792"/>
          </a:xfrm>
          <a:prstGeom prst="ellipse">
            <a:avLst/>
          </a:prstGeom>
          <a:solidFill>
            <a:srgbClr val="00A7A4"/>
          </a:solidFill>
          <a:ln w="12700">
            <a:solidFill>
              <a:srgbClr val="00A7A4"/>
            </a:solidFill>
            <a:prstDash val="solid"/>
          </a:ln>
        </p:spPr>
      </p:sp>
      <p:sp>
        <p:nvSpPr>
          <p:cNvPr id="7" name="Text 5"/>
          <p:cNvSpPr txBox="1"/>
          <p:nvPr/>
        </p:nvSpPr>
        <p:spPr>
          <a:xfrm>
            <a:off x="731520" y="1847088"/>
            <a:ext cx="621792" cy="265176"/>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8" name="Text 6"/>
          <p:cNvSpPr txBox="1"/>
          <p:nvPr/>
        </p:nvSpPr>
        <p:spPr>
          <a:xfrm>
            <a:off x="1591056" y="1609344"/>
            <a:ext cx="4023360" cy="329184"/>
          </a:xfrm>
          <a:prstGeom prst="rect">
            <a:avLst/>
          </a:prstGeom>
          <a:noFill/>
          <a:ln/>
        </p:spPr>
        <p:txBody>
          <a:bodyPr wrap="square" lIns="0" tIns="0" rIns="0" bIns="0" rtlCol="0" anchor="ctr"/>
          <a:lstStyle/>
          <a:p>
            <a:pPr algn="l" indent="0" marL="0">
              <a:buNone/>
            </a:pPr>
            <a:r>
              <a:rPr lang="en-US" sz="2200" b="1" dirty="0">
                <a:solidFill>
                  <a:srgbClr val="0C1E2C"/>
                </a:solidFill>
                <a:latin typeface="Arial" pitchFamily="34" charset="0"/>
                <a:ea typeface="Arial" pitchFamily="34" charset="-122"/>
                <a:cs typeface="Arial" pitchFamily="34" charset="-120"/>
              </a:rPr>
              <a:t>Nyalakan database</a:t>
            </a:r>
            <a:endParaRPr lang="en-US" sz="2200" dirty="0"/>
          </a:p>
        </p:txBody>
      </p:sp>
      <p:sp>
        <p:nvSpPr>
          <p:cNvPr id="9" name="Shape 7"/>
          <p:cNvSpPr/>
          <p:nvPr/>
        </p:nvSpPr>
        <p:spPr>
          <a:xfrm>
            <a:off x="1572768" y="2084832"/>
            <a:ext cx="9802368" cy="512064"/>
          </a:xfrm>
          <a:prstGeom prst="roundRect">
            <a:avLst>
              <a:gd name="adj" fmla="val 17857"/>
            </a:avLst>
          </a:prstGeom>
          <a:solidFill>
            <a:srgbClr val="F4F8FA"/>
          </a:solidFill>
          <a:ln w="12700">
            <a:solidFill>
              <a:srgbClr val="F4F8FA"/>
            </a:solidFill>
            <a:prstDash val="solid"/>
          </a:ln>
        </p:spPr>
      </p:sp>
      <p:sp>
        <p:nvSpPr>
          <p:cNvPr id="10" name="Text 8"/>
          <p:cNvSpPr txBox="1"/>
          <p:nvPr/>
        </p:nvSpPr>
        <p:spPr>
          <a:xfrm>
            <a:off x="1810512" y="2194560"/>
            <a:ext cx="9326880" cy="283464"/>
          </a:xfrm>
          <a:prstGeom prst="rect">
            <a:avLst/>
          </a:prstGeom>
          <a:noFill/>
          <a:ln/>
        </p:spPr>
        <p:txBody>
          <a:bodyPr wrap="square" lIns="0" tIns="0" rIns="0" bIns="0" rtlCol="0" anchor="ctr"/>
          <a:lstStyle/>
          <a:p>
            <a:pPr algn="l" indent="0" marL="0">
              <a:buNone/>
            </a:pPr>
            <a:r>
              <a:rPr lang="en-US" sz="1600" dirty="0">
                <a:solidFill>
                  <a:srgbClr val="102333"/>
                </a:solidFill>
                <a:latin typeface="Courier New" pitchFamily="34" charset="0"/>
                <a:ea typeface="Courier New" pitchFamily="34" charset="-122"/>
                <a:cs typeface="Courier New" pitchFamily="34" charset="-120"/>
              </a:rPr>
              <a:t>docker compose -f pertemuan-5/docker-compose.yml up -d</a:t>
            </a:r>
            <a:endParaRPr lang="en-US" sz="1600" dirty="0"/>
          </a:p>
        </p:txBody>
      </p:sp>
      <p:sp>
        <p:nvSpPr>
          <p:cNvPr id="11" name="Shape 9"/>
          <p:cNvSpPr/>
          <p:nvPr/>
        </p:nvSpPr>
        <p:spPr>
          <a:xfrm>
            <a:off x="731520" y="3026664"/>
            <a:ext cx="621792" cy="621792"/>
          </a:xfrm>
          <a:prstGeom prst="ellipse">
            <a:avLst/>
          </a:prstGeom>
          <a:solidFill>
            <a:srgbClr val="2563A6"/>
          </a:solidFill>
          <a:ln w="12700">
            <a:solidFill>
              <a:srgbClr val="2563A6"/>
            </a:solidFill>
            <a:prstDash val="solid"/>
          </a:ln>
        </p:spPr>
      </p:sp>
      <p:sp>
        <p:nvSpPr>
          <p:cNvPr id="12" name="Text 10"/>
          <p:cNvSpPr txBox="1"/>
          <p:nvPr/>
        </p:nvSpPr>
        <p:spPr>
          <a:xfrm>
            <a:off x="731520" y="3182112"/>
            <a:ext cx="621792" cy="265176"/>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1"/>
          <p:cNvSpPr txBox="1"/>
          <p:nvPr/>
        </p:nvSpPr>
        <p:spPr>
          <a:xfrm>
            <a:off x="1591056" y="2944368"/>
            <a:ext cx="4023360" cy="329184"/>
          </a:xfrm>
          <a:prstGeom prst="rect">
            <a:avLst/>
          </a:prstGeom>
          <a:noFill/>
          <a:ln/>
        </p:spPr>
        <p:txBody>
          <a:bodyPr wrap="square" lIns="0" tIns="0" rIns="0" bIns="0" rtlCol="0" anchor="ctr"/>
          <a:lstStyle/>
          <a:p>
            <a:pPr algn="l" indent="0" marL="0">
              <a:buNone/>
            </a:pPr>
            <a:r>
              <a:rPr lang="en-US" sz="2200" b="1" dirty="0">
                <a:solidFill>
                  <a:srgbClr val="0C1E2C"/>
                </a:solidFill>
                <a:latin typeface="Arial" pitchFamily="34" charset="0"/>
                <a:ea typeface="Arial" pitchFamily="34" charset="-122"/>
                <a:cs typeface="Arial" pitchFamily="34" charset="-120"/>
              </a:rPr>
              <a:t>Jalankan pipeline sekali</a:t>
            </a:r>
            <a:endParaRPr lang="en-US" sz="2200" dirty="0"/>
          </a:p>
        </p:txBody>
      </p:sp>
      <p:sp>
        <p:nvSpPr>
          <p:cNvPr id="14" name="Shape 12"/>
          <p:cNvSpPr/>
          <p:nvPr/>
        </p:nvSpPr>
        <p:spPr>
          <a:xfrm>
            <a:off x="1572768" y="3419856"/>
            <a:ext cx="9802368" cy="512064"/>
          </a:xfrm>
          <a:prstGeom prst="roundRect">
            <a:avLst>
              <a:gd name="adj" fmla="val 17857"/>
            </a:avLst>
          </a:prstGeom>
          <a:solidFill>
            <a:srgbClr val="F4F8FA"/>
          </a:solidFill>
          <a:ln w="12700">
            <a:solidFill>
              <a:srgbClr val="F4F8FA"/>
            </a:solidFill>
            <a:prstDash val="solid"/>
          </a:ln>
        </p:spPr>
      </p:sp>
      <p:sp>
        <p:nvSpPr>
          <p:cNvPr id="15" name="Text 13"/>
          <p:cNvSpPr txBox="1"/>
          <p:nvPr/>
        </p:nvSpPr>
        <p:spPr>
          <a:xfrm>
            <a:off x="1810512" y="3529584"/>
            <a:ext cx="9326880" cy="283464"/>
          </a:xfrm>
          <a:prstGeom prst="rect">
            <a:avLst/>
          </a:prstGeom>
          <a:noFill/>
          <a:ln/>
        </p:spPr>
        <p:txBody>
          <a:bodyPr wrap="square" lIns="0" tIns="0" rIns="0" bIns="0" rtlCol="0" anchor="ctr"/>
          <a:lstStyle/>
          <a:p>
            <a:pPr algn="l" indent="0" marL="0">
              <a:buNone/>
            </a:pPr>
            <a:r>
              <a:rPr lang="en-US" sz="1600" dirty="0">
                <a:solidFill>
                  <a:srgbClr val="102333"/>
                </a:solidFill>
                <a:latin typeface="Courier New" pitchFamily="34" charset="0"/>
                <a:ea typeface="Courier New" pitchFamily="34" charset="-122"/>
                <a:cs typeface="Courier New" pitchFamily="34" charset="-120"/>
              </a:rPr>
              <a:t>bash pertemuan-5/run_pipeline.sh</a:t>
            </a:r>
            <a:endParaRPr lang="en-US" sz="1600" dirty="0"/>
          </a:p>
        </p:txBody>
      </p:sp>
      <p:sp>
        <p:nvSpPr>
          <p:cNvPr id="16" name="Shape 14"/>
          <p:cNvSpPr/>
          <p:nvPr/>
        </p:nvSpPr>
        <p:spPr>
          <a:xfrm>
            <a:off x="731520" y="4361688"/>
            <a:ext cx="621792" cy="621792"/>
          </a:xfrm>
          <a:prstGeom prst="ellipse">
            <a:avLst/>
          </a:prstGeom>
          <a:solidFill>
            <a:srgbClr val="FA6A60"/>
          </a:solidFill>
          <a:ln w="12700">
            <a:solidFill>
              <a:srgbClr val="FA6A60"/>
            </a:solidFill>
            <a:prstDash val="solid"/>
          </a:ln>
        </p:spPr>
      </p:sp>
      <p:sp>
        <p:nvSpPr>
          <p:cNvPr id="17" name="Text 15"/>
          <p:cNvSpPr txBox="1"/>
          <p:nvPr/>
        </p:nvSpPr>
        <p:spPr>
          <a:xfrm>
            <a:off x="731520" y="4517136"/>
            <a:ext cx="621792" cy="265176"/>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8" name="Text 16"/>
          <p:cNvSpPr txBox="1"/>
          <p:nvPr/>
        </p:nvSpPr>
        <p:spPr>
          <a:xfrm>
            <a:off x="1591056" y="4279392"/>
            <a:ext cx="4023360" cy="329184"/>
          </a:xfrm>
          <a:prstGeom prst="rect">
            <a:avLst/>
          </a:prstGeom>
          <a:noFill/>
          <a:ln/>
        </p:spPr>
        <p:txBody>
          <a:bodyPr wrap="square" lIns="0" tIns="0" rIns="0" bIns="0" rtlCol="0" anchor="ctr"/>
          <a:lstStyle/>
          <a:p>
            <a:pPr algn="l" indent="0" marL="0">
              <a:buNone/>
            </a:pPr>
            <a:r>
              <a:rPr lang="en-US" sz="2200" b="1" dirty="0">
                <a:solidFill>
                  <a:srgbClr val="0C1E2C"/>
                </a:solidFill>
                <a:latin typeface="Arial" pitchFamily="34" charset="0"/>
                <a:ea typeface="Arial" pitchFamily="34" charset="-122"/>
                <a:cs typeface="Arial" pitchFamily="34" charset="-120"/>
              </a:rPr>
              <a:t>Cek hasil akhir</a:t>
            </a:r>
            <a:endParaRPr lang="en-US" sz="2200" dirty="0"/>
          </a:p>
        </p:txBody>
      </p:sp>
      <p:sp>
        <p:nvSpPr>
          <p:cNvPr id="19" name="Shape 17"/>
          <p:cNvSpPr/>
          <p:nvPr/>
        </p:nvSpPr>
        <p:spPr>
          <a:xfrm>
            <a:off x="1572768" y="4754880"/>
            <a:ext cx="9802368" cy="512064"/>
          </a:xfrm>
          <a:prstGeom prst="roundRect">
            <a:avLst>
              <a:gd name="adj" fmla="val 17857"/>
            </a:avLst>
          </a:prstGeom>
          <a:solidFill>
            <a:srgbClr val="F4F8FA"/>
          </a:solidFill>
          <a:ln w="12700">
            <a:solidFill>
              <a:srgbClr val="F4F8FA"/>
            </a:solidFill>
            <a:prstDash val="solid"/>
          </a:ln>
        </p:spPr>
      </p:sp>
      <p:sp>
        <p:nvSpPr>
          <p:cNvPr id="20" name="Text 18"/>
          <p:cNvSpPr txBox="1"/>
          <p:nvPr/>
        </p:nvSpPr>
        <p:spPr>
          <a:xfrm>
            <a:off x="1810512" y="4864608"/>
            <a:ext cx="9326880" cy="283464"/>
          </a:xfrm>
          <a:prstGeom prst="rect">
            <a:avLst/>
          </a:prstGeom>
          <a:noFill/>
          <a:ln/>
        </p:spPr>
        <p:txBody>
          <a:bodyPr wrap="square" lIns="0" tIns="0" rIns="0" bIns="0" rtlCol="0" anchor="ctr"/>
          <a:lstStyle/>
          <a:p>
            <a:pPr algn="l" indent="0" marL="0">
              <a:buNone/>
            </a:pPr>
            <a:r>
              <a:rPr lang="en-US" sz="1700" dirty="0">
                <a:solidFill>
                  <a:srgbClr val="102333"/>
                </a:solidFill>
                <a:latin typeface="Courier New" pitchFamily="34" charset="0"/>
                <a:ea typeface="Courier New" pitchFamily="34" charset="-122"/>
                <a:cs typeface="Courier New" pitchFamily="34" charset="-120"/>
              </a:rPr>
              <a:t>SELECT count() FROM datamart.mart_daily_orders</a:t>
            </a:r>
            <a:endParaRPr lang="en-US" sz="1700" dirty="0"/>
          </a:p>
        </p:txBody>
      </p:sp>
      <p:sp>
        <p:nvSpPr>
          <p:cNvPr id="21" name="Shape 19"/>
          <p:cNvSpPr/>
          <p:nvPr/>
        </p:nvSpPr>
        <p:spPr>
          <a:xfrm>
            <a:off x="3099816" y="5815584"/>
            <a:ext cx="5998464" cy="338328"/>
          </a:xfrm>
          <a:prstGeom prst="roundRect">
            <a:avLst>
              <a:gd name="adj" fmla="val 40541"/>
            </a:avLst>
          </a:prstGeom>
          <a:solidFill>
            <a:srgbClr val="E3F5EA"/>
          </a:solidFill>
          <a:ln w="12700">
            <a:solidFill>
              <a:srgbClr val="E3F5EA"/>
            </a:solidFill>
            <a:prstDash val="solid"/>
          </a:ln>
        </p:spPr>
      </p:sp>
      <p:sp>
        <p:nvSpPr>
          <p:cNvPr id="22" name="Text 20"/>
          <p:cNvSpPr txBox="1"/>
          <p:nvPr/>
        </p:nvSpPr>
        <p:spPr>
          <a:xfrm>
            <a:off x="3191256" y="5865876"/>
            <a:ext cx="5815584" cy="219456"/>
          </a:xfrm>
          <a:prstGeom prst="rect">
            <a:avLst/>
          </a:prstGeom>
          <a:noFill/>
          <a:ln/>
        </p:spPr>
        <p:txBody>
          <a:bodyPr wrap="square" lIns="0" tIns="0" rIns="0" bIns="0" rtlCol="0" anchor="ctr"/>
          <a:lstStyle/>
          <a:p>
            <a:pPr algn="ctr" indent="0" marL="0">
              <a:buNone/>
            </a:pPr>
            <a:r>
              <a:rPr lang="en-US" sz="1500" b="1" dirty="0">
                <a:solidFill>
                  <a:srgbClr val="17865D"/>
                </a:solidFill>
                <a:latin typeface="Arial" pitchFamily="34" charset="0"/>
                <a:ea typeface="Arial" pitchFamily="34" charset="-122"/>
                <a:cs typeface="Arial" pitchFamily="34" charset="-120"/>
              </a:rPr>
              <a:t>Hasil verifikasi: jumlah baris &gt; 0</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365760"/>
            <a:ext cx="10972800" cy="502920"/>
          </a:xfrm>
          <a:prstGeom prst="rect">
            <a:avLst/>
          </a:prstGeom>
          <a:noFill/>
          <a:ln/>
        </p:spPr>
        <p:txBody>
          <a:bodyPr wrap="square" lIns="0" tIns="0" rIns="0" bIns="0" rtlCol="0" anchor="ctr"/>
          <a:lstStyle/>
          <a:p>
            <a:pPr algn="l" indent="0" marL="0">
              <a:buNone/>
            </a:pPr>
            <a:r>
              <a:rPr lang="en-US" sz="3000" b="1" dirty="0">
                <a:solidFill>
                  <a:srgbClr val="0C1E2C"/>
                </a:solidFill>
                <a:latin typeface="Arial" pitchFamily="34" charset="0"/>
                <a:ea typeface="Arial" pitchFamily="34" charset="-122"/>
                <a:cs typeface="Arial" pitchFamily="34" charset="-120"/>
              </a:rPr>
              <a:t>Demo 2: jalankan satu orchestrator</a:t>
            </a:r>
            <a:endParaRPr lang="en-US" sz="3000" dirty="0"/>
          </a:p>
        </p:txBody>
      </p:sp>
      <p:sp>
        <p:nvSpPr>
          <p:cNvPr id="3" name="Text 1"/>
          <p:cNvSpPr txBox="1"/>
          <p:nvPr/>
        </p:nvSpPr>
        <p:spPr>
          <a:xfrm>
            <a:off x="640080" y="941832"/>
            <a:ext cx="10881360" cy="320040"/>
          </a:xfrm>
          <a:prstGeom prst="rect">
            <a:avLst/>
          </a:prstGeom>
          <a:noFill/>
          <a:ln/>
        </p:spPr>
        <p:txBody>
          <a:bodyPr wrap="square" lIns="0" tIns="0" rIns="0" bIns="0" rtlCol="0" anchor="ctr"/>
          <a:lstStyle/>
          <a:p>
            <a:pPr algn="l" indent="0" marL="0">
              <a:buNone/>
            </a:pPr>
            <a:r>
              <a:rPr lang="en-US" sz="1500" dirty="0">
                <a:solidFill>
                  <a:srgbClr val="526B79"/>
                </a:solidFill>
                <a:latin typeface="Arial" pitchFamily="34" charset="0"/>
                <a:ea typeface="Arial" pitchFamily="34" charset="-122"/>
                <a:cs typeface="Arial" pitchFamily="34" charset="-120"/>
              </a:rPr>
              <a:t>Praktikkan satu tool, baca hasilnya, lalu matikan sebelum berpindah ke tool lain.</a:t>
            </a:r>
            <a:endParaRPr lang="en-US" sz="1500" dirty="0"/>
          </a:p>
        </p:txBody>
      </p:sp>
      <p:sp>
        <p:nvSpPr>
          <p:cNvPr id="4" name="Text 2"/>
          <p:cNvSpPr txBox="1"/>
          <p:nvPr/>
        </p:nvSpPr>
        <p:spPr>
          <a:xfrm>
            <a:off x="640080" y="6565392"/>
            <a:ext cx="5486400" cy="146304"/>
          </a:xfrm>
          <a:prstGeom prst="rect">
            <a:avLst/>
          </a:prstGeom>
          <a:noFill/>
          <a:ln/>
        </p:spPr>
        <p:txBody>
          <a:bodyPr wrap="square" lIns="0" tIns="0" rIns="0" bIns="0" rtlCol="0" anchor="ctr"/>
          <a:lstStyle/>
          <a:p>
            <a:pPr algn="l" indent="0" marL="0">
              <a:buNone/>
            </a:pPr>
            <a:r>
              <a:rPr lang="en-US" sz="900" b="1" dirty="0">
                <a:solidFill>
                  <a:srgbClr val="526B79"/>
                </a:solidFill>
                <a:latin typeface="Arial" pitchFamily="34" charset="0"/>
                <a:ea typeface="Arial" pitchFamily="34" charset="-122"/>
                <a:cs typeface="Arial" pitchFamily="34" charset="-120"/>
              </a:rPr>
              <a:t>PERTEMUAN 6  /  DATA ENGINEERING</a:t>
            </a:r>
            <a:endParaRPr lang="en-US" sz="900" dirty="0"/>
          </a:p>
        </p:txBody>
      </p:sp>
      <p:sp>
        <p:nvSpPr>
          <p:cNvPr id="5" name="Text 3"/>
          <p:cNvSpPr txBox="1"/>
          <p:nvPr/>
        </p:nvSpPr>
        <p:spPr>
          <a:xfrm>
            <a:off x="11155680" y="6519672"/>
            <a:ext cx="438912" cy="182880"/>
          </a:xfrm>
          <a:prstGeom prst="rect">
            <a:avLst/>
          </a:prstGeom>
          <a:noFill/>
          <a:ln/>
        </p:spPr>
        <p:txBody>
          <a:bodyPr wrap="square" lIns="0" tIns="0" rIns="0" bIns="0" rtlCol="0" anchor="ctr"/>
          <a:lstStyle/>
          <a:p>
            <a:pPr algn="r" indent="0" marL="0">
              <a:buNone/>
            </a:pPr>
            <a:r>
              <a:rPr lang="en-US" sz="1000" dirty="0">
                <a:solidFill>
                  <a:srgbClr val="526B79"/>
                </a:solidFill>
                <a:latin typeface="Arial" pitchFamily="34" charset="0"/>
                <a:ea typeface="Arial" pitchFamily="34" charset="-122"/>
                <a:cs typeface="Arial" pitchFamily="34" charset="-120"/>
              </a:rPr>
              <a:t>15</a:t>
            </a:r>
            <a:endParaRPr lang="en-US" sz="1000" dirty="0"/>
          </a:p>
        </p:txBody>
      </p:sp>
      <p:sp>
        <p:nvSpPr>
          <p:cNvPr id="6" name="Shape 4"/>
          <p:cNvSpPr/>
          <p:nvPr/>
        </p:nvSpPr>
        <p:spPr>
          <a:xfrm>
            <a:off x="676656" y="1627632"/>
            <a:ext cx="3474720" cy="3566160"/>
          </a:xfrm>
          <a:prstGeom prst="roundRect">
            <a:avLst>
              <a:gd name="adj" fmla="val 2632"/>
            </a:avLst>
          </a:prstGeom>
          <a:solidFill>
            <a:srgbClr val="DDF5F3"/>
          </a:solidFill>
          <a:ln w="12700">
            <a:solidFill>
              <a:srgbClr val="DDF5F3"/>
            </a:solidFill>
            <a:prstDash val="solid"/>
          </a:ln>
        </p:spPr>
      </p:sp>
      <p:sp>
        <p:nvSpPr>
          <p:cNvPr id="7" name="Text 5"/>
          <p:cNvSpPr txBox="1"/>
          <p:nvPr/>
        </p:nvSpPr>
        <p:spPr>
          <a:xfrm>
            <a:off x="914400" y="1901952"/>
            <a:ext cx="2999232" cy="356616"/>
          </a:xfrm>
          <a:prstGeom prst="rect">
            <a:avLst/>
          </a:prstGeom>
          <a:noFill/>
          <a:ln/>
        </p:spPr>
        <p:txBody>
          <a:bodyPr wrap="square" lIns="0" tIns="0" rIns="0" bIns="0" rtlCol="0" anchor="ctr"/>
          <a:lstStyle/>
          <a:p>
            <a:pPr algn="l" indent="0" marL="0">
              <a:buNone/>
            </a:pPr>
            <a:r>
              <a:rPr lang="en-US" sz="2300" b="1" dirty="0">
                <a:solidFill>
                  <a:srgbClr val="00A7A4"/>
                </a:solidFill>
                <a:latin typeface="Arial" pitchFamily="34" charset="0"/>
                <a:ea typeface="Arial" pitchFamily="34" charset="-122"/>
                <a:cs typeface="Arial" pitchFamily="34" charset="-120"/>
              </a:rPr>
              <a:t>Dagster</a:t>
            </a:r>
            <a:endParaRPr lang="en-US" sz="2300" dirty="0"/>
          </a:p>
        </p:txBody>
      </p:sp>
      <p:sp>
        <p:nvSpPr>
          <p:cNvPr id="8" name="Text 6"/>
          <p:cNvSpPr txBox="1"/>
          <p:nvPr/>
        </p:nvSpPr>
        <p:spPr>
          <a:xfrm>
            <a:off x="914400" y="2487168"/>
            <a:ext cx="2999232" cy="228600"/>
          </a:xfrm>
          <a:prstGeom prst="rect">
            <a:avLst/>
          </a:prstGeom>
          <a:noFill/>
          <a:ln/>
        </p:spPr>
        <p:txBody>
          <a:bodyPr wrap="square" lIns="0" tIns="0" rIns="0" bIns="0" rtlCol="0" anchor="ctr"/>
          <a:lstStyle/>
          <a:p>
            <a:pPr algn="l" indent="0" marL="0">
              <a:buNone/>
            </a:pPr>
            <a:r>
              <a:rPr lang="en-US" sz="1500" dirty="0">
                <a:solidFill>
                  <a:srgbClr val="102333"/>
                </a:solidFill>
                <a:latin typeface="Courier New" pitchFamily="34" charset="0"/>
                <a:ea typeface="Courier New" pitchFamily="34" charset="-122"/>
                <a:cs typeface="Courier New" pitchFamily="34" charset="-120"/>
              </a:rPr>
              <a:t>localhost:3000</a:t>
            </a:r>
            <a:endParaRPr lang="en-US" sz="1500" dirty="0"/>
          </a:p>
        </p:txBody>
      </p:sp>
      <p:sp>
        <p:nvSpPr>
          <p:cNvPr id="9" name="Text 7"/>
          <p:cNvSpPr txBox="1"/>
          <p:nvPr/>
        </p:nvSpPr>
        <p:spPr>
          <a:xfrm>
            <a:off x="914400" y="2971800"/>
            <a:ext cx="2999232" cy="521208"/>
          </a:xfrm>
          <a:prstGeom prst="rect">
            <a:avLst/>
          </a:prstGeom>
          <a:noFill/>
          <a:ln/>
        </p:spPr>
        <p:txBody>
          <a:bodyPr wrap="square" lIns="0" tIns="0" rIns="0" bIns="0" rtlCol="0" anchor="t"/>
          <a:lstStyle/>
          <a:p>
            <a:pPr algn="l" indent="0" marL="0">
              <a:buNone/>
            </a:pPr>
            <a:r>
              <a:rPr lang="en-US" sz="2000" b="1" dirty="0">
                <a:solidFill>
                  <a:srgbClr val="0C1E2C"/>
                </a:solidFill>
                <a:latin typeface="Arial" pitchFamily="34" charset="0"/>
                <a:ea typeface="Arial" pitchFamily="34" charset="-122"/>
                <a:cs typeface="Arial" pitchFamily="34" charset="-120"/>
              </a:rPr>
              <a:t>Assets → Materialize</a:t>
            </a:r>
            <a:endParaRPr lang="en-US" sz="2000" dirty="0"/>
          </a:p>
        </p:txBody>
      </p:sp>
      <p:sp>
        <p:nvSpPr>
          <p:cNvPr id="10" name="Shape 8"/>
          <p:cNvSpPr/>
          <p:nvPr/>
        </p:nvSpPr>
        <p:spPr>
          <a:xfrm>
            <a:off x="877824" y="3941064"/>
            <a:ext cx="3072384" cy="850392"/>
          </a:xfrm>
          <a:prstGeom prst="roundRect">
            <a:avLst>
              <a:gd name="adj" fmla="val 10753"/>
            </a:avLst>
          </a:prstGeom>
          <a:solidFill>
            <a:srgbClr val="FFFFFF"/>
          </a:solidFill>
          <a:ln w="12700">
            <a:solidFill>
              <a:srgbClr val="FFFFFF"/>
            </a:solidFill>
            <a:prstDash val="solid"/>
          </a:ln>
        </p:spPr>
      </p:sp>
      <p:sp>
        <p:nvSpPr>
          <p:cNvPr id="11" name="Text 9"/>
          <p:cNvSpPr txBox="1"/>
          <p:nvPr/>
        </p:nvSpPr>
        <p:spPr>
          <a:xfrm>
            <a:off x="1024128" y="4114800"/>
            <a:ext cx="2779776" cy="493776"/>
          </a:xfrm>
          <a:prstGeom prst="rect">
            <a:avLst/>
          </a:prstGeom>
          <a:noFill/>
          <a:ln/>
        </p:spPr>
        <p:txBody>
          <a:bodyPr wrap="square" lIns="0" tIns="0" rIns="0" bIns="0" rtlCol="0" anchor="t"/>
          <a:lstStyle/>
          <a:p>
            <a:pPr algn="l" indent="0" marL="0">
              <a:buNone/>
            </a:pPr>
            <a:r>
              <a:rPr lang="en-US" sz="1150" dirty="0">
                <a:solidFill>
                  <a:srgbClr val="526B79"/>
                </a:solidFill>
                <a:latin typeface="Courier New" pitchFamily="34" charset="0"/>
                <a:ea typeface="Courier New" pitchFamily="34" charset="-122"/>
                <a:cs typeface="Courier New" pitchFamily="34" charset="-120"/>
              </a:rPr>
              <a:t>docker compose -f pertemuan-6/dagster/docker-compose.yml up --build -d</a:t>
            </a:r>
            <a:endParaRPr lang="en-US" sz="1150" dirty="0"/>
          </a:p>
        </p:txBody>
      </p:sp>
      <p:sp>
        <p:nvSpPr>
          <p:cNvPr id="12" name="Shape 10"/>
          <p:cNvSpPr/>
          <p:nvPr/>
        </p:nvSpPr>
        <p:spPr>
          <a:xfrm>
            <a:off x="4343400" y="1627632"/>
            <a:ext cx="3474720" cy="3566160"/>
          </a:xfrm>
          <a:prstGeom prst="roundRect">
            <a:avLst>
              <a:gd name="adj" fmla="val 2632"/>
            </a:avLst>
          </a:prstGeom>
          <a:solidFill>
            <a:srgbClr val="E7F1FA"/>
          </a:solidFill>
          <a:ln w="12700">
            <a:solidFill>
              <a:srgbClr val="E7F1FA"/>
            </a:solidFill>
            <a:prstDash val="solid"/>
          </a:ln>
        </p:spPr>
      </p:sp>
      <p:sp>
        <p:nvSpPr>
          <p:cNvPr id="13" name="Text 11"/>
          <p:cNvSpPr txBox="1"/>
          <p:nvPr/>
        </p:nvSpPr>
        <p:spPr>
          <a:xfrm>
            <a:off x="4581144" y="1901952"/>
            <a:ext cx="2999232" cy="356616"/>
          </a:xfrm>
          <a:prstGeom prst="rect">
            <a:avLst/>
          </a:prstGeom>
          <a:noFill/>
          <a:ln/>
        </p:spPr>
        <p:txBody>
          <a:bodyPr wrap="square" lIns="0" tIns="0" rIns="0" bIns="0" rtlCol="0" anchor="ctr"/>
          <a:lstStyle/>
          <a:p>
            <a:pPr algn="l" indent="0" marL="0">
              <a:buNone/>
            </a:pPr>
            <a:r>
              <a:rPr lang="en-US" sz="2300" b="1" dirty="0">
                <a:solidFill>
                  <a:srgbClr val="2563A6"/>
                </a:solidFill>
                <a:latin typeface="Arial" pitchFamily="34" charset="0"/>
                <a:ea typeface="Arial" pitchFamily="34" charset="-122"/>
                <a:cs typeface="Arial" pitchFamily="34" charset="-120"/>
              </a:rPr>
              <a:t>Prefect</a:t>
            </a:r>
            <a:endParaRPr lang="en-US" sz="2300" dirty="0"/>
          </a:p>
        </p:txBody>
      </p:sp>
      <p:sp>
        <p:nvSpPr>
          <p:cNvPr id="14" name="Text 12"/>
          <p:cNvSpPr txBox="1"/>
          <p:nvPr/>
        </p:nvSpPr>
        <p:spPr>
          <a:xfrm>
            <a:off x="4581144" y="2487168"/>
            <a:ext cx="2999232" cy="228600"/>
          </a:xfrm>
          <a:prstGeom prst="rect">
            <a:avLst/>
          </a:prstGeom>
          <a:noFill/>
          <a:ln/>
        </p:spPr>
        <p:txBody>
          <a:bodyPr wrap="square" lIns="0" tIns="0" rIns="0" bIns="0" rtlCol="0" anchor="ctr"/>
          <a:lstStyle/>
          <a:p>
            <a:pPr algn="l" indent="0" marL="0">
              <a:buNone/>
            </a:pPr>
            <a:r>
              <a:rPr lang="en-US" sz="1500" dirty="0">
                <a:solidFill>
                  <a:srgbClr val="102333"/>
                </a:solidFill>
                <a:latin typeface="Courier New" pitchFamily="34" charset="0"/>
                <a:ea typeface="Courier New" pitchFamily="34" charset="-122"/>
                <a:cs typeface="Courier New" pitchFamily="34" charset="-120"/>
              </a:rPr>
              <a:t>localhost:4200</a:t>
            </a:r>
            <a:endParaRPr lang="en-US" sz="1500" dirty="0"/>
          </a:p>
        </p:txBody>
      </p:sp>
      <p:sp>
        <p:nvSpPr>
          <p:cNvPr id="15" name="Text 13"/>
          <p:cNvSpPr txBox="1"/>
          <p:nvPr/>
        </p:nvSpPr>
        <p:spPr>
          <a:xfrm>
            <a:off x="4581144" y="2971800"/>
            <a:ext cx="2999232" cy="521208"/>
          </a:xfrm>
          <a:prstGeom prst="rect">
            <a:avLst/>
          </a:prstGeom>
          <a:noFill/>
          <a:ln/>
        </p:spPr>
        <p:txBody>
          <a:bodyPr wrap="square" lIns="0" tIns="0" rIns="0" bIns="0" rtlCol="0" anchor="t"/>
          <a:lstStyle/>
          <a:p>
            <a:pPr algn="l" indent="0" marL="0">
              <a:buNone/>
            </a:pPr>
            <a:r>
              <a:rPr lang="en-US" sz="2000" b="1" dirty="0">
                <a:solidFill>
                  <a:srgbClr val="0C1E2C"/>
                </a:solidFill>
                <a:latin typeface="Arial" pitchFamily="34" charset="0"/>
                <a:ea typeface="Arial" pitchFamily="34" charset="-122"/>
                <a:cs typeface="Arial" pitchFamily="34" charset="-120"/>
              </a:rPr>
              <a:t>Deployment → Run</a:t>
            </a:r>
            <a:endParaRPr lang="en-US" sz="2000" dirty="0"/>
          </a:p>
        </p:txBody>
      </p:sp>
      <p:sp>
        <p:nvSpPr>
          <p:cNvPr id="16" name="Shape 14"/>
          <p:cNvSpPr/>
          <p:nvPr/>
        </p:nvSpPr>
        <p:spPr>
          <a:xfrm>
            <a:off x="4544568" y="3941064"/>
            <a:ext cx="3072384" cy="850392"/>
          </a:xfrm>
          <a:prstGeom prst="roundRect">
            <a:avLst>
              <a:gd name="adj" fmla="val 10753"/>
            </a:avLst>
          </a:prstGeom>
          <a:solidFill>
            <a:srgbClr val="FFFFFF"/>
          </a:solidFill>
          <a:ln w="12700">
            <a:solidFill>
              <a:srgbClr val="FFFFFF"/>
            </a:solidFill>
            <a:prstDash val="solid"/>
          </a:ln>
        </p:spPr>
      </p:sp>
      <p:sp>
        <p:nvSpPr>
          <p:cNvPr id="17" name="Text 15"/>
          <p:cNvSpPr txBox="1"/>
          <p:nvPr/>
        </p:nvSpPr>
        <p:spPr>
          <a:xfrm>
            <a:off x="4690872" y="4114800"/>
            <a:ext cx="2779776" cy="493776"/>
          </a:xfrm>
          <a:prstGeom prst="rect">
            <a:avLst/>
          </a:prstGeom>
          <a:noFill/>
          <a:ln/>
        </p:spPr>
        <p:txBody>
          <a:bodyPr wrap="square" lIns="0" tIns="0" rIns="0" bIns="0" rtlCol="0" anchor="t"/>
          <a:lstStyle/>
          <a:p>
            <a:pPr algn="l" indent="0" marL="0">
              <a:buNone/>
            </a:pPr>
            <a:r>
              <a:rPr lang="en-US" sz="1150" dirty="0">
                <a:solidFill>
                  <a:srgbClr val="526B79"/>
                </a:solidFill>
                <a:latin typeface="Courier New" pitchFamily="34" charset="0"/>
                <a:ea typeface="Courier New" pitchFamily="34" charset="-122"/>
                <a:cs typeface="Courier New" pitchFamily="34" charset="-120"/>
              </a:rPr>
              <a:t>docker compose -f pertemuan-6/prefect/docker-compose.yml up --build -d</a:t>
            </a:r>
            <a:endParaRPr lang="en-US" sz="1150" dirty="0"/>
          </a:p>
        </p:txBody>
      </p:sp>
      <p:sp>
        <p:nvSpPr>
          <p:cNvPr id="18" name="Shape 16"/>
          <p:cNvSpPr/>
          <p:nvPr/>
        </p:nvSpPr>
        <p:spPr>
          <a:xfrm>
            <a:off x="8010144" y="1627632"/>
            <a:ext cx="3474720" cy="3566160"/>
          </a:xfrm>
          <a:prstGeom prst="roundRect">
            <a:avLst>
              <a:gd name="adj" fmla="val 2632"/>
            </a:avLst>
          </a:prstGeom>
          <a:solidFill>
            <a:srgbClr val="FEE8E5"/>
          </a:solidFill>
          <a:ln w="12700">
            <a:solidFill>
              <a:srgbClr val="FEE8E5"/>
            </a:solidFill>
            <a:prstDash val="solid"/>
          </a:ln>
        </p:spPr>
      </p:sp>
      <p:sp>
        <p:nvSpPr>
          <p:cNvPr id="19" name="Text 17"/>
          <p:cNvSpPr txBox="1"/>
          <p:nvPr/>
        </p:nvSpPr>
        <p:spPr>
          <a:xfrm>
            <a:off x="8247888" y="1901952"/>
            <a:ext cx="2999232" cy="356616"/>
          </a:xfrm>
          <a:prstGeom prst="rect">
            <a:avLst/>
          </a:prstGeom>
          <a:noFill/>
          <a:ln/>
        </p:spPr>
        <p:txBody>
          <a:bodyPr wrap="square" lIns="0" tIns="0" rIns="0" bIns="0" rtlCol="0" anchor="ctr"/>
          <a:lstStyle/>
          <a:p>
            <a:pPr algn="l" indent="0" marL="0">
              <a:buNone/>
            </a:pPr>
            <a:r>
              <a:rPr lang="en-US" sz="2300" b="1" dirty="0">
                <a:solidFill>
                  <a:srgbClr val="FA6A60"/>
                </a:solidFill>
                <a:latin typeface="Arial" pitchFamily="34" charset="0"/>
                <a:ea typeface="Arial" pitchFamily="34" charset="-122"/>
                <a:cs typeface="Arial" pitchFamily="34" charset="-120"/>
              </a:rPr>
              <a:t>Kestra</a:t>
            </a:r>
            <a:endParaRPr lang="en-US" sz="2300" dirty="0"/>
          </a:p>
        </p:txBody>
      </p:sp>
      <p:sp>
        <p:nvSpPr>
          <p:cNvPr id="20" name="Text 18"/>
          <p:cNvSpPr txBox="1"/>
          <p:nvPr/>
        </p:nvSpPr>
        <p:spPr>
          <a:xfrm>
            <a:off x="8247888" y="2487168"/>
            <a:ext cx="2999232" cy="228600"/>
          </a:xfrm>
          <a:prstGeom prst="rect">
            <a:avLst/>
          </a:prstGeom>
          <a:noFill/>
          <a:ln/>
        </p:spPr>
        <p:txBody>
          <a:bodyPr wrap="square" lIns="0" tIns="0" rIns="0" bIns="0" rtlCol="0" anchor="ctr"/>
          <a:lstStyle/>
          <a:p>
            <a:pPr algn="l" indent="0" marL="0">
              <a:buNone/>
            </a:pPr>
            <a:r>
              <a:rPr lang="en-US" sz="1500" dirty="0">
                <a:solidFill>
                  <a:srgbClr val="102333"/>
                </a:solidFill>
                <a:latin typeface="Courier New" pitchFamily="34" charset="0"/>
                <a:ea typeface="Courier New" pitchFamily="34" charset="-122"/>
                <a:cs typeface="Courier New" pitchFamily="34" charset="-120"/>
              </a:rPr>
              <a:t>localhost:8080</a:t>
            </a:r>
            <a:endParaRPr lang="en-US" sz="1500" dirty="0"/>
          </a:p>
        </p:txBody>
      </p:sp>
      <p:sp>
        <p:nvSpPr>
          <p:cNvPr id="21" name="Text 19"/>
          <p:cNvSpPr txBox="1"/>
          <p:nvPr/>
        </p:nvSpPr>
        <p:spPr>
          <a:xfrm>
            <a:off x="8247888" y="2971800"/>
            <a:ext cx="2999232" cy="521208"/>
          </a:xfrm>
          <a:prstGeom prst="rect">
            <a:avLst/>
          </a:prstGeom>
          <a:noFill/>
          <a:ln/>
        </p:spPr>
        <p:txBody>
          <a:bodyPr wrap="square" lIns="0" tIns="0" rIns="0" bIns="0" rtlCol="0" anchor="t"/>
          <a:lstStyle/>
          <a:p>
            <a:pPr algn="l" indent="0" marL="0">
              <a:buNone/>
            </a:pPr>
            <a:r>
              <a:rPr lang="en-US" sz="2000" b="1" dirty="0">
                <a:solidFill>
                  <a:srgbClr val="0C1E2C"/>
                </a:solidFill>
                <a:latin typeface="Arial" pitchFamily="34" charset="0"/>
                <a:ea typeface="Arial" pitchFamily="34" charset="-122"/>
                <a:cs typeface="Arial" pitchFamily="34" charset="-120"/>
              </a:rPr>
              <a:t>Import YAML → Execute</a:t>
            </a:r>
            <a:endParaRPr lang="en-US" sz="2000" dirty="0"/>
          </a:p>
        </p:txBody>
      </p:sp>
      <p:sp>
        <p:nvSpPr>
          <p:cNvPr id="22" name="Shape 20"/>
          <p:cNvSpPr/>
          <p:nvPr/>
        </p:nvSpPr>
        <p:spPr>
          <a:xfrm>
            <a:off x="8211312" y="3941064"/>
            <a:ext cx="3072384" cy="850392"/>
          </a:xfrm>
          <a:prstGeom prst="roundRect">
            <a:avLst>
              <a:gd name="adj" fmla="val 10753"/>
            </a:avLst>
          </a:prstGeom>
          <a:solidFill>
            <a:srgbClr val="FFFFFF"/>
          </a:solidFill>
          <a:ln w="12700">
            <a:solidFill>
              <a:srgbClr val="FFFFFF"/>
            </a:solidFill>
            <a:prstDash val="solid"/>
          </a:ln>
        </p:spPr>
      </p:sp>
      <p:sp>
        <p:nvSpPr>
          <p:cNvPr id="23" name="Text 21"/>
          <p:cNvSpPr txBox="1"/>
          <p:nvPr/>
        </p:nvSpPr>
        <p:spPr>
          <a:xfrm>
            <a:off x="8357616" y="4114800"/>
            <a:ext cx="2779776" cy="493776"/>
          </a:xfrm>
          <a:prstGeom prst="rect">
            <a:avLst/>
          </a:prstGeom>
          <a:noFill/>
          <a:ln/>
        </p:spPr>
        <p:txBody>
          <a:bodyPr wrap="square" lIns="0" tIns="0" rIns="0" bIns="0" rtlCol="0" anchor="t"/>
          <a:lstStyle/>
          <a:p>
            <a:pPr algn="l" indent="0" marL="0">
              <a:buNone/>
            </a:pPr>
            <a:r>
              <a:rPr lang="en-US" sz="1150" dirty="0">
                <a:solidFill>
                  <a:srgbClr val="526B79"/>
                </a:solidFill>
                <a:latin typeface="Courier New" pitchFamily="34" charset="0"/>
                <a:ea typeface="Courier New" pitchFamily="34" charset="-122"/>
                <a:cs typeface="Courier New" pitchFamily="34" charset="-120"/>
              </a:rPr>
              <a:t>docker compose -f pertemuan-6/kestra/docker-compose.yml up -d</a:t>
            </a:r>
            <a:endParaRPr lang="en-US" sz="1150" dirty="0"/>
          </a:p>
        </p:txBody>
      </p:sp>
      <p:sp>
        <p:nvSpPr>
          <p:cNvPr id="24" name="Text 22"/>
          <p:cNvSpPr txBox="1"/>
          <p:nvPr/>
        </p:nvSpPr>
        <p:spPr>
          <a:xfrm>
            <a:off x="795528" y="5696712"/>
            <a:ext cx="10789920" cy="365760"/>
          </a:xfrm>
          <a:prstGeom prst="rect">
            <a:avLst/>
          </a:prstGeom>
          <a:noFill/>
          <a:ln/>
        </p:spPr>
        <p:txBody>
          <a:bodyPr wrap="square" lIns="0" tIns="0" rIns="0" bIns="0" rtlCol="0" anchor="ctr"/>
          <a:lstStyle/>
          <a:p>
            <a:pPr algn="ctr" indent="0" marL="0">
              <a:buNone/>
            </a:pPr>
            <a:r>
              <a:rPr lang="en-US" sz="1600" dirty="0">
                <a:solidFill>
                  <a:srgbClr val="526B79"/>
                </a:solidFill>
                <a:latin typeface="Arial" pitchFamily="34" charset="0"/>
                <a:ea typeface="Arial" pitchFamily="34" charset="-122"/>
                <a:cs typeface="Arial" pitchFamily="34" charset="-120"/>
              </a:rPr>
              <a:t>Kestra memerlukan build image runner dan import flow; ikuti README Kestra sebelum Execute.</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365760"/>
            <a:ext cx="10972800" cy="502920"/>
          </a:xfrm>
          <a:prstGeom prst="rect">
            <a:avLst/>
          </a:prstGeom>
          <a:noFill/>
          <a:ln/>
        </p:spPr>
        <p:txBody>
          <a:bodyPr wrap="square" lIns="0" tIns="0" rIns="0" bIns="0" rtlCol="0" anchor="ctr"/>
          <a:lstStyle/>
          <a:p>
            <a:pPr algn="l" indent="0" marL="0">
              <a:buNone/>
            </a:pPr>
            <a:r>
              <a:rPr lang="en-US" sz="3000" b="1" dirty="0">
                <a:solidFill>
                  <a:srgbClr val="0C1E2C"/>
                </a:solidFill>
                <a:latin typeface="Arial" pitchFamily="34" charset="0"/>
                <a:ea typeface="Arial" pitchFamily="34" charset="-122"/>
                <a:cs typeface="Arial" pitchFamily="34" charset="-120"/>
              </a:rPr>
              <a:t>Bukti run berhasil</a:t>
            </a:r>
            <a:endParaRPr lang="en-US" sz="3000" dirty="0"/>
          </a:p>
        </p:txBody>
      </p:sp>
      <p:sp>
        <p:nvSpPr>
          <p:cNvPr id="3" name="Text 1"/>
          <p:cNvSpPr txBox="1"/>
          <p:nvPr/>
        </p:nvSpPr>
        <p:spPr>
          <a:xfrm>
            <a:off x="640080" y="941832"/>
            <a:ext cx="10881360" cy="320040"/>
          </a:xfrm>
          <a:prstGeom prst="rect">
            <a:avLst/>
          </a:prstGeom>
          <a:noFill/>
          <a:ln/>
        </p:spPr>
        <p:txBody>
          <a:bodyPr wrap="square" lIns="0" tIns="0" rIns="0" bIns="0" rtlCol="0" anchor="ctr"/>
          <a:lstStyle/>
          <a:p>
            <a:pPr algn="l" indent="0" marL="0">
              <a:buNone/>
            </a:pPr>
            <a:r>
              <a:rPr lang="en-US" sz="1500" dirty="0">
                <a:solidFill>
                  <a:srgbClr val="526B79"/>
                </a:solidFill>
                <a:latin typeface="Arial" pitchFamily="34" charset="0"/>
                <a:ea typeface="Arial" pitchFamily="34" charset="-122"/>
                <a:cs typeface="Arial" pitchFamily="34" charset="-120"/>
              </a:rPr>
              <a:t>Jangan berhenti pada status hijau di UI: cocokkan log dengan data akhir.</a:t>
            </a:r>
            <a:endParaRPr lang="en-US" sz="1500" dirty="0"/>
          </a:p>
        </p:txBody>
      </p:sp>
      <p:sp>
        <p:nvSpPr>
          <p:cNvPr id="4" name="Text 2"/>
          <p:cNvSpPr txBox="1"/>
          <p:nvPr/>
        </p:nvSpPr>
        <p:spPr>
          <a:xfrm>
            <a:off x="640080" y="6565392"/>
            <a:ext cx="5486400" cy="146304"/>
          </a:xfrm>
          <a:prstGeom prst="rect">
            <a:avLst/>
          </a:prstGeom>
          <a:noFill/>
          <a:ln/>
        </p:spPr>
        <p:txBody>
          <a:bodyPr wrap="square" lIns="0" tIns="0" rIns="0" bIns="0" rtlCol="0" anchor="ctr"/>
          <a:lstStyle/>
          <a:p>
            <a:pPr algn="l" indent="0" marL="0">
              <a:buNone/>
            </a:pPr>
            <a:r>
              <a:rPr lang="en-US" sz="900" b="1" dirty="0">
                <a:solidFill>
                  <a:srgbClr val="526B79"/>
                </a:solidFill>
                <a:latin typeface="Arial" pitchFamily="34" charset="0"/>
                <a:ea typeface="Arial" pitchFamily="34" charset="-122"/>
                <a:cs typeface="Arial" pitchFamily="34" charset="-120"/>
              </a:rPr>
              <a:t>PERTEMUAN 6  /  DATA ENGINEERING</a:t>
            </a:r>
            <a:endParaRPr lang="en-US" sz="900" dirty="0"/>
          </a:p>
        </p:txBody>
      </p:sp>
      <p:sp>
        <p:nvSpPr>
          <p:cNvPr id="5" name="Text 3"/>
          <p:cNvSpPr txBox="1"/>
          <p:nvPr/>
        </p:nvSpPr>
        <p:spPr>
          <a:xfrm>
            <a:off x="11155680" y="6519672"/>
            <a:ext cx="438912" cy="182880"/>
          </a:xfrm>
          <a:prstGeom prst="rect">
            <a:avLst/>
          </a:prstGeom>
          <a:noFill/>
          <a:ln/>
        </p:spPr>
        <p:txBody>
          <a:bodyPr wrap="square" lIns="0" tIns="0" rIns="0" bIns="0" rtlCol="0" anchor="ctr"/>
          <a:lstStyle/>
          <a:p>
            <a:pPr algn="r" indent="0" marL="0">
              <a:buNone/>
            </a:pPr>
            <a:r>
              <a:rPr lang="en-US" sz="1000" dirty="0">
                <a:solidFill>
                  <a:srgbClr val="526B79"/>
                </a:solidFill>
                <a:latin typeface="Arial" pitchFamily="34" charset="0"/>
                <a:ea typeface="Arial" pitchFamily="34" charset="-122"/>
                <a:cs typeface="Arial" pitchFamily="34" charset="-120"/>
              </a:rPr>
              <a:t>16</a:t>
            </a:r>
            <a:endParaRPr lang="en-US" sz="1000" dirty="0"/>
          </a:p>
        </p:txBody>
      </p:sp>
      <p:sp>
        <p:nvSpPr>
          <p:cNvPr id="6" name="Shape 4"/>
          <p:cNvSpPr/>
          <p:nvPr/>
        </p:nvSpPr>
        <p:spPr>
          <a:xfrm>
            <a:off x="694944" y="1609344"/>
            <a:ext cx="3456432" cy="3127248"/>
          </a:xfrm>
          <a:prstGeom prst="roundRect">
            <a:avLst>
              <a:gd name="adj" fmla="val 2924"/>
            </a:avLst>
          </a:prstGeom>
          <a:solidFill>
            <a:srgbClr val="DDF5F3"/>
          </a:solidFill>
          <a:ln w="12700">
            <a:solidFill>
              <a:srgbClr val="DDF5F3"/>
            </a:solidFill>
            <a:prstDash val="solid"/>
          </a:ln>
        </p:spPr>
      </p:sp>
      <p:sp>
        <p:nvSpPr>
          <p:cNvPr id="7" name="Shape 5"/>
          <p:cNvSpPr/>
          <p:nvPr/>
        </p:nvSpPr>
        <p:spPr>
          <a:xfrm>
            <a:off x="914400" y="1828800"/>
            <a:ext cx="347472" cy="347472"/>
          </a:xfrm>
          <a:prstGeom prst="ellipse">
            <a:avLst/>
          </a:prstGeom>
          <a:solidFill>
            <a:srgbClr val="00A7A4"/>
          </a:solidFill>
          <a:ln w="12700">
            <a:solidFill>
              <a:srgbClr val="00A7A4"/>
            </a:solidFill>
            <a:prstDash val="solid"/>
          </a:ln>
        </p:spPr>
      </p:sp>
      <p:sp>
        <p:nvSpPr>
          <p:cNvPr id="8" name="Text 6"/>
          <p:cNvSpPr txBox="1"/>
          <p:nvPr/>
        </p:nvSpPr>
        <p:spPr>
          <a:xfrm>
            <a:off x="1389888" y="1819656"/>
            <a:ext cx="2523744" cy="347472"/>
          </a:xfrm>
          <a:prstGeom prst="rect">
            <a:avLst/>
          </a:prstGeom>
          <a:noFill/>
          <a:ln/>
        </p:spPr>
        <p:txBody>
          <a:bodyPr wrap="square" lIns="0" tIns="0" rIns="0" bIns="0" rtlCol="0" anchor="ctr"/>
          <a:lstStyle/>
          <a:p>
            <a:pPr algn="l" indent="0" marL="0">
              <a:buNone/>
            </a:pPr>
            <a:r>
              <a:rPr lang="en-US" sz="1900" b="1" dirty="0">
                <a:solidFill>
                  <a:srgbClr val="102333"/>
                </a:solidFill>
                <a:latin typeface="Arial" pitchFamily="34" charset="0"/>
                <a:ea typeface="Arial" pitchFamily="34" charset="-122"/>
                <a:cs typeface="Arial" pitchFamily="34" charset="-120"/>
              </a:rPr>
              <a:t>Status run</a:t>
            </a:r>
            <a:endParaRPr lang="en-US" sz="1900" dirty="0"/>
          </a:p>
        </p:txBody>
      </p:sp>
      <p:sp>
        <p:nvSpPr>
          <p:cNvPr id="9" name="Text 7"/>
          <p:cNvSpPr txBox="1"/>
          <p:nvPr/>
        </p:nvSpPr>
        <p:spPr>
          <a:xfrm>
            <a:off x="950976" y="2377440"/>
            <a:ext cx="2944368" cy="2194560"/>
          </a:xfrm>
          <a:prstGeom prst="rect">
            <a:avLst/>
          </a:prstGeom>
          <a:noFill/>
          <a:ln/>
        </p:spPr>
        <p:txBody>
          <a:bodyPr wrap="square" lIns="0" tIns="0" rIns="0" bIns="0" rtlCol="0" anchor="t"/>
          <a:lstStyle/>
          <a:p>
            <a:pPr algn="l" indent="0" marL="0">
              <a:buNone/>
            </a:pPr>
            <a:r>
              <a:rPr lang="en-US" sz="1700" dirty="0">
                <a:solidFill>
                  <a:srgbClr val="526B79"/>
                </a:solidFill>
                <a:latin typeface="Arial" pitchFamily="34" charset="0"/>
                <a:ea typeface="Arial" pitchFamily="34" charset="-122"/>
                <a:cs typeface="Arial" pitchFamily="34" charset="-120"/>
              </a:rPr>
              <a:t>UI menunjukkan Succeeded / Completed / Success sesuai tool.</a:t>
            </a:r>
            <a:endParaRPr lang="en-US" sz="1700" dirty="0"/>
          </a:p>
        </p:txBody>
      </p:sp>
      <p:sp>
        <p:nvSpPr>
          <p:cNvPr id="10" name="Shape 8"/>
          <p:cNvSpPr/>
          <p:nvPr/>
        </p:nvSpPr>
        <p:spPr>
          <a:xfrm>
            <a:off x="4352544" y="1609344"/>
            <a:ext cx="3456432" cy="3127248"/>
          </a:xfrm>
          <a:prstGeom prst="roundRect">
            <a:avLst>
              <a:gd name="adj" fmla="val 2924"/>
            </a:avLst>
          </a:prstGeom>
          <a:solidFill>
            <a:srgbClr val="E7F1FA"/>
          </a:solidFill>
          <a:ln w="12700">
            <a:solidFill>
              <a:srgbClr val="E7F1FA"/>
            </a:solidFill>
            <a:prstDash val="solid"/>
          </a:ln>
        </p:spPr>
      </p:sp>
      <p:sp>
        <p:nvSpPr>
          <p:cNvPr id="11" name="Shape 9"/>
          <p:cNvSpPr/>
          <p:nvPr/>
        </p:nvSpPr>
        <p:spPr>
          <a:xfrm>
            <a:off x="4572000" y="1828800"/>
            <a:ext cx="347472" cy="347472"/>
          </a:xfrm>
          <a:prstGeom prst="ellipse">
            <a:avLst/>
          </a:prstGeom>
          <a:solidFill>
            <a:srgbClr val="2563A6"/>
          </a:solidFill>
          <a:ln w="12700">
            <a:solidFill>
              <a:srgbClr val="2563A6"/>
            </a:solidFill>
            <a:prstDash val="solid"/>
          </a:ln>
        </p:spPr>
      </p:sp>
      <p:sp>
        <p:nvSpPr>
          <p:cNvPr id="12" name="Text 10"/>
          <p:cNvSpPr txBox="1"/>
          <p:nvPr/>
        </p:nvSpPr>
        <p:spPr>
          <a:xfrm>
            <a:off x="5047488" y="1819656"/>
            <a:ext cx="2523744" cy="347472"/>
          </a:xfrm>
          <a:prstGeom prst="rect">
            <a:avLst/>
          </a:prstGeom>
          <a:noFill/>
          <a:ln/>
        </p:spPr>
        <p:txBody>
          <a:bodyPr wrap="square" lIns="0" tIns="0" rIns="0" bIns="0" rtlCol="0" anchor="ctr"/>
          <a:lstStyle/>
          <a:p>
            <a:pPr algn="l" indent="0" marL="0">
              <a:buNone/>
            </a:pPr>
            <a:r>
              <a:rPr lang="en-US" sz="1900" b="1" dirty="0">
                <a:solidFill>
                  <a:srgbClr val="102333"/>
                </a:solidFill>
                <a:latin typeface="Arial" pitchFamily="34" charset="0"/>
                <a:ea typeface="Arial" pitchFamily="34" charset="-122"/>
                <a:cs typeface="Arial" pitchFamily="34" charset="-120"/>
              </a:rPr>
              <a:t>Log pipeline</a:t>
            </a:r>
            <a:endParaRPr lang="en-US" sz="1900" dirty="0"/>
          </a:p>
        </p:txBody>
      </p:sp>
      <p:sp>
        <p:nvSpPr>
          <p:cNvPr id="13" name="Text 11"/>
          <p:cNvSpPr txBox="1"/>
          <p:nvPr/>
        </p:nvSpPr>
        <p:spPr>
          <a:xfrm>
            <a:off x="4608576" y="2377440"/>
            <a:ext cx="2944368" cy="2194560"/>
          </a:xfrm>
          <a:prstGeom prst="rect">
            <a:avLst/>
          </a:prstGeom>
          <a:noFill/>
          <a:ln/>
        </p:spPr>
        <p:txBody>
          <a:bodyPr wrap="square" lIns="0" tIns="0" rIns="0" bIns="0" rtlCol="0" anchor="t"/>
          <a:lstStyle/>
          <a:p>
            <a:pPr algn="l" indent="0" marL="0">
              <a:buNone/>
            </a:pPr>
            <a:r>
              <a:rPr lang="en-US" sz="1700" dirty="0">
                <a:solidFill>
                  <a:srgbClr val="526B79"/>
                </a:solidFill>
                <a:latin typeface="Arial" pitchFamily="34" charset="0"/>
                <a:ea typeface="Arial" pitchFamily="34" charset="-122"/>
                <a:cs typeface="Arial" pitchFamily="34" charset="-120"/>
              </a:rPr>
              <a:t>Terlihat etl_orders.py, dbt run, dbt test, dan VERIFIKASI BERHASIL.</a:t>
            </a:r>
            <a:endParaRPr lang="en-US" sz="1700" dirty="0"/>
          </a:p>
        </p:txBody>
      </p:sp>
      <p:sp>
        <p:nvSpPr>
          <p:cNvPr id="14" name="Shape 12"/>
          <p:cNvSpPr/>
          <p:nvPr/>
        </p:nvSpPr>
        <p:spPr>
          <a:xfrm>
            <a:off x="8010144" y="1609344"/>
            <a:ext cx="3456432" cy="3127248"/>
          </a:xfrm>
          <a:prstGeom prst="roundRect">
            <a:avLst>
              <a:gd name="adj" fmla="val 2924"/>
            </a:avLst>
          </a:prstGeom>
          <a:solidFill>
            <a:srgbClr val="E3F5EA"/>
          </a:solidFill>
          <a:ln w="12700">
            <a:solidFill>
              <a:srgbClr val="E3F5EA"/>
            </a:solidFill>
            <a:prstDash val="solid"/>
          </a:ln>
        </p:spPr>
      </p:sp>
      <p:sp>
        <p:nvSpPr>
          <p:cNvPr id="15" name="Shape 13"/>
          <p:cNvSpPr/>
          <p:nvPr/>
        </p:nvSpPr>
        <p:spPr>
          <a:xfrm>
            <a:off x="8229600" y="1828800"/>
            <a:ext cx="347472" cy="347472"/>
          </a:xfrm>
          <a:prstGeom prst="ellipse">
            <a:avLst/>
          </a:prstGeom>
          <a:solidFill>
            <a:srgbClr val="17865D"/>
          </a:solidFill>
          <a:ln w="12700">
            <a:solidFill>
              <a:srgbClr val="17865D"/>
            </a:solidFill>
            <a:prstDash val="solid"/>
          </a:ln>
        </p:spPr>
      </p:sp>
      <p:sp>
        <p:nvSpPr>
          <p:cNvPr id="16" name="Text 14"/>
          <p:cNvSpPr txBox="1"/>
          <p:nvPr/>
        </p:nvSpPr>
        <p:spPr>
          <a:xfrm>
            <a:off x="8705088" y="1819656"/>
            <a:ext cx="2523744" cy="347472"/>
          </a:xfrm>
          <a:prstGeom prst="rect">
            <a:avLst/>
          </a:prstGeom>
          <a:noFill/>
          <a:ln/>
        </p:spPr>
        <p:txBody>
          <a:bodyPr wrap="square" lIns="0" tIns="0" rIns="0" bIns="0" rtlCol="0" anchor="ctr"/>
          <a:lstStyle/>
          <a:p>
            <a:pPr algn="l" indent="0" marL="0">
              <a:buNone/>
            </a:pPr>
            <a:r>
              <a:rPr lang="en-US" sz="1900" b="1" dirty="0">
                <a:solidFill>
                  <a:srgbClr val="102333"/>
                </a:solidFill>
                <a:latin typeface="Arial" pitchFamily="34" charset="0"/>
                <a:ea typeface="Arial" pitchFamily="34" charset="-122"/>
                <a:cs typeface="Arial" pitchFamily="34" charset="-120"/>
              </a:rPr>
              <a:t>Hasil data</a:t>
            </a:r>
            <a:endParaRPr lang="en-US" sz="1900" dirty="0"/>
          </a:p>
        </p:txBody>
      </p:sp>
      <p:sp>
        <p:nvSpPr>
          <p:cNvPr id="17" name="Text 15"/>
          <p:cNvSpPr txBox="1"/>
          <p:nvPr/>
        </p:nvSpPr>
        <p:spPr>
          <a:xfrm>
            <a:off x="8266176" y="2377440"/>
            <a:ext cx="2944368" cy="2194560"/>
          </a:xfrm>
          <a:prstGeom prst="rect">
            <a:avLst/>
          </a:prstGeom>
          <a:noFill/>
          <a:ln/>
        </p:spPr>
        <p:txBody>
          <a:bodyPr wrap="square" lIns="0" tIns="0" rIns="0" bIns="0" rtlCol="0" anchor="t"/>
          <a:lstStyle/>
          <a:p>
            <a:pPr algn="l" indent="0" marL="0">
              <a:buNone/>
            </a:pPr>
            <a:r>
              <a:rPr lang="en-US" sz="1700" dirty="0">
                <a:solidFill>
                  <a:srgbClr val="526B79"/>
                </a:solidFill>
                <a:latin typeface="Arial" pitchFamily="34" charset="0"/>
                <a:ea typeface="Arial" pitchFamily="34" charset="-122"/>
                <a:cs typeface="Arial" pitchFamily="34" charset="-120"/>
              </a:rPr>
              <a:t>Query datamart.mart_daily_orders menghasilkan count lebih dari nol.</a:t>
            </a:r>
            <a:endParaRPr lang="en-US" sz="1700" dirty="0"/>
          </a:p>
        </p:txBody>
      </p:sp>
      <p:sp>
        <p:nvSpPr>
          <p:cNvPr id="18" name="Shape 16"/>
          <p:cNvSpPr/>
          <p:nvPr/>
        </p:nvSpPr>
        <p:spPr>
          <a:xfrm>
            <a:off x="1124712" y="5202936"/>
            <a:ext cx="9948672" cy="557784"/>
          </a:xfrm>
          <a:prstGeom prst="roundRect">
            <a:avLst>
              <a:gd name="adj" fmla="val 16393"/>
            </a:avLst>
          </a:prstGeom>
          <a:solidFill>
            <a:srgbClr val="0C1E2C"/>
          </a:solidFill>
          <a:ln w="12700">
            <a:solidFill>
              <a:srgbClr val="0C1E2C"/>
            </a:solidFill>
            <a:prstDash val="solid"/>
          </a:ln>
        </p:spPr>
      </p:sp>
      <p:sp>
        <p:nvSpPr>
          <p:cNvPr id="19" name="Text 17"/>
          <p:cNvSpPr txBox="1"/>
          <p:nvPr/>
        </p:nvSpPr>
        <p:spPr>
          <a:xfrm>
            <a:off x="1353312" y="5340096"/>
            <a:ext cx="9491472" cy="28346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Bukti akhir = status + log + data</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365760"/>
            <a:ext cx="10972800" cy="502920"/>
          </a:xfrm>
          <a:prstGeom prst="rect">
            <a:avLst/>
          </a:prstGeom>
          <a:noFill/>
          <a:ln/>
        </p:spPr>
        <p:txBody>
          <a:bodyPr wrap="square" lIns="0" tIns="0" rIns="0" bIns="0" rtlCol="0" anchor="ctr"/>
          <a:lstStyle/>
          <a:p>
            <a:pPr algn="l" indent="0" marL="0">
              <a:buNone/>
            </a:pPr>
            <a:r>
              <a:rPr lang="en-US" sz="3000" b="1" dirty="0">
                <a:solidFill>
                  <a:srgbClr val="0C1E2C"/>
                </a:solidFill>
                <a:latin typeface="Arial" pitchFamily="34" charset="0"/>
                <a:ea typeface="Arial" pitchFamily="34" charset="-122"/>
                <a:cs typeface="Arial" pitchFamily="34" charset="-120"/>
              </a:rPr>
              <a:t>Jika run gagal, baca dari bawah ke atas</a:t>
            </a:r>
            <a:endParaRPr lang="en-US" sz="3000" dirty="0"/>
          </a:p>
        </p:txBody>
      </p:sp>
      <p:sp>
        <p:nvSpPr>
          <p:cNvPr id="3" name="Text 1"/>
          <p:cNvSpPr txBox="1"/>
          <p:nvPr/>
        </p:nvSpPr>
        <p:spPr>
          <a:xfrm>
            <a:off x="640080" y="941832"/>
            <a:ext cx="10881360" cy="320040"/>
          </a:xfrm>
          <a:prstGeom prst="rect">
            <a:avLst/>
          </a:prstGeom>
          <a:noFill/>
          <a:ln/>
        </p:spPr>
        <p:txBody>
          <a:bodyPr wrap="square" lIns="0" tIns="0" rIns="0" bIns="0" rtlCol="0" anchor="ctr"/>
          <a:lstStyle/>
          <a:p>
            <a:pPr algn="l" indent="0" marL="0">
              <a:buNone/>
            </a:pPr>
            <a:r>
              <a:rPr lang="en-US" sz="1500" dirty="0">
                <a:solidFill>
                  <a:srgbClr val="526B79"/>
                </a:solidFill>
                <a:latin typeface="Arial" pitchFamily="34" charset="0"/>
                <a:ea typeface="Arial" pitchFamily="34" charset="-122"/>
                <a:cs typeface="Arial" pitchFamily="34" charset="-120"/>
              </a:rPr>
              <a:t>Status gagal menunjuk ke langkah pertama yang rusak; cari pesan error pada log.</a:t>
            </a:r>
            <a:endParaRPr lang="en-US" sz="1500" dirty="0"/>
          </a:p>
        </p:txBody>
      </p:sp>
      <p:sp>
        <p:nvSpPr>
          <p:cNvPr id="4" name="Text 2"/>
          <p:cNvSpPr txBox="1"/>
          <p:nvPr/>
        </p:nvSpPr>
        <p:spPr>
          <a:xfrm>
            <a:off x="640080" y="6565392"/>
            <a:ext cx="5486400" cy="146304"/>
          </a:xfrm>
          <a:prstGeom prst="rect">
            <a:avLst/>
          </a:prstGeom>
          <a:noFill/>
          <a:ln/>
        </p:spPr>
        <p:txBody>
          <a:bodyPr wrap="square" lIns="0" tIns="0" rIns="0" bIns="0" rtlCol="0" anchor="ctr"/>
          <a:lstStyle/>
          <a:p>
            <a:pPr algn="l" indent="0" marL="0">
              <a:buNone/>
            </a:pPr>
            <a:r>
              <a:rPr lang="en-US" sz="900" b="1" dirty="0">
                <a:solidFill>
                  <a:srgbClr val="526B79"/>
                </a:solidFill>
                <a:latin typeface="Arial" pitchFamily="34" charset="0"/>
                <a:ea typeface="Arial" pitchFamily="34" charset="-122"/>
                <a:cs typeface="Arial" pitchFamily="34" charset="-120"/>
              </a:rPr>
              <a:t>PERTEMUAN 6  /  DATA ENGINEERING</a:t>
            </a:r>
            <a:endParaRPr lang="en-US" sz="900" dirty="0"/>
          </a:p>
        </p:txBody>
      </p:sp>
      <p:sp>
        <p:nvSpPr>
          <p:cNvPr id="5" name="Text 3"/>
          <p:cNvSpPr txBox="1"/>
          <p:nvPr/>
        </p:nvSpPr>
        <p:spPr>
          <a:xfrm>
            <a:off x="11155680" y="6519672"/>
            <a:ext cx="438912" cy="182880"/>
          </a:xfrm>
          <a:prstGeom prst="rect">
            <a:avLst/>
          </a:prstGeom>
          <a:noFill/>
          <a:ln/>
        </p:spPr>
        <p:txBody>
          <a:bodyPr wrap="square" lIns="0" tIns="0" rIns="0" bIns="0" rtlCol="0" anchor="ctr"/>
          <a:lstStyle/>
          <a:p>
            <a:pPr algn="r" indent="0" marL="0">
              <a:buNone/>
            </a:pPr>
            <a:r>
              <a:rPr lang="en-US" sz="1000" dirty="0">
                <a:solidFill>
                  <a:srgbClr val="526B79"/>
                </a:solidFill>
                <a:latin typeface="Arial" pitchFamily="34" charset="0"/>
                <a:ea typeface="Arial" pitchFamily="34" charset="-122"/>
                <a:cs typeface="Arial" pitchFamily="34" charset="-120"/>
              </a:rPr>
              <a:t>17</a:t>
            </a:r>
            <a:endParaRPr lang="en-US" sz="1000" dirty="0"/>
          </a:p>
        </p:txBody>
      </p:sp>
      <p:sp>
        <p:nvSpPr>
          <p:cNvPr id="6" name="Shape 4"/>
          <p:cNvSpPr/>
          <p:nvPr/>
        </p:nvSpPr>
        <p:spPr>
          <a:xfrm>
            <a:off x="713232" y="1673352"/>
            <a:ext cx="5266944" cy="1636776"/>
          </a:xfrm>
          <a:prstGeom prst="roundRect">
            <a:avLst>
              <a:gd name="adj" fmla="val 5587"/>
            </a:avLst>
          </a:prstGeom>
          <a:solidFill>
            <a:srgbClr val="F4F8FA"/>
          </a:solidFill>
          <a:ln w="12700">
            <a:solidFill>
              <a:srgbClr val="F4F8FA"/>
            </a:solidFill>
            <a:prstDash val="solid"/>
          </a:ln>
        </p:spPr>
      </p:sp>
      <p:sp>
        <p:nvSpPr>
          <p:cNvPr id="7" name="Shape 5"/>
          <p:cNvSpPr/>
          <p:nvPr/>
        </p:nvSpPr>
        <p:spPr>
          <a:xfrm>
            <a:off x="932688" y="1901952"/>
            <a:ext cx="530352" cy="530352"/>
          </a:xfrm>
          <a:prstGeom prst="ellipse">
            <a:avLst/>
          </a:prstGeom>
          <a:solidFill>
            <a:srgbClr val="FA6A60"/>
          </a:solidFill>
          <a:ln w="12700">
            <a:solidFill>
              <a:srgbClr val="FA6A60"/>
            </a:solidFill>
            <a:prstDash val="solid"/>
          </a:ln>
        </p:spPr>
      </p:sp>
      <p:sp>
        <p:nvSpPr>
          <p:cNvPr id="8" name="Text 6"/>
          <p:cNvSpPr txBox="1"/>
          <p:nvPr/>
        </p:nvSpPr>
        <p:spPr>
          <a:xfrm>
            <a:off x="932688" y="2057400"/>
            <a:ext cx="530352" cy="2103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01</a:t>
            </a:r>
            <a:endParaRPr lang="en-US" sz="1300" dirty="0"/>
          </a:p>
        </p:txBody>
      </p:sp>
      <p:sp>
        <p:nvSpPr>
          <p:cNvPr id="9" name="Text 7"/>
          <p:cNvSpPr txBox="1"/>
          <p:nvPr/>
        </p:nvSpPr>
        <p:spPr>
          <a:xfrm>
            <a:off x="1636776" y="1920240"/>
            <a:ext cx="4041648" cy="310896"/>
          </a:xfrm>
          <a:prstGeom prst="rect">
            <a:avLst/>
          </a:prstGeom>
          <a:noFill/>
          <a:ln/>
        </p:spPr>
        <p:txBody>
          <a:bodyPr wrap="square" lIns="0" tIns="0" rIns="0" bIns="0" rtlCol="0" anchor="ctr"/>
          <a:lstStyle/>
          <a:p>
            <a:pPr algn="l" indent="0" marL="0">
              <a:buNone/>
            </a:pPr>
            <a:r>
              <a:rPr lang="en-US" sz="1900" b="1" dirty="0">
                <a:solidFill>
                  <a:srgbClr val="0C1E2C"/>
                </a:solidFill>
                <a:latin typeface="Arial" pitchFamily="34" charset="0"/>
                <a:ea typeface="Arial" pitchFamily="34" charset="-122"/>
                <a:cs typeface="Arial" pitchFamily="34" charset="-120"/>
              </a:rPr>
              <a:t>Cari task yang gagal</a:t>
            </a:r>
            <a:endParaRPr lang="en-US" sz="1900" dirty="0"/>
          </a:p>
        </p:txBody>
      </p:sp>
      <p:sp>
        <p:nvSpPr>
          <p:cNvPr id="10" name="Text 8"/>
          <p:cNvSpPr txBox="1"/>
          <p:nvPr/>
        </p:nvSpPr>
        <p:spPr>
          <a:xfrm>
            <a:off x="1636776" y="2468880"/>
            <a:ext cx="4032504" cy="521208"/>
          </a:xfrm>
          <a:prstGeom prst="rect">
            <a:avLst/>
          </a:prstGeom>
          <a:noFill/>
          <a:ln/>
        </p:spPr>
        <p:txBody>
          <a:bodyPr wrap="square" lIns="0" tIns="0" rIns="0" bIns="0" rtlCol="0" anchor="t"/>
          <a:lstStyle/>
          <a:p>
            <a:pPr algn="l" indent="0" marL="0">
              <a:buNone/>
            </a:pPr>
            <a:r>
              <a:rPr lang="en-US" sz="1500" dirty="0">
                <a:solidFill>
                  <a:srgbClr val="526B79"/>
                </a:solidFill>
                <a:latin typeface="Arial" pitchFamily="34" charset="0"/>
                <a:ea typeface="Arial" pitchFamily="34" charset="-122"/>
                <a:cs typeface="Arial" pitchFamily="34" charset="-120"/>
              </a:rPr>
              <a:t>Apakah koneksi, Python load, dbt run, dbt test, atau verifikasi?</a:t>
            </a:r>
            <a:endParaRPr lang="en-US" sz="1500" dirty="0"/>
          </a:p>
        </p:txBody>
      </p:sp>
      <p:sp>
        <p:nvSpPr>
          <p:cNvPr id="11" name="Shape 9"/>
          <p:cNvSpPr/>
          <p:nvPr/>
        </p:nvSpPr>
        <p:spPr>
          <a:xfrm>
            <a:off x="6236208" y="1673352"/>
            <a:ext cx="5266944" cy="1636776"/>
          </a:xfrm>
          <a:prstGeom prst="roundRect">
            <a:avLst>
              <a:gd name="adj" fmla="val 5587"/>
            </a:avLst>
          </a:prstGeom>
          <a:solidFill>
            <a:srgbClr val="F4F8FA"/>
          </a:solidFill>
          <a:ln w="12700">
            <a:solidFill>
              <a:srgbClr val="F4F8FA"/>
            </a:solidFill>
            <a:prstDash val="solid"/>
          </a:ln>
        </p:spPr>
      </p:sp>
      <p:sp>
        <p:nvSpPr>
          <p:cNvPr id="12" name="Shape 10"/>
          <p:cNvSpPr/>
          <p:nvPr/>
        </p:nvSpPr>
        <p:spPr>
          <a:xfrm>
            <a:off x="6455664" y="1901952"/>
            <a:ext cx="530352" cy="530352"/>
          </a:xfrm>
          <a:prstGeom prst="ellipse">
            <a:avLst/>
          </a:prstGeom>
          <a:solidFill>
            <a:srgbClr val="2563A6"/>
          </a:solidFill>
          <a:ln w="12700">
            <a:solidFill>
              <a:srgbClr val="2563A6"/>
            </a:solidFill>
            <a:prstDash val="solid"/>
          </a:ln>
        </p:spPr>
      </p:sp>
      <p:sp>
        <p:nvSpPr>
          <p:cNvPr id="13" name="Text 11"/>
          <p:cNvSpPr txBox="1"/>
          <p:nvPr/>
        </p:nvSpPr>
        <p:spPr>
          <a:xfrm>
            <a:off x="6455664" y="2057400"/>
            <a:ext cx="530352" cy="2103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02</a:t>
            </a:r>
            <a:endParaRPr lang="en-US" sz="1300" dirty="0"/>
          </a:p>
        </p:txBody>
      </p:sp>
      <p:sp>
        <p:nvSpPr>
          <p:cNvPr id="14" name="Text 12"/>
          <p:cNvSpPr txBox="1"/>
          <p:nvPr/>
        </p:nvSpPr>
        <p:spPr>
          <a:xfrm>
            <a:off x="7159752" y="1920240"/>
            <a:ext cx="4041648" cy="310896"/>
          </a:xfrm>
          <a:prstGeom prst="rect">
            <a:avLst/>
          </a:prstGeom>
          <a:noFill/>
          <a:ln/>
        </p:spPr>
        <p:txBody>
          <a:bodyPr wrap="square" lIns="0" tIns="0" rIns="0" bIns="0" rtlCol="0" anchor="ctr"/>
          <a:lstStyle/>
          <a:p>
            <a:pPr algn="l" indent="0" marL="0">
              <a:buNone/>
            </a:pPr>
            <a:r>
              <a:rPr lang="en-US" sz="1900" b="1" dirty="0">
                <a:solidFill>
                  <a:srgbClr val="0C1E2C"/>
                </a:solidFill>
                <a:latin typeface="Arial" pitchFamily="34" charset="0"/>
                <a:ea typeface="Arial" pitchFamily="34" charset="-122"/>
                <a:cs typeface="Arial" pitchFamily="34" charset="-120"/>
              </a:rPr>
              <a:t>Baca log terdekat</a:t>
            </a:r>
            <a:endParaRPr lang="en-US" sz="1900" dirty="0"/>
          </a:p>
        </p:txBody>
      </p:sp>
      <p:sp>
        <p:nvSpPr>
          <p:cNvPr id="15" name="Text 13"/>
          <p:cNvSpPr txBox="1"/>
          <p:nvPr/>
        </p:nvSpPr>
        <p:spPr>
          <a:xfrm>
            <a:off x="7159752" y="2468880"/>
            <a:ext cx="4032504" cy="521208"/>
          </a:xfrm>
          <a:prstGeom prst="rect">
            <a:avLst/>
          </a:prstGeom>
          <a:noFill/>
          <a:ln/>
        </p:spPr>
        <p:txBody>
          <a:bodyPr wrap="square" lIns="0" tIns="0" rIns="0" bIns="0" rtlCol="0" anchor="t"/>
          <a:lstStyle/>
          <a:p>
            <a:pPr algn="l" indent="0" marL="0">
              <a:buNone/>
            </a:pPr>
            <a:r>
              <a:rPr lang="en-US" sz="1500" dirty="0">
                <a:solidFill>
                  <a:srgbClr val="526B79"/>
                </a:solidFill>
                <a:latin typeface="Arial" pitchFamily="34" charset="0"/>
                <a:ea typeface="Arial" pitchFamily="34" charset="-122"/>
                <a:cs typeface="Arial" pitchFamily="34" charset="-120"/>
              </a:rPr>
              <a:t>Temukan error asli sebelum mencoba menjalankan ulang.</a:t>
            </a:r>
            <a:endParaRPr lang="en-US" sz="1500" dirty="0"/>
          </a:p>
        </p:txBody>
      </p:sp>
      <p:sp>
        <p:nvSpPr>
          <p:cNvPr id="16" name="Shape 14"/>
          <p:cNvSpPr/>
          <p:nvPr/>
        </p:nvSpPr>
        <p:spPr>
          <a:xfrm>
            <a:off x="713232" y="3712464"/>
            <a:ext cx="5266944" cy="1636776"/>
          </a:xfrm>
          <a:prstGeom prst="roundRect">
            <a:avLst>
              <a:gd name="adj" fmla="val 5587"/>
            </a:avLst>
          </a:prstGeom>
          <a:solidFill>
            <a:srgbClr val="F4F8FA"/>
          </a:solidFill>
          <a:ln w="12700">
            <a:solidFill>
              <a:srgbClr val="F4F8FA"/>
            </a:solidFill>
            <a:prstDash val="solid"/>
          </a:ln>
        </p:spPr>
      </p:sp>
      <p:sp>
        <p:nvSpPr>
          <p:cNvPr id="17" name="Shape 15"/>
          <p:cNvSpPr/>
          <p:nvPr/>
        </p:nvSpPr>
        <p:spPr>
          <a:xfrm>
            <a:off x="932688" y="3941064"/>
            <a:ext cx="530352" cy="530352"/>
          </a:xfrm>
          <a:prstGeom prst="ellipse">
            <a:avLst/>
          </a:prstGeom>
          <a:solidFill>
            <a:srgbClr val="00A7A4"/>
          </a:solidFill>
          <a:ln w="12700">
            <a:solidFill>
              <a:srgbClr val="00A7A4"/>
            </a:solidFill>
            <a:prstDash val="solid"/>
          </a:ln>
        </p:spPr>
      </p:sp>
      <p:sp>
        <p:nvSpPr>
          <p:cNvPr id="18" name="Text 16"/>
          <p:cNvSpPr txBox="1"/>
          <p:nvPr/>
        </p:nvSpPr>
        <p:spPr>
          <a:xfrm>
            <a:off x="932688" y="4096512"/>
            <a:ext cx="530352" cy="2103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03</a:t>
            </a:r>
            <a:endParaRPr lang="en-US" sz="1300" dirty="0"/>
          </a:p>
        </p:txBody>
      </p:sp>
      <p:sp>
        <p:nvSpPr>
          <p:cNvPr id="19" name="Text 17"/>
          <p:cNvSpPr txBox="1"/>
          <p:nvPr/>
        </p:nvSpPr>
        <p:spPr>
          <a:xfrm>
            <a:off x="1636776" y="3959352"/>
            <a:ext cx="4041648" cy="310896"/>
          </a:xfrm>
          <a:prstGeom prst="rect">
            <a:avLst/>
          </a:prstGeom>
          <a:noFill/>
          <a:ln/>
        </p:spPr>
        <p:txBody>
          <a:bodyPr wrap="square" lIns="0" tIns="0" rIns="0" bIns="0" rtlCol="0" anchor="ctr"/>
          <a:lstStyle/>
          <a:p>
            <a:pPr algn="l" indent="0" marL="0">
              <a:buNone/>
            </a:pPr>
            <a:r>
              <a:rPr lang="en-US" sz="1900" b="1" dirty="0">
                <a:solidFill>
                  <a:srgbClr val="0C1E2C"/>
                </a:solidFill>
                <a:latin typeface="Arial" pitchFamily="34" charset="0"/>
                <a:ea typeface="Arial" pitchFamily="34" charset="-122"/>
                <a:cs typeface="Arial" pitchFamily="34" charset="-120"/>
              </a:rPr>
              <a:t>Perbaiki penyebab</a:t>
            </a:r>
            <a:endParaRPr lang="en-US" sz="1900" dirty="0"/>
          </a:p>
        </p:txBody>
      </p:sp>
      <p:sp>
        <p:nvSpPr>
          <p:cNvPr id="20" name="Text 18"/>
          <p:cNvSpPr txBox="1"/>
          <p:nvPr/>
        </p:nvSpPr>
        <p:spPr>
          <a:xfrm>
            <a:off x="1636776" y="4507992"/>
            <a:ext cx="4032504" cy="521208"/>
          </a:xfrm>
          <a:prstGeom prst="rect">
            <a:avLst/>
          </a:prstGeom>
          <a:noFill/>
          <a:ln/>
        </p:spPr>
        <p:txBody>
          <a:bodyPr wrap="square" lIns="0" tIns="0" rIns="0" bIns="0" rtlCol="0" anchor="t"/>
          <a:lstStyle/>
          <a:p>
            <a:pPr algn="l" indent="0" marL="0">
              <a:buNone/>
            </a:pPr>
            <a:r>
              <a:rPr lang="en-US" sz="1500" dirty="0">
                <a:solidFill>
                  <a:srgbClr val="526B79"/>
                </a:solidFill>
                <a:latin typeface="Arial" pitchFamily="34" charset="0"/>
                <a:ea typeface="Arial" pitchFamily="34" charset="-122"/>
                <a:cs typeface="Arial" pitchFamily="34" charset="-120"/>
              </a:rPr>
              <a:t>Cek service database, host.docker.internal, dan hasil query.</a:t>
            </a:r>
            <a:endParaRPr lang="en-US" sz="1500" dirty="0"/>
          </a:p>
        </p:txBody>
      </p:sp>
      <p:sp>
        <p:nvSpPr>
          <p:cNvPr id="21" name="Shape 19"/>
          <p:cNvSpPr/>
          <p:nvPr/>
        </p:nvSpPr>
        <p:spPr>
          <a:xfrm>
            <a:off x="6236208" y="3712464"/>
            <a:ext cx="5266944" cy="1636776"/>
          </a:xfrm>
          <a:prstGeom prst="roundRect">
            <a:avLst>
              <a:gd name="adj" fmla="val 5587"/>
            </a:avLst>
          </a:prstGeom>
          <a:solidFill>
            <a:srgbClr val="F4F8FA"/>
          </a:solidFill>
          <a:ln w="12700">
            <a:solidFill>
              <a:srgbClr val="F4F8FA"/>
            </a:solidFill>
            <a:prstDash val="solid"/>
          </a:ln>
        </p:spPr>
      </p:sp>
      <p:sp>
        <p:nvSpPr>
          <p:cNvPr id="22" name="Shape 20"/>
          <p:cNvSpPr/>
          <p:nvPr/>
        </p:nvSpPr>
        <p:spPr>
          <a:xfrm>
            <a:off x="6455664" y="3941064"/>
            <a:ext cx="530352" cy="530352"/>
          </a:xfrm>
          <a:prstGeom prst="ellipse">
            <a:avLst/>
          </a:prstGeom>
          <a:solidFill>
            <a:srgbClr val="17865D"/>
          </a:solidFill>
          <a:ln w="12700">
            <a:solidFill>
              <a:srgbClr val="17865D"/>
            </a:solidFill>
            <a:prstDash val="solid"/>
          </a:ln>
        </p:spPr>
      </p:sp>
      <p:sp>
        <p:nvSpPr>
          <p:cNvPr id="23" name="Text 21"/>
          <p:cNvSpPr txBox="1"/>
          <p:nvPr/>
        </p:nvSpPr>
        <p:spPr>
          <a:xfrm>
            <a:off x="6455664" y="4096512"/>
            <a:ext cx="530352" cy="2103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04</a:t>
            </a:r>
            <a:endParaRPr lang="en-US" sz="1300" dirty="0"/>
          </a:p>
        </p:txBody>
      </p:sp>
      <p:sp>
        <p:nvSpPr>
          <p:cNvPr id="24" name="Text 22"/>
          <p:cNvSpPr txBox="1"/>
          <p:nvPr/>
        </p:nvSpPr>
        <p:spPr>
          <a:xfrm>
            <a:off x="7159752" y="3959352"/>
            <a:ext cx="4041648" cy="310896"/>
          </a:xfrm>
          <a:prstGeom prst="rect">
            <a:avLst/>
          </a:prstGeom>
          <a:noFill/>
          <a:ln/>
        </p:spPr>
        <p:txBody>
          <a:bodyPr wrap="square" lIns="0" tIns="0" rIns="0" bIns="0" rtlCol="0" anchor="ctr"/>
          <a:lstStyle/>
          <a:p>
            <a:pPr algn="l" indent="0" marL="0">
              <a:buNone/>
            </a:pPr>
            <a:r>
              <a:rPr lang="en-US" sz="1900" b="1" dirty="0">
                <a:solidFill>
                  <a:srgbClr val="0C1E2C"/>
                </a:solidFill>
                <a:latin typeface="Arial" pitchFamily="34" charset="0"/>
                <a:ea typeface="Arial" pitchFamily="34" charset="-122"/>
                <a:cs typeface="Arial" pitchFamily="34" charset="-120"/>
              </a:rPr>
              <a:t>Run ulang lalu verifikasi</a:t>
            </a:r>
            <a:endParaRPr lang="en-US" sz="1900" dirty="0"/>
          </a:p>
        </p:txBody>
      </p:sp>
      <p:sp>
        <p:nvSpPr>
          <p:cNvPr id="25" name="Text 23"/>
          <p:cNvSpPr txBox="1"/>
          <p:nvPr/>
        </p:nvSpPr>
        <p:spPr>
          <a:xfrm>
            <a:off x="7159752" y="4507992"/>
            <a:ext cx="4032504" cy="521208"/>
          </a:xfrm>
          <a:prstGeom prst="rect">
            <a:avLst/>
          </a:prstGeom>
          <a:noFill/>
          <a:ln/>
        </p:spPr>
        <p:txBody>
          <a:bodyPr wrap="square" lIns="0" tIns="0" rIns="0" bIns="0" rtlCol="0" anchor="t"/>
          <a:lstStyle/>
          <a:p>
            <a:pPr algn="l" indent="0" marL="0">
              <a:buNone/>
            </a:pPr>
            <a:r>
              <a:rPr lang="en-US" sz="1500" dirty="0">
                <a:solidFill>
                  <a:srgbClr val="526B79"/>
                </a:solidFill>
                <a:latin typeface="Arial" pitchFamily="34" charset="0"/>
                <a:ea typeface="Arial" pitchFamily="34" charset="-122"/>
                <a:cs typeface="Arial" pitchFamily="34" charset="-120"/>
              </a:rPr>
              <a:t>Pastikan tabel raw dan datamart tidak terduplikasi.</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12648" y="365760"/>
            <a:ext cx="10972800" cy="502920"/>
          </a:xfrm>
          <a:prstGeom prst="rect">
            <a:avLst/>
          </a:prstGeom>
          <a:noFill/>
          <a:ln/>
        </p:spPr>
        <p:txBody>
          <a:bodyPr wrap="square" lIns="0" tIns="0" rIns="0" bIns="0" rtlCol="0" anchor="ctr"/>
          <a:lstStyle/>
          <a:p>
            <a:pPr algn="l" indent="0" marL="0">
              <a:buNone/>
            </a:pPr>
            <a:r>
              <a:rPr lang="en-US" sz="3000" b="1" dirty="0">
                <a:solidFill>
                  <a:srgbClr val="0C1E2C"/>
                </a:solidFill>
                <a:latin typeface="Arial" pitchFamily="34" charset="0"/>
                <a:ea typeface="Arial" pitchFamily="34" charset="-122"/>
                <a:cs typeface="Arial" pitchFamily="34" charset="-120"/>
              </a:rPr>
              <a:t>Latihan mandiri dan output peserta</a:t>
            </a:r>
            <a:endParaRPr lang="en-US" sz="3000" dirty="0"/>
          </a:p>
        </p:txBody>
      </p:sp>
      <p:sp>
        <p:nvSpPr>
          <p:cNvPr id="3" name="Text 1"/>
          <p:cNvSpPr txBox="1"/>
          <p:nvPr/>
        </p:nvSpPr>
        <p:spPr>
          <a:xfrm>
            <a:off x="640080" y="941832"/>
            <a:ext cx="10881360" cy="320040"/>
          </a:xfrm>
          <a:prstGeom prst="rect">
            <a:avLst/>
          </a:prstGeom>
          <a:noFill/>
          <a:ln/>
        </p:spPr>
        <p:txBody>
          <a:bodyPr wrap="square" lIns="0" tIns="0" rIns="0" bIns="0" rtlCol="0" anchor="ctr"/>
          <a:lstStyle/>
          <a:p>
            <a:pPr algn="l" indent="0" marL="0">
              <a:buNone/>
            </a:pPr>
            <a:r>
              <a:rPr lang="en-US" sz="1500" dirty="0">
                <a:solidFill>
                  <a:srgbClr val="526B79"/>
                </a:solidFill>
                <a:latin typeface="Arial" pitchFamily="34" charset="0"/>
                <a:ea typeface="Arial" pitchFamily="34" charset="-122"/>
                <a:cs typeface="Arial" pitchFamily="34" charset="-120"/>
              </a:rPr>
              <a:t>Praktikkan tiga tool secara bergantian; jalankan hanya satu pada satu waktu.</a:t>
            </a:r>
            <a:endParaRPr lang="en-US" sz="1500" dirty="0"/>
          </a:p>
        </p:txBody>
      </p:sp>
      <p:sp>
        <p:nvSpPr>
          <p:cNvPr id="4" name="Text 2"/>
          <p:cNvSpPr txBox="1"/>
          <p:nvPr/>
        </p:nvSpPr>
        <p:spPr>
          <a:xfrm>
            <a:off x="640080" y="6565392"/>
            <a:ext cx="5486400" cy="146304"/>
          </a:xfrm>
          <a:prstGeom prst="rect">
            <a:avLst/>
          </a:prstGeom>
          <a:noFill/>
          <a:ln/>
        </p:spPr>
        <p:txBody>
          <a:bodyPr wrap="square" lIns="0" tIns="0" rIns="0" bIns="0" rtlCol="0" anchor="ctr"/>
          <a:lstStyle/>
          <a:p>
            <a:pPr algn="l" indent="0" marL="0">
              <a:buNone/>
            </a:pPr>
            <a:r>
              <a:rPr lang="en-US" sz="900" b="1" dirty="0">
                <a:solidFill>
                  <a:srgbClr val="526B79"/>
                </a:solidFill>
                <a:latin typeface="Arial" pitchFamily="34" charset="0"/>
                <a:ea typeface="Arial" pitchFamily="34" charset="-122"/>
                <a:cs typeface="Arial" pitchFamily="34" charset="-120"/>
              </a:rPr>
              <a:t>PERTEMUAN 6  /  DATA ENGINEERING</a:t>
            </a:r>
            <a:endParaRPr lang="en-US" sz="900" dirty="0"/>
          </a:p>
        </p:txBody>
      </p:sp>
      <p:sp>
        <p:nvSpPr>
          <p:cNvPr id="5" name="Text 3"/>
          <p:cNvSpPr txBox="1"/>
          <p:nvPr/>
        </p:nvSpPr>
        <p:spPr>
          <a:xfrm>
            <a:off x="11155680" y="6519672"/>
            <a:ext cx="438912" cy="182880"/>
          </a:xfrm>
          <a:prstGeom prst="rect">
            <a:avLst/>
          </a:prstGeom>
          <a:noFill/>
          <a:ln/>
        </p:spPr>
        <p:txBody>
          <a:bodyPr wrap="square" lIns="0" tIns="0" rIns="0" bIns="0" rtlCol="0" anchor="ctr"/>
          <a:lstStyle/>
          <a:p>
            <a:pPr algn="r" indent="0" marL="0">
              <a:buNone/>
            </a:pPr>
            <a:r>
              <a:rPr lang="en-US" sz="1000" dirty="0">
                <a:solidFill>
                  <a:srgbClr val="526B79"/>
                </a:solidFill>
                <a:latin typeface="Arial" pitchFamily="34" charset="0"/>
                <a:ea typeface="Arial" pitchFamily="34" charset="-122"/>
                <a:cs typeface="Arial" pitchFamily="34" charset="-120"/>
              </a:rPr>
              <a:t>18</a:t>
            </a:r>
            <a:endParaRPr lang="en-US" sz="1000" dirty="0"/>
          </a:p>
        </p:txBody>
      </p:sp>
      <p:sp>
        <p:nvSpPr>
          <p:cNvPr id="6" name="Shape 4"/>
          <p:cNvSpPr/>
          <p:nvPr/>
        </p:nvSpPr>
        <p:spPr>
          <a:xfrm>
            <a:off x="713232" y="1627632"/>
            <a:ext cx="6400800" cy="4233672"/>
          </a:xfrm>
          <a:prstGeom prst="roundRect">
            <a:avLst>
              <a:gd name="adj" fmla="val 2160"/>
            </a:avLst>
          </a:prstGeom>
          <a:solidFill>
            <a:srgbClr val="F4F8FA"/>
          </a:solidFill>
          <a:ln w="12700">
            <a:solidFill>
              <a:srgbClr val="F4F8FA"/>
            </a:solidFill>
            <a:prstDash val="solid"/>
          </a:ln>
        </p:spPr>
      </p:sp>
      <p:sp>
        <p:nvSpPr>
          <p:cNvPr id="7" name="Text 5"/>
          <p:cNvSpPr txBox="1"/>
          <p:nvPr/>
        </p:nvSpPr>
        <p:spPr>
          <a:xfrm>
            <a:off x="969264" y="1911096"/>
            <a:ext cx="5870448" cy="283464"/>
          </a:xfrm>
          <a:prstGeom prst="rect">
            <a:avLst/>
          </a:prstGeom>
          <a:noFill/>
          <a:ln/>
        </p:spPr>
        <p:txBody>
          <a:bodyPr wrap="square" lIns="0" tIns="0" rIns="0" bIns="0" rtlCol="0" anchor="ctr"/>
          <a:lstStyle/>
          <a:p>
            <a:pPr algn="l" indent="0" marL="0">
              <a:buNone/>
            </a:pPr>
            <a:r>
              <a:rPr lang="en-US" sz="1600" dirty="0">
                <a:solidFill>
                  <a:srgbClr val="102333"/>
                </a:solidFill>
                <a:latin typeface="Arial" pitchFamily="34" charset="0"/>
                <a:ea typeface="Arial" pitchFamily="34" charset="-122"/>
                <a:cs typeface="Arial" pitchFamily="34" charset="-120"/>
              </a:rPr>
              <a:t>1. Nyalakan database Pertemuan 5.</a:t>
            </a:r>
            <a:endParaRPr lang="en-US" sz="1600" dirty="0"/>
          </a:p>
        </p:txBody>
      </p:sp>
      <p:sp>
        <p:nvSpPr>
          <p:cNvPr id="8" name="Text 6"/>
          <p:cNvSpPr txBox="1"/>
          <p:nvPr/>
        </p:nvSpPr>
        <p:spPr>
          <a:xfrm>
            <a:off x="969264" y="2468880"/>
            <a:ext cx="5870448" cy="283464"/>
          </a:xfrm>
          <a:prstGeom prst="rect">
            <a:avLst/>
          </a:prstGeom>
          <a:noFill/>
          <a:ln/>
        </p:spPr>
        <p:txBody>
          <a:bodyPr wrap="square" lIns="0" tIns="0" rIns="0" bIns="0" rtlCol="0" anchor="ctr"/>
          <a:lstStyle/>
          <a:p>
            <a:pPr algn="l" indent="0" marL="0">
              <a:buNone/>
            </a:pPr>
            <a:r>
              <a:rPr lang="en-US" sz="1600" dirty="0">
                <a:solidFill>
                  <a:srgbClr val="102333"/>
                </a:solidFill>
                <a:latin typeface="Arial" pitchFamily="34" charset="0"/>
                <a:ea typeface="Arial" pitchFamily="34" charset="-122"/>
                <a:cs typeface="Arial" pitchFamily="34" charset="-120"/>
              </a:rPr>
              <a:t>2. Jalankan pipeline dasar hingga verifikasi sukses.</a:t>
            </a:r>
            <a:endParaRPr lang="en-US" sz="1600" dirty="0"/>
          </a:p>
        </p:txBody>
      </p:sp>
      <p:sp>
        <p:nvSpPr>
          <p:cNvPr id="9" name="Text 7"/>
          <p:cNvSpPr txBox="1"/>
          <p:nvPr/>
        </p:nvSpPr>
        <p:spPr>
          <a:xfrm>
            <a:off x="969264" y="3026664"/>
            <a:ext cx="5870448" cy="283464"/>
          </a:xfrm>
          <a:prstGeom prst="rect">
            <a:avLst/>
          </a:prstGeom>
          <a:noFill/>
          <a:ln/>
        </p:spPr>
        <p:txBody>
          <a:bodyPr wrap="square" lIns="0" tIns="0" rIns="0" bIns="0" rtlCol="0" anchor="ctr"/>
          <a:lstStyle/>
          <a:p>
            <a:pPr algn="l" indent="0" marL="0">
              <a:buNone/>
            </a:pPr>
            <a:r>
              <a:rPr lang="en-US" sz="1600" dirty="0">
                <a:solidFill>
                  <a:srgbClr val="102333"/>
                </a:solidFill>
                <a:latin typeface="Arial" pitchFamily="34" charset="0"/>
                <a:ea typeface="Arial" pitchFamily="34" charset="-122"/>
                <a:cs typeface="Arial" pitchFamily="34" charset="-120"/>
              </a:rPr>
              <a:t>3. Nyalakan orchestrator pertama dan trigger manual run.</a:t>
            </a:r>
            <a:endParaRPr lang="en-US" sz="1600" dirty="0"/>
          </a:p>
        </p:txBody>
      </p:sp>
      <p:sp>
        <p:nvSpPr>
          <p:cNvPr id="10" name="Text 8"/>
          <p:cNvSpPr txBox="1"/>
          <p:nvPr/>
        </p:nvSpPr>
        <p:spPr>
          <a:xfrm>
            <a:off x="969264" y="3584448"/>
            <a:ext cx="5870448" cy="283464"/>
          </a:xfrm>
          <a:prstGeom prst="rect">
            <a:avLst/>
          </a:prstGeom>
          <a:noFill/>
          <a:ln/>
        </p:spPr>
        <p:txBody>
          <a:bodyPr wrap="square" lIns="0" tIns="0" rIns="0" bIns="0" rtlCol="0" anchor="ctr"/>
          <a:lstStyle/>
          <a:p>
            <a:pPr algn="l" indent="0" marL="0">
              <a:buNone/>
            </a:pPr>
            <a:r>
              <a:rPr lang="en-US" sz="1600" dirty="0">
                <a:solidFill>
                  <a:srgbClr val="102333"/>
                </a:solidFill>
                <a:latin typeface="Arial" pitchFamily="34" charset="0"/>
                <a:ea typeface="Arial" pitchFamily="34" charset="-122"/>
                <a:cs typeface="Arial" pitchFamily="34" charset="-120"/>
              </a:rPr>
              <a:t>4. Temukan cron dan timezone pada definisi tool.</a:t>
            </a:r>
            <a:endParaRPr lang="en-US" sz="1600" dirty="0"/>
          </a:p>
        </p:txBody>
      </p:sp>
      <p:sp>
        <p:nvSpPr>
          <p:cNvPr id="11" name="Text 9"/>
          <p:cNvSpPr txBox="1"/>
          <p:nvPr/>
        </p:nvSpPr>
        <p:spPr>
          <a:xfrm>
            <a:off x="969264" y="4142232"/>
            <a:ext cx="5870448" cy="283464"/>
          </a:xfrm>
          <a:prstGeom prst="rect">
            <a:avLst/>
          </a:prstGeom>
          <a:noFill/>
          <a:ln/>
        </p:spPr>
        <p:txBody>
          <a:bodyPr wrap="square" lIns="0" tIns="0" rIns="0" bIns="0" rtlCol="0" anchor="ctr"/>
          <a:lstStyle/>
          <a:p>
            <a:pPr algn="l" indent="0" marL="0">
              <a:buNone/>
            </a:pPr>
            <a:r>
              <a:rPr lang="en-US" sz="1600" dirty="0">
                <a:solidFill>
                  <a:srgbClr val="102333"/>
                </a:solidFill>
                <a:latin typeface="Arial" pitchFamily="34" charset="0"/>
                <a:ea typeface="Arial" pitchFamily="34" charset="-122"/>
                <a:cs typeface="Arial" pitchFamily="34" charset="-120"/>
              </a:rPr>
              <a:t>5. Cek log dan jumlah baris datamart.</a:t>
            </a:r>
            <a:endParaRPr lang="en-US" sz="1600" dirty="0"/>
          </a:p>
        </p:txBody>
      </p:sp>
      <p:sp>
        <p:nvSpPr>
          <p:cNvPr id="12" name="Text 10"/>
          <p:cNvSpPr txBox="1"/>
          <p:nvPr/>
        </p:nvSpPr>
        <p:spPr>
          <a:xfrm>
            <a:off x="969264" y="4700016"/>
            <a:ext cx="5870448" cy="283464"/>
          </a:xfrm>
          <a:prstGeom prst="rect">
            <a:avLst/>
          </a:prstGeom>
          <a:noFill/>
          <a:ln/>
        </p:spPr>
        <p:txBody>
          <a:bodyPr wrap="square" lIns="0" tIns="0" rIns="0" bIns="0" rtlCol="0" anchor="ctr"/>
          <a:lstStyle/>
          <a:p>
            <a:pPr algn="l" indent="0" marL="0">
              <a:buNone/>
            </a:pPr>
            <a:r>
              <a:rPr lang="en-US" sz="1600" dirty="0">
                <a:solidFill>
                  <a:srgbClr val="102333"/>
                </a:solidFill>
                <a:latin typeface="Arial" pitchFamily="34" charset="0"/>
                <a:ea typeface="Arial" pitchFamily="34" charset="-122"/>
                <a:cs typeface="Arial" pitchFamily="34" charset="-120"/>
              </a:rPr>
              <a:t>6. Matikan tool, lalu ulangi untuk dua tool lainnya.</a:t>
            </a:r>
            <a:endParaRPr lang="en-US" sz="1600" dirty="0"/>
          </a:p>
        </p:txBody>
      </p:sp>
      <p:sp>
        <p:nvSpPr>
          <p:cNvPr id="13" name="Shape 11"/>
          <p:cNvSpPr/>
          <p:nvPr/>
        </p:nvSpPr>
        <p:spPr>
          <a:xfrm>
            <a:off x="7388352" y="1627632"/>
            <a:ext cx="4050792" cy="4233672"/>
          </a:xfrm>
          <a:prstGeom prst="roundRect">
            <a:avLst>
              <a:gd name="adj" fmla="val 2257"/>
            </a:avLst>
          </a:prstGeom>
          <a:solidFill>
            <a:srgbClr val="0C1E2C"/>
          </a:solidFill>
          <a:ln w="12700">
            <a:solidFill>
              <a:srgbClr val="0C1E2C"/>
            </a:solidFill>
            <a:prstDash val="solid"/>
          </a:ln>
        </p:spPr>
      </p:sp>
      <p:sp>
        <p:nvSpPr>
          <p:cNvPr id="14" name="Text 12"/>
          <p:cNvSpPr txBox="1"/>
          <p:nvPr/>
        </p:nvSpPr>
        <p:spPr>
          <a:xfrm>
            <a:off x="7708392" y="1975104"/>
            <a:ext cx="3383280" cy="356616"/>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Bukti per tool</a:t>
            </a:r>
            <a:endParaRPr lang="en-US" sz="2200" dirty="0"/>
          </a:p>
        </p:txBody>
      </p:sp>
      <p:sp>
        <p:nvSpPr>
          <p:cNvPr id="15" name="Shape 13"/>
          <p:cNvSpPr/>
          <p:nvPr/>
        </p:nvSpPr>
        <p:spPr>
          <a:xfrm>
            <a:off x="7744968" y="2660904"/>
            <a:ext cx="118872" cy="118872"/>
          </a:xfrm>
          <a:prstGeom prst="ellipse">
            <a:avLst/>
          </a:prstGeom>
          <a:solidFill>
            <a:srgbClr val="00A7A4"/>
          </a:solidFill>
          <a:ln w="12700">
            <a:solidFill>
              <a:srgbClr val="00A7A4"/>
            </a:solidFill>
            <a:prstDash val="solid"/>
          </a:ln>
        </p:spPr>
      </p:sp>
      <p:sp>
        <p:nvSpPr>
          <p:cNvPr id="16" name="Text 14"/>
          <p:cNvSpPr txBox="1"/>
          <p:nvPr/>
        </p:nvSpPr>
        <p:spPr>
          <a:xfrm>
            <a:off x="8028432" y="2615184"/>
            <a:ext cx="3026664" cy="265176"/>
          </a:xfrm>
          <a:prstGeom prst="rect">
            <a:avLst/>
          </a:prstGeom>
          <a:noFill/>
          <a:ln/>
        </p:spPr>
        <p:txBody>
          <a:bodyPr wrap="square" lIns="0" tIns="0" rIns="0" bIns="0" rtlCol="0" anchor="ctr"/>
          <a:lstStyle/>
          <a:p>
            <a:pPr algn="l" indent="0" marL="0">
              <a:buNone/>
            </a:pPr>
            <a:r>
              <a:rPr lang="en-US" sz="1550" dirty="0">
                <a:solidFill>
                  <a:srgbClr val="FFFFFF"/>
                </a:solidFill>
                <a:latin typeface="Arial" pitchFamily="34" charset="0"/>
                <a:ea typeface="Arial" pitchFamily="34" charset="-122"/>
                <a:cs typeface="Arial" pitchFamily="34" charset="-120"/>
              </a:rPr>
              <a:t>Screenshot run sukses</a:t>
            </a:r>
            <a:endParaRPr lang="en-US" sz="1550" dirty="0"/>
          </a:p>
        </p:txBody>
      </p:sp>
      <p:sp>
        <p:nvSpPr>
          <p:cNvPr id="17" name="Shape 15"/>
          <p:cNvSpPr/>
          <p:nvPr/>
        </p:nvSpPr>
        <p:spPr>
          <a:xfrm>
            <a:off x="7744968" y="3118104"/>
            <a:ext cx="118872" cy="118872"/>
          </a:xfrm>
          <a:prstGeom prst="ellipse">
            <a:avLst/>
          </a:prstGeom>
          <a:solidFill>
            <a:srgbClr val="00A7A4"/>
          </a:solidFill>
          <a:ln w="12700">
            <a:solidFill>
              <a:srgbClr val="00A7A4"/>
            </a:solidFill>
            <a:prstDash val="solid"/>
          </a:ln>
        </p:spPr>
      </p:sp>
      <p:sp>
        <p:nvSpPr>
          <p:cNvPr id="18" name="Text 16"/>
          <p:cNvSpPr txBox="1"/>
          <p:nvPr/>
        </p:nvSpPr>
        <p:spPr>
          <a:xfrm>
            <a:off x="8028432" y="3072384"/>
            <a:ext cx="3026664" cy="265176"/>
          </a:xfrm>
          <a:prstGeom prst="rect">
            <a:avLst/>
          </a:prstGeom>
          <a:noFill/>
          <a:ln/>
        </p:spPr>
        <p:txBody>
          <a:bodyPr wrap="square" lIns="0" tIns="0" rIns="0" bIns="0" rtlCol="0" anchor="ctr"/>
          <a:lstStyle/>
          <a:p>
            <a:pPr algn="l" indent="0" marL="0">
              <a:buNone/>
            </a:pPr>
            <a:r>
              <a:rPr lang="en-US" sz="1550" dirty="0">
                <a:solidFill>
                  <a:srgbClr val="FFFFFF"/>
                </a:solidFill>
                <a:latin typeface="Arial" pitchFamily="34" charset="0"/>
                <a:ea typeface="Arial" pitchFamily="34" charset="-122"/>
                <a:cs typeface="Arial" pitchFamily="34" charset="-120"/>
              </a:rPr>
              <a:t>Potongan log ELT + dbt</a:t>
            </a:r>
            <a:endParaRPr lang="en-US" sz="1550" dirty="0"/>
          </a:p>
        </p:txBody>
      </p:sp>
      <p:sp>
        <p:nvSpPr>
          <p:cNvPr id="19" name="Shape 17"/>
          <p:cNvSpPr/>
          <p:nvPr/>
        </p:nvSpPr>
        <p:spPr>
          <a:xfrm>
            <a:off x="7744968" y="3575304"/>
            <a:ext cx="118872" cy="118872"/>
          </a:xfrm>
          <a:prstGeom prst="ellipse">
            <a:avLst/>
          </a:prstGeom>
          <a:solidFill>
            <a:srgbClr val="00A7A4"/>
          </a:solidFill>
          <a:ln w="12700">
            <a:solidFill>
              <a:srgbClr val="00A7A4"/>
            </a:solidFill>
            <a:prstDash val="solid"/>
          </a:ln>
        </p:spPr>
      </p:sp>
      <p:sp>
        <p:nvSpPr>
          <p:cNvPr id="20" name="Text 18"/>
          <p:cNvSpPr txBox="1"/>
          <p:nvPr/>
        </p:nvSpPr>
        <p:spPr>
          <a:xfrm>
            <a:off x="8028432" y="3529584"/>
            <a:ext cx="3026664" cy="265176"/>
          </a:xfrm>
          <a:prstGeom prst="rect">
            <a:avLst/>
          </a:prstGeom>
          <a:noFill/>
          <a:ln/>
        </p:spPr>
        <p:txBody>
          <a:bodyPr wrap="square" lIns="0" tIns="0" rIns="0" bIns="0" rtlCol="0" anchor="ctr"/>
          <a:lstStyle/>
          <a:p>
            <a:pPr algn="l" indent="0" marL="0">
              <a:buNone/>
            </a:pPr>
            <a:r>
              <a:rPr lang="en-US" sz="1550" dirty="0">
                <a:solidFill>
                  <a:srgbClr val="FFFFFF"/>
                </a:solidFill>
                <a:latin typeface="Arial" pitchFamily="34" charset="0"/>
                <a:ea typeface="Arial" pitchFamily="34" charset="-122"/>
                <a:cs typeface="Arial" pitchFamily="34" charset="-120"/>
              </a:rPr>
              <a:t>Hasil query datamart</a:t>
            </a:r>
            <a:endParaRPr lang="en-US" sz="1550" dirty="0"/>
          </a:p>
        </p:txBody>
      </p:sp>
      <p:sp>
        <p:nvSpPr>
          <p:cNvPr id="21" name="Shape 19"/>
          <p:cNvSpPr/>
          <p:nvPr/>
        </p:nvSpPr>
        <p:spPr>
          <a:xfrm>
            <a:off x="7744968" y="4032504"/>
            <a:ext cx="118872" cy="118872"/>
          </a:xfrm>
          <a:prstGeom prst="ellipse">
            <a:avLst/>
          </a:prstGeom>
          <a:solidFill>
            <a:srgbClr val="00A7A4"/>
          </a:solidFill>
          <a:ln w="12700">
            <a:solidFill>
              <a:srgbClr val="00A7A4"/>
            </a:solidFill>
            <a:prstDash val="solid"/>
          </a:ln>
        </p:spPr>
      </p:sp>
      <p:sp>
        <p:nvSpPr>
          <p:cNvPr id="22" name="Text 20"/>
          <p:cNvSpPr txBox="1"/>
          <p:nvPr/>
        </p:nvSpPr>
        <p:spPr>
          <a:xfrm>
            <a:off x="8028432" y="3986784"/>
            <a:ext cx="3026664" cy="265176"/>
          </a:xfrm>
          <a:prstGeom prst="rect">
            <a:avLst/>
          </a:prstGeom>
          <a:noFill/>
          <a:ln/>
        </p:spPr>
        <p:txBody>
          <a:bodyPr wrap="square" lIns="0" tIns="0" rIns="0" bIns="0" rtlCol="0" anchor="ctr"/>
          <a:lstStyle/>
          <a:p>
            <a:pPr algn="l" indent="0" marL="0">
              <a:buNone/>
            </a:pPr>
            <a:r>
              <a:rPr lang="en-US" sz="1550" dirty="0">
                <a:solidFill>
                  <a:srgbClr val="FFFFFF"/>
                </a:solidFill>
                <a:latin typeface="Arial" pitchFamily="34" charset="0"/>
                <a:ea typeface="Arial" pitchFamily="34" charset="-122"/>
                <a:cs typeface="Arial" pitchFamily="34" charset="-120"/>
              </a:rPr>
              <a:t>Cron dan timezone</a:t>
            </a:r>
            <a:endParaRPr lang="en-US" sz="1550" dirty="0"/>
          </a:p>
        </p:txBody>
      </p:sp>
      <p:sp>
        <p:nvSpPr>
          <p:cNvPr id="23" name="Shape 21"/>
          <p:cNvSpPr/>
          <p:nvPr/>
        </p:nvSpPr>
        <p:spPr>
          <a:xfrm>
            <a:off x="7744968" y="4489704"/>
            <a:ext cx="118872" cy="118872"/>
          </a:xfrm>
          <a:prstGeom prst="ellipse">
            <a:avLst/>
          </a:prstGeom>
          <a:solidFill>
            <a:srgbClr val="00A7A4"/>
          </a:solidFill>
          <a:ln w="12700">
            <a:solidFill>
              <a:srgbClr val="00A7A4"/>
            </a:solidFill>
            <a:prstDash val="solid"/>
          </a:ln>
        </p:spPr>
      </p:sp>
      <p:sp>
        <p:nvSpPr>
          <p:cNvPr id="24" name="Text 22"/>
          <p:cNvSpPr txBox="1"/>
          <p:nvPr/>
        </p:nvSpPr>
        <p:spPr>
          <a:xfrm>
            <a:off x="8028432" y="4443984"/>
            <a:ext cx="3026664" cy="265176"/>
          </a:xfrm>
          <a:prstGeom prst="rect">
            <a:avLst/>
          </a:prstGeom>
          <a:noFill/>
          <a:ln/>
        </p:spPr>
        <p:txBody>
          <a:bodyPr wrap="square" lIns="0" tIns="0" rIns="0" bIns="0" rtlCol="0" anchor="ctr"/>
          <a:lstStyle/>
          <a:p>
            <a:pPr algn="l" indent="0" marL="0">
              <a:buNone/>
            </a:pPr>
            <a:r>
              <a:rPr lang="en-US" sz="1550" dirty="0">
                <a:solidFill>
                  <a:srgbClr val="FFFFFF"/>
                </a:solidFill>
                <a:latin typeface="Arial" pitchFamily="34" charset="0"/>
                <a:ea typeface="Arial" pitchFamily="34" charset="-122"/>
                <a:cs typeface="Arial" pitchFamily="34" charset="-120"/>
              </a:rPr>
              <a:t>Scheduler aktif</a:t>
            </a:r>
            <a:endParaRPr lang="en-US" sz="1550" dirty="0"/>
          </a:p>
        </p:txBody>
      </p:sp>
      <p:sp>
        <p:nvSpPr>
          <p:cNvPr id="25" name="Shape 23"/>
          <p:cNvSpPr/>
          <p:nvPr/>
        </p:nvSpPr>
        <p:spPr>
          <a:xfrm>
            <a:off x="7744968" y="4946904"/>
            <a:ext cx="118872" cy="118872"/>
          </a:xfrm>
          <a:prstGeom prst="ellipse">
            <a:avLst/>
          </a:prstGeom>
          <a:solidFill>
            <a:srgbClr val="00A7A4"/>
          </a:solidFill>
          <a:ln w="12700">
            <a:solidFill>
              <a:srgbClr val="00A7A4"/>
            </a:solidFill>
            <a:prstDash val="solid"/>
          </a:ln>
        </p:spPr>
      </p:sp>
      <p:sp>
        <p:nvSpPr>
          <p:cNvPr id="26" name="Text 24"/>
          <p:cNvSpPr txBox="1"/>
          <p:nvPr/>
        </p:nvSpPr>
        <p:spPr>
          <a:xfrm>
            <a:off x="8028432" y="4901184"/>
            <a:ext cx="3026664" cy="265176"/>
          </a:xfrm>
          <a:prstGeom prst="rect">
            <a:avLst/>
          </a:prstGeom>
          <a:noFill/>
          <a:ln/>
        </p:spPr>
        <p:txBody>
          <a:bodyPr wrap="square" lIns="0" tIns="0" rIns="0" bIns="0" rtlCol="0" anchor="ctr"/>
          <a:lstStyle/>
          <a:p>
            <a:pPr algn="l" indent="0" marL="0">
              <a:buNone/>
            </a:pPr>
            <a:r>
              <a:rPr lang="en-US" sz="1550" dirty="0">
                <a:solidFill>
                  <a:srgbClr val="FFFFFF"/>
                </a:solidFill>
                <a:latin typeface="Arial" pitchFamily="34" charset="0"/>
                <a:ea typeface="Arial" pitchFamily="34" charset="-122"/>
                <a:cs typeface="Arial" pitchFamily="34" charset="-120"/>
              </a:rPr>
              <a:t>Catatan kendala &amp; solusi</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1E2C"/>
        </a:solidFill>
      </p:bgPr>
    </p:bg>
    <p:spTree>
      <p:nvGrpSpPr>
        <p:cNvPr id="1" name=""/>
        <p:cNvGrpSpPr/>
        <p:nvPr/>
      </p:nvGrpSpPr>
      <p:grpSpPr>
        <a:xfrm>
          <a:off x="0" y="0"/>
          <a:ext cx="0" cy="0"/>
          <a:chOff x="0" y="0"/>
          <a:chExt cx="0" cy="0"/>
        </a:xfrm>
      </p:grpSpPr>
      <p:sp>
        <p:nvSpPr>
          <p:cNvPr id="2" name="Text 0"/>
          <p:cNvSpPr txBox="1"/>
          <p:nvPr/>
        </p:nvSpPr>
        <p:spPr>
          <a:xfrm>
            <a:off x="694944" y="548640"/>
            <a:ext cx="9966960" cy="530352"/>
          </a:xfrm>
          <a:prstGeom prst="rect">
            <a:avLst/>
          </a:prstGeom>
          <a:noFill/>
          <a:ln/>
        </p:spPr>
        <p:txBody>
          <a:bodyPr wrap="square" lIns="0" tIns="0" rIns="0" bIns="0" rtlCol="0" anchor="ctr"/>
          <a:lstStyle/>
          <a:p>
            <a:pPr algn="l" indent="0" marL="0">
              <a:buNone/>
            </a:pPr>
            <a:r>
              <a:rPr lang="en-US" sz="3300" b="1" dirty="0">
                <a:solidFill>
                  <a:srgbClr val="FFFFFF"/>
                </a:solidFill>
                <a:latin typeface="Arial" pitchFamily="34" charset="0"/>
                <a:ea typeface="Arial" pitchFamily="34" charset="-122"/>
                <a:cs typeface="Arial" pitchFamily="34" charset="-120"/>
              </a:rPr>
              <a:t>Ringkasan Pertemuan 6</a:t>
            </a:r>
            <a:endParaRPr lang="en-US" sz="3300" dirty="0"/>
          </a:p>
        </p:txBody>
      </p:sp>
      <p:sp>
        <p:nvSpPr>
          <p:cNvPr id="3" name="Shape 1"/>
          <p:cNvSpPr/>
          <p:nvPr/>
        </p:nvSpPr>
        <p:spPr>
          <a:xfrm>
            <a:off x="841248" y="1664208"/>
            <a:ext cx="502920" cy="502920"/>
          </a:xfrm>
          <a:prstGeom prst="ellipse">
            <a:avLst/>
          </a:prstGeom>
          <a:solidFill>
            <a:srgbClr val="00A7A4"/>
          </a:solidFill>
          <a:ln w="12700">
            <a:solidFill>
              <a:srgbClr val="00A7A4"/>
            </a:solidFill>
            <a:prstDash val="solid"/>
          </a:ln>
        </p:spPr>
      </p:sp>
      <p:sp>
        <p:nvSpPr>
          <p:cNvPr id="4" name="Text 2"/>
          <p:cNvSpPr txBox="1"/>
          <p:nvPr/>
        </p:nvSpPr>
        <p:spPr>
          <a:xfrm>
            <a:off x="1572768" y="1645920"/>
            <a:ext cx="2322576" cy="365760"/>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Automation</a:t>
            </a:r>
            <a:endParaRPr lang="en-US" sz="2200" dirty="0"/>
          </a:p>
        </p:txBody>
      </p:sp>
      <p:sp>
        <p:nvSpPr>
          <p:cNvPr id="5" name="Text 3"/>
          <p:cNvSpPr txBox="1"/>
          <p:nvPr/>
        </p:nvSpPr>
        <p:spPr>
          <a:xfrm>
            <a:off x="3941064" y="1700784"/>
            <a:ext cx="6885432" cy="292608"/>
          </a:xfrm>
          <a:prstGeom prst="rect">
            <a:avLst/>
          </a:prstGeom>
          <a:noFill/>
          <a:ln/>
        </p:spPr>
        <p:txBody>
          <a:bodyPr wrap="square" lIns="0" tIns="0" rIns="0" bIns="0" rtlCol="0" anchor="ctr"/>
          <a:lstStyle/>
          <a:p>
            <a:pPr algn="l" indent="0" marL="0">
              <a:buNone/>
            </a:pPr>
            <a:r>
              <a:rPr lang="en-US" sz="1700" dirty="0">
                <a:solidFill>
                  <a:srgbClr val="C9D9E3"/>
                </a:solidFill>
                <a:latin typeface="Arial" pitchFamily="34" charset="0"/>
                <a:ea typeface="Arial" pitchFamily="34" charset="-122"/>
                <a:cs typeface="Arial" pitchFamily="34" charset="-120"/>
              </a:rPr>
              <a:t>menjalankan aksi berulang secara otomatis</a:t>
            </a:r>
            <a:endParaRPr lang="en-US" sz="1700" dirty="0"/>
          </a:p>
        </p:txBody>
      </p:sp>
      <p:sp>
        <p:nvSpPr>
          <p:cNvPr id="6" name="Shape 4"/>
          <p:cNvSpPr/>
          <p:nvPr/>
        </p:nvSpPr>
        <p:spPr>
          <a:xfrm>
            <a:off x="841248" y="2798064"/>
            <a:ext cx="502920" cy="502920"/>
          </a:xfrm>
          <a:prstGeom prst="ellipse">
            <a:avLst/>
          </a:prstGeom>
          <a:solidFill>
            <a:srgbClr val="2563A6"/>
          </a:solidFill>
          <a:ln w="12700">
            <a:solidFill>
              <a:srgbClr val="2563A6"/>
            </a:solidFill>
            <a:prstDash val="solid"/>
          </a:ln>
        </p:spPr>
      </p:sp>
      <p:sp>
        <p:nvSpPr>
          <p:cNvPr id="7" name="Text 5"/>
          <p:cNvSpPr txBox="1"/>
          <p:nvPr/>
        </p:nvSpPr>
        <p:spPr>
          <a:xfrm>
            <a:off x="1572768" y="2779776"/>
            <a:ext cx="2322576" cy="365760"/>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Scheduling</a:t>
            </a:r>
            <a:endParaRPr lang="en-US" sz="2200" dirty="0"/>
          </a:p>
        </p:txBody>
      </p:sp>
      <p:sp>
        <p:nvSpPr>
          <p:cNvPr id="8" name="Text 6"/>
          <p:cNvSpPr txBox="1"/>
          <p:nvPr/>
        </p:nvSpPr>
        <p:spPr>
          <a:xfrm>
            <a:off x="3941064" y="2834640"/>
            <a:ext cx="6885432" cy="292608"/>
          </a:xfrm>
          <a:prstGeom prst="rect">
            <a:avLst/>
          </a:prstGeom>
          <a:noFill/>
          <a:ln/>
        </p:spPr>
        <p:txBody>
          <a:bodyPr wrap="square" lIns="0" tIns="0" rIns="0" bIns="0" rtlCol="0" anchor="ctr"/>
          <a:lstStyle/>
          <a:p>
            <a:pPr algn="l" indent="0" marL="0">
              <a:buNone/>
            </a:pPr>
            <a:r>
              <a:rPr lang="en-US" sz="1700" dirty="0">
                <a:solidFill>
                  <a:srgbClr val="C9D9E3"/>
                </a:solidFill>
                <a:latin typeface="Arial" pitchFamily="34" charset="0"/>
                <a:ea typeface="Arial" pitchFamily="34" charset="-122"/>
                <a:cs typeface="Arial" pitchFamily="34" charset="-120"/>
              </a:rPr>
              <a:t>menentukan waktu run melalui cron dan timezone</a:t>
            </a:r>
            <a:endParaRPr lang="en-US" sz="1700" dirty="0"/>
          </a:p>
        </p:txBody>
      </p:sp>
      <p:sp>
        <p:nvSpPr>
          <p:cNvPr id="9" name="Shape 7"/>
          <p:cNvSpPr/>
          <p:nvPr/>
        </p:nvSpPr>
        <p:spPr>
          <a:xfrm>
            <a:off x="841248" y="3931920"/>
            <a:ext cx="502920" cy="502920"/>
          </a:xfrm>
          <a:prstGeom prst="ellipse">
            <a:avLst/>
          </a:prstGeom>
          <a:solidFill>
            <a:srgbClr val="FA6A60"/>
          </a:solidFill>
          <a:ln w="12700">
            <a:solidFill>
              <a:srgbClr val="FA6A60"/>
            </a:solidFill>
            <a:prstDash val="solid"/>
          </a:ln>
        </p:spPr>
      </p:sp>
      <p:sp>
        <p:nvSpPr>
          <p:cNvPr id="10" name="Text 8"/>
          <p:cNvSpPr txBox="1"/>
          <p:nvPr/>
        </p:nvSpPr>
        <p:spPr>
          <a:xfrm>
            <a:off x="1572768" y="3913632"/>
            <a:ext cx="2322576" cy="365760"/>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Orchestration</a:t>
            </a:r>
            <a:endParaRPr lang="en-US" sz="2200" dirty="0"/>
          </a:p>
        </p:txBody>
      </p:sp>
      <p:sp>
        <p:nvSpPr>
          <p:cNvPr id="11" name="Text 9"/>
          <p:cNvSpPr txBox="1"/>
          <p:nvPr/>
        </p:nvSpPr>
        <p:spPr>
          <a:xfrm>
            <a:off x="3941064" y="3968496"/>
            <a:ext cx="6885432" cy="292608"/>
          </a:xfrm>
          <a:prstGeom prst="rect">
            <a:avLst/>
          </a:prstGeom>
          <a:noFill/>
          <a:ln/>
        </p:spPr>
        <p:txBody>
          <a:bodyPr wrap="square" lIns="0" tIns="0" rIns="0" bIns="0" rtlCol="0" anchor="ctr"/>
          <a:lstStyle/>
          <a:p>
            <a:pPr algn="l" indent="0" marL="0">
              <a:buNone/>
            </a:pPr>
            <a:r>
              <a:rPr lang="en-US" sz="1700" dirty="0">
                <a:solidFill>
                  <a:srgbClr val="C9D9E3"/>
                </a:solidFill>
                <a:latin typeface="Arial" pitchFamily="34" charset="0"/>
                <a:ea typeface="Arial" pitchFamily="34" charset="-122"/>
                <a:cs typeface="Arial" pitchFamily="34" charset="-120"/>
              </a:rPr>
              <a:t>mengatur urutan, status, retry, log, dan monitoring</a:t>
            </a:r>
            <a:endParaRPr lang="en-US" sz="1700" dirty="0"/>
          </a:p>
        </p:txBody>
      </p:sp>
      <p:sp>
        <p:nvSpPr>
          <p:cNvPr id="12" name="Shape 10"/>
          <p:cNvSpPr/>
          <p:nvPr/>
        </p:nvSpPr>
        <p:spPr>
          <a:xfrm>
            <a:off x="777240" y="5413248"/>
            <a:ext cx="10634472" cy="548640"/>
          </a:xfrm>
          <a:prstGeom prst="roundRect">
            <a:avLst>
              <a:gd name="adj" fmla="val 16667"/>
            </a:avLst>
          </a:prstGeom>
          <a:solidFill>
            <a:srgbClr val="00A7A4"/>
          </a:solidFill>
          <a:ln w="12700">
            <a:solidFill>
              <a:srgbClr val="00A7A4"/>
            </a:solidFill>
            <a:prstDash val="solid"/>
          </a:ln>
        </p:spPr>
      </p:sp>
      <p:sp>
        <p:nvSpPr>
          <p:cNvPr id="13" name="Text 11"/>
          <p:cNvSpPr txBox="1"/>
          <p:nvPr/>
        </p:nvSpPr>
        <p:spPr>
          <a:xfrm>
            <a:off x="1005840" y="5541264"/>
            <a:ext cx="10186416"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Dagster, Prefect, dan Kestra → script ELT yang sama → data mart yang terverifikasi</a:t>
            </a:r>
            <a:endParaRPr lang="en-US" sz="1800" dirty="0"/>
          </a:p>
        </p:txBody>
      </p:sp>
      <p:sp>
        <p:nvSpPr>
          <p:cNvPr id="14" name="Text 12"/>
          <p:cNvSpPr txBox="1"/>
          <p:nvPr/>
        </p:nvSpPr>
        <p:spPr>
          <a:xfrm>
            <a:off x="694944" y="6364224"/>
            <a:ext cx="2011680" cy="182880"/>
          </a:xfrm>
          <a:prstGeom prst="rect">
            <a:avLst/>
          </a:prstGeom>
          <a:noFill/>
          <a:ln/>
        </p:spPr>
        <p:txBody>
          <a:bodyPr wrap="square" lIns="0" tIns="0" rIns="0" bIns="0" rtlCol="0" anchor="ctr"/>
          <a:lstStyle/>
          <a:p>
            <a:pPr algn="l" indent="0" marL="0">
              <a:buNone/>
            </a:pPr>
            <a:r>
              <a:rPr lang="en-US" sz="1200" b="1" dirty="0">
                <a:solidFill>
                  <a:srgbClr val="FFFFFF"/>
                </a:solidFill>
                <a:latin typeface="Arial" pitchFamily="34" charset="0"/>
                <a:ea typeface="Arial" pitchFamily="34" charset="-122"/>
                <a:cs typeface="Arial" pitchFamily="34" charset="-120"/>
              </a:rPr>
              <a:t>Nusacodes</a:t>
            </a:r>
            <a:endParaRPr lang="en-US" sz="1200" dirty="0"/>
          </a:p>
        </p:txBody>
      </p:sp>
      <p:sp>
        <p:nvSpPr>
          <p:cNvPr id="15" name="Text 13"/>
          <p:cNvSpPr txBox="1"/>
          <p:nvPr/>
        </p:nvSpPr>
        <p:spPr>
          <a:xfrm>
            <a:off x="11082528" y="6355080"/>
            <a:ext cx="393192" cy="182880"/>
          </a:xfrm>
          <a:prstGeom prst="rect">
            <a:avLst/>
          </a:prstGeom>
          <a:noFill/>
          <a:ln/>
        </p:spPr>
        <p:txBody>
          <a:bodyPr wrap="square" lIns="0" tIns="0" rIns="0" bIns="0" rtlCol="0" anchor="ctr"/>
          <a:lstStyle/>
          <a:p>
            <a:pPr algn="r" indent="0" marL="0">
              <a:buNone/>
            </a:pPr>
            <a:r>
              <a:rPr lang="en-US" sz="1000" dirty="0">
                <a:solidFill>
                  <a:srgbClr val="B7C8D1"/>
                </a:solidFill>
                <a:latin typeface="Arial" pitchFamily="34" charset="0"/>
                <a:ea typeface="Arial" pitchFamily="34" charset="-122"/>
                <a:cs typeface="Arial" pitchFamily="34" charset="-120"/>
              </a:rPr>
              <a:t>19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Pertemuan 6 — Automation, Scheduling, dan Orchestration</dc:title>
  <dc:subject>Pertemuan 6: Automation, Scheduling, dan Orchestration</dc:subject>
  <dc:creator>Nusacodes Bootcamp Data Engineering</dc:creator>
  <cp:lastModifiedBy>Nusacodes Bootcamp Data Engineering</cp:lastModifiedBy>
  <cp:revision>1</cp:revision>
  <dcterms:created xsi:type="dcterms:W3CDTF">2026-10-24T08:28:27Z</dcterms:created>
  <dcterms:modified xsi:type="dcterms:W3CDTF">2026-10-24T08:28:27Z</dcterms:modified>
</cp:coreProperties>
</file>