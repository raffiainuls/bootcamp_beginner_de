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12192000"/>
  <p:embeddedFontLst>
    <p:embeddedFont>
      <p:font typeface="Urbanist"/>
      <p:regular r:id="rId31"/>
      <p:bold r:id="rId32"/>
      <p:italic r:id="rId33"/>
      <p:boldItalic r:id="rId34"/>
    </p:embeddedFont>
    <p:embeddedFont>
      <p:font typeface="DM Sans"/>
      <p:regular r:id="rId35"/>
      <p:bold r:id="rId36"/>
      <p:italic r:id="rId37"/>
      <p:boldItalic r:id="rId38"/>
    </p:embeddedFont>
    <p:embeddedFont>
      <p:font typeface="JetBrains Mono"/>
      <p:regular r:id="rId39"/>
      <p:bold r:id="rId40"/>
      <p:italic r:id="rId41"/>
      <p:boldItalic r:id="rId42"/>
    </p:embeddedFont>
    <p:embeddedFont>
      <p:font typeface="Space Grotesk"/>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38E6CE7-FCC6-4221-AED0-C249BFB50FE1}">
  <a:tblStyle styleId="{938E6CE7-FCC6-4221-AED0-C249BFB50FE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JetBrainsMono-bold.fntdata"/><Relationship Id="rId20" Type="http://schemas.openxmlformats.org/officeDocument/2006/relationships/slide" Target="slides/slide15.xml"/><Relationship Id="rId42" Type="http://schemas.openxmlformats.org/officeDocument/2006/relationships/font" Target="fonts/JetBrainsMono-boldItalic.fntdata"/><Relationship Id="rId41" Type="http://schemas.openxmlformats.org/officeDocument/2006/relationships/font" Target="fonts/JetBrainsMono-italic.fntdata"/><Relationship Id="rId22" Type="http://schemas.openxmlformats.org/officeDocument/2006/relationships/slide" Target="slides/slide17.xml"/><Relationship Id="rId44" Type="http://schemas.openxmlformats.org/officeDocument/2006/relationships/font" Target="fonts/SpaceGrotesk-bold.fntdata"/><Relationship Id="rId21" Type="http://schemas.openxmlformats.org/officeDocument/2006/relationships/slide" Target="slides/slide16.xml"/><Relationship Id="rId43" Type="http://schemas.openxmlformats.org/officeDocument/2006/relationships/font" Target="fonts/SpaceGrotesk-regular.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Urbanist-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Urbanist-italic.fntdata"/><Relationship Id="rId10" Type="http://schemas.openxmlformats.org/officeDocument/2006/relationships/slide" Target="slides/slide5.xml"/><Relationship Id="rId32" Type="http://schemas.openxmlformats.org/officeDocument/2006/relationships/font" Target="fonts/Urbanist-bold.fntdata"/><Relationship Id="rId13" Type="http://schemas.openxmlformats.org/officeDocument/2006/relationships/slide" Target="slides/slide8.xml"/><Relationship Id="rId35" Type="http://schemas.openxmlformats.org/officeDocument/2006/relationships/font" Target="fonts/DMSans-regular.fntdata"/><Relationship Id="rId12" Type="http://schemas.openxmlformats.org/officeDocument/2006/relationships/slide" Target="slides/slide7.xml"/><Relationship Id="rId34" Type="http://schemas.openxmlformats.org/officeDocument/2006/relationships/font" Target="fonts/Urbanist-boldItalic.fntdata"/><Relationship Id="rId15" Type="http://schemas.openxmlformats.org/officeDocument/2006/relationships/slide" Target="slides/slide10.xml"/><Relationship Id="rId37" Type="http://schemas.openxmlformats.org/officeDocument/2006/relationships/font" Target="fonts/DMSans-italic.fntdata"/><Relationship Id="rId14" Type="http://schemas.openxmlformats.org/officeDocument/2006/relationships/slide" Target="slides/slide9.xml"/><Relationship Id="rId36" Type="http://schemas.openxmlformats.org/officeDocument/2006/relationships/font" Target="fonts/DMSans-bold.fntdata"/><Relationship Id="rId17" Type="http://schemas.openxmlformats.org/officeDocument/2006/relationships/slide" Target="slides/slide12.xml"/><Relationship Id="rId39" Type="http://schemas.openxmlformats.org/officeDocument/2006/relationships/font" Target="fonts/JetBrainsMono-regular.fntdata"/><Relationship Id="rId16" Type="http://schemas.openxmlformats.org/officeDocument/2006/relationships/slide" Target="slides/slide11.xml"/><Relationship Id="rId38" Type="http://schemas.openxmlformats.org/officeDocument/2006/relationships/font" Target="fonts/DMSans-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Buka dengan mengingat pipeline yang sudah dibuat pada Pertemuan 5. Hari ini fokusnya adalah menjalankan, menjadwalkan, dan memantau pipeline yang sama memakai tiga tool orkestrasi.</a:t>
            </a:r>
            <a:br>
              <a:rPr lang="en-US"/>
            </a:br>
            <a:br>
              <a:rPr lang="en-US"/>
            </a:br>
            <a:r>
              <a:rPr lang="en-US"/>
              <a:t>Sumber:</a:t>
            </a:r>
            <a:br>
              <a:rPr lang="en-US"/>
            </a:br>
            <a:endParaRPr/>
          </a:p>
        </p:txBody>
      </p:sp>
      <p:sp>
        <p:nvSpPr>
          <p:cNvPr id="18" name="Google Shape;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Gunakan empat hasil belajar sebagai kriteria selesai praktik. Minta peserta menunjukkan log, status run, dan query hasil, bukan hanya screenshot UI.</a:t>
            </a:r>
            <a:br>
              <a:rPr lang="en-US"/>
            </a:br>
            <a:br>
              <a:rPr lang="en-US"/>
            </a:br>
            <a:r>
              <a:rPr lang="en-US"/>
              <a:t>Sumber:</a:t>
            </a:r>
            <a:br>
              <a:rPr lang="en-US"/>
            </a:br>
            <a:r>
              <a:rPr lang="en-US"/>
              <a:t>pertemuan-6/README.md</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Tekankan bahwa tiga orchestrator pada Pertemuan 6 sama-sama memanggil script dari Pertemuan 5. Script itu adalah sumber logika ELT. Perbedaan antar tool ada pada definisi workflow, schedule, dan monitoring.</a:t>
            </a:r>
            <a:br>
              <a:rPr lang="en-US"/>
            </a:br>
            <a:br>
              <a:rPr lang="en-US"/>
            </a:br>
            <a:r>
              <a:rPr lang="en-US"/>
              <a:t>Sumber:</a:t>
            </a:r>
            <a:br>
              <a:rPr lang="en-US"/>
            </a:br>
            <a:r>
              <a:rPr lang="en-US"/>
              <a:t>pertemuan-5/run_pipeline.sh</a:t>
            </a:r>
            <a:endParaRPr/>
          </a:p>
        </p:txBody>
      </p:sp>
      <p:sp>
        <p:nvSpPr>
          <p:cNvPr id="57" name="Google Shape;5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Berikan contoh: otomasi adalah eksekusi tanpa pekerjaan manual berulang, scheduling menentukan waktu, orchestration memastikan urutan, status, retry, serta log. Setelah memberi contoh, minta peserta mengelompokkan satu situasi nyata ke tiga konsep ini.</a:t>
            </a:r>
            <a:br>
              <a:rPr lang="en-US"/>
            </a:br>
            <a:br>
              <a:rPr lang="en-US"/>
            </a:br>
            <a:r>
              <a:rPr lang="en-US"/>
              <a:t>Sumber:</a:t>
            </a:r>
            <a:br>
              <a:rPr lang="en-US"/>
            </a:br>
            <a:endParaRPr/>
          </a:p>
        </p:txBody>
      </p:sp>
      <p:sp>
        <p:nvSpPr>
          <p:cNvPr id="84" name="Google Shape;8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Tunjukkan perbedaan antara scheduled, running, failed, dan succeeded. Sebuah run yang dimulai pada waktunya tetap dapat gagal. Data mart perlu dicek sebagai hasil bisnis akhir.</a:t>
            </a:r>
            <a:br>
              <a:rPr lang="en-US"/>
            </a:br>
            <a:br>
              <a:rPr lang="en-US"/>
            </a:br>
            <a:r>
              <a:rPr lang="en-US"/>
              <a:t>Sumber:</a:t>
            </a:r>
            <a:br>
              <a:rPr lang="en-US"/>
            </a:br>
            <a:endParaRPr/>
          </a:p>
        </p:txBody>
      </p:sp>
      <p:sp>
        <p:nvSpPr>
          <p:cNvPr id="112" name="Google Shape;11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Baca setiap kolom dari kiri ke kanan. Contoh */5 berarti pada menit 0, 5, 10, dan seterusnya. Cron tidak menjelaskan timezone dengan sendirinya; tool perlu diberi timezone eksplisit supaya waktu lokal tidak ambigu.</a:t>
            </a:r>
            <a:br>
              <a:rPr lang="en-US"/>
            </a:br>
            <a:br>
              <a:rPr lang="en-US"/>
            </a:br>
            <a:r>
              <a:rPr lang="en-US"/>
              <a:t>Sumber:</a:t>
            </a:r>
            <a:br>
              <a:rPr lang="en-US"/>
            </a:br>
            <a:r>
              <a:rPr lang="en-US"/>
              <a:t>https://dagster.io/docs/guides/automate/schedules</a:t>
            </a:r>
            <a:br>
              <a:rPr lang="en-US"/>
            </a:br>
            <a:r>
              <a:rPr lang="en-US"/>
              <a:t>https://kestra.io/docs/workflow-components/triggers/schedule-trigger</a:t>
            </a:r>
            <a:endParaRPr/>
          </a:p>
        </p:txBody>
      </p:sp>
      <p:sp>
        <p:nvSpPr>
          <p:cNvPr id="147" name="Google Shape;14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Interval yang tampil berasal dari kode repository saat slide ini dibuat. Dagster dan Kestra setiap 5 menit, Prefect setiap 15 menit. Untuk Prefect, contoh kode mengatur cron tanpa timezone di serve(); periksa timezone deployment jika kebutuhan praktik harus WIB secara eksplisit.</a:t>
            </a:r>
            <a:br>
              <a:rPr lang="en-US"/>
            </a:br>
            <a:br>
              <a:rPr lang="en-US"/>
            </a:br>
            <a:r>
              <a:rPr lang="en-US"/>
              <a:t>Sumber:</a:t>
            </a:r>
            <a:br>
              <a:rPr lang="en-US"/>
            </a:br>
            <a:r>
              <a:rPr lang="en-US"/>
              <a:t>pertemuan-6/dagster/dagster_pipeline.py</a:t>
            </a:r>
            <a:br>
              <a:rPr lang="en-US"/>
            </a:br>
            <a:r>
              <a:rPr lang="en-US"/>
              <a:t>pertemuan-6/prefect/prefect_pipeline.py</a:t>
            </a:r>
            <a:br>
              <a:rPr lang="en-US"/>
            </a:br>
            <a:r>
              <a:rPr lang="en-US"/>
              <a:t>pertemuan-6/kestra/flows/elt_pipeline.yml</a:t>
            </a:r>
            <a:endParaRPr/>
          </a:p>
        </p:txBody>
      </p:sp>
      <p:sp>
        <p:nvSpPr>
          <p:cNvPr id="177" name="Google Shape;17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Tekankan pola wrapper: Dagster memakai asset, Prefect memakai flow/task, Kestra memakai flow YAML. Semuanya memanggil bash pertemuan-5/run_pipeline.sh. Jangan menduplikasi logic Extract, Load, dan Transform di tiga tool.</a:t>
            </a:r>
            <a:br>
              <a:rPr lang="en-US"/>
            </a:br>
            <a:br>
              <a:rPr lang="en-US"/>
            </a:br>
            <a:r>
              <a:rPr lang="en-US"/>
              <a:t>Sumber:</a:t>
            </a:r>
            <a:br>
              <a:rPr lang="en-US"/>
            </a:br>
            <a:r>
              <a:rPr lang="en-US"/>
              <a:t>pertemuan-6/README.md</a:t>
            </a:r>
            <a:endParaRPr/>
          </a:p>
        </p:txBody>
      </p:sp>
      <p:sp>
        <p:nvSpPr>
          <p:cNvPr id="202" name="Google Shape;20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Tunjukkan dagster_pipeline.py: @asset berisi subprocess, define_asset_job memilih asset, dan @schedule memicu job. Kegagalan subprocess dinaikkan sebagai exception sehingga run terlihat gagal, bukan diam-diam sukses.</a:t>
            </a:r>
            <a:br>
              <a:rPr lang="en-US"/>
            </a:br>
            <a:br>
              <a:rPr lang="en-US"/>
            </a:br>
            <a:r>
              <a:rPr lang="en-US"/>
              <a:t>Sumber:</a:t>
            </a:r>
            <a:br>
              <a:rPr lang="en-US"/>
            </a:br>
            <a:r>
              <a:rPr lang="en-US"/>
              <a:t>pertemuan-6/dagster/dagster_pipeline.py</a:t>
            </a:r>
            <a:br>
              <a:rPr lang="en-US"/>
            </a:br>
            <a:r>
              <a:rPr lang="en-US"/>
              <a:t>https://dagster.io/docs/guides/automate/schedules</a:t>
            </a:r>
            <a:endParaRPr/>
          </a:p>
        </p:txBody>
      </p:sp>
      <p:sp>
        <p:nvSpPr>
          <p:cNvPr id="229" name="Google Shape;22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Demokan docker compose ps: ada webserver dan daemon. Pada UI, manual materialize tidak memerlukan menunggu cron. Untuk otomatisasi terjadwal, daemon harus hidup dan schedule aktif. Lokasi kode dan cara membuka UI ada di README Dagster.</a:t>
            </a:r>
            <a:br>
              <a:rPr lang="en-US"/>
            </a:br>
            <a:br>
              <a:rPr lang="en-US"/>
            </a:br>
            <a:r>
              <a:rPr lang="en-US"/>
              <a:t>Sumber:</a:t>
            </a:r>
            <a:br>
              <a:rPr lang="en-US"/>
            </a:br>
            <a:r>
              <a:rPr lang="en-US"/>
              <a:t>pertemuan-6/dagster/README.md</a:t>
            </a:r>
            <a:br>
              <a:rPr lang="en-US"/>
            </a:br>
            <a:r>
              <a:rPr lang="en-US"/>
              <a:t>https://dagster.io/docs/guides/automate/schedules</a:t>
            </a:r>
            <a:endParaRPr/>
          </a:p>
        </p:txBody>
      </p:sp>
      <p:sp>
        <p:nvSpPr>
          <p:cNvPr id="252" name="Google Shape;25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Potongan kode ini disederhanakan dari file lokal. Prefect @task menambahkan retry; @flow mengelompokkan pekerjaan. serve() membuat deployment dengan cron setiap 15 menit. Demo manual run lewat UI agar peserta tidak perlu menunggu jadwal.</a:t>
            </a:r>
            <a:br>
              <a:rPr lang="en-US"/>
            </a:br>
            <a:br>
              <a:rPr lang="en-US"/>
            </a:br>
            <a:r>
              <a:rPr lang="en-US"/>
              <a:t>Sumber:</a:t>
            </a:r>
            <a:br>
              <a:rPr lang="en-US"/>
            </a:br>
            <a:r>
              <a:rPr lang="en-US"/>
              <a:t>pertemuan-6/prefect/prefect_pipeline.py</a:t>
            </a:r>
            <a:br>
              <a:rPr lang="en-US"/>
            </a:br>
            <a:r>
              <a:rPr lang="en-US"/>
              <a:t>https://docs.prefect.io/v3/concepts/flows</a:t>
            </a:r>
            <a:br>
              <a:rPr lang="en-US"/>
            </a:br>
            <a:r>
              <a:rPr lang="en-US"/>
              <a:t>https://docs.prefect.io/v3/how-to-guides/deployments/deploy-via-python</a:t>
            </a:r>
            <a:endParaRPr/>
          </a:p>
        </p:txBody>
      </p:sp>
      <p:sp>
        <p:nvSpPr>
          <p:cNvPr id="275" name="Google Shape;27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Kode dipadatkan dari elt_pipeline.yml. Dalam praktik Kestra, server dijalankan dulu, image task runner dibangun, flow YAML di-import ke UI, baru execute. YAML lokal tidak otomatis menjadi flow aktif tanpa import. Docker runner menjalankan script yang sama dengan dua tool lain.</a:t>
            </a:r>
            <a:br>
              <a:rPr lang="en-US"/>
            </a:br>
            <a:br>
              <a:rPr lang="en-US"/>
            </a:br>
            <a:r>
              <a:rPr lang="en-US"/>
              <a:t>Sumber:</a:t>
            </a:r>
            <a:br>
              <a:rPr lang="en-US"/>
            </a:br>
            <a:r>
              <a:rPr lang="en-US"/>
              <a:t>pertemuan-6/kestra/flows/elt_pipeline.yml</a:t>
            </a:r>
            <a:br>
              <a:rPr lang="en-US"/>
            </a:br>
            <a:r>
              <a:rPr lang="en-US"/>
              <a:t>https://kestra.io/docs/workflow-components/triggers/schedule-trigger</a:t>
            </a:r>
            <a:br>
              <a:rPr lang="en-US"/>
            </a:br>
            <a:r>
              <a:rPr lang="en-US"/>
              <a:t>https://kestra.io/docs/task-runners/types/docker-task-runner</a:t>
            </a:r>
            <a:endParaRPr/>
          </a:p>
        </p:txBody>
      </p:sp>
      <p:sp>
        <p:nvSpPr>
          <p:cNvPr id="295" name="Google Shape;29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Tabel ini menggambarkan implementasi repository, bukan batas kemampuan umum tiap produk. Diskusikan mana yang lebih nyaman bagi peserta: Python decorator atau YAML. Hasil data yang diverifikasi tetap sama.</a:t>
            </a:r>
            <a:br>
              <a:rPr lang="en-US"/>
            </a:br>
            <a:br>
              <a:rPr lang="en-US"/>
            </a:br>
            <a:r>
              <a:rPr lang="en-US"/>
              <a:t>Sumber:</a:t>
            </a:r>
            <a:br>
              <a:rPr lang="en-US"/>
            </a:br>
            <a:r>
              <a:rPr lang="en-US"/>
              <a:t>pertemuan-6/README.md</a:t>
            </a:r>
            <a:endParaRPr/>
          </a:p>
        </p:txBody>
      </p:sp>
      <p:sp>
        <p:nvSpPr>
          <p:cNvPr id="315" name="Google Shape;31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Jika database belum pernah diisi, ikuti bagian Persiapan bersama di README Pertemuan 6, termasuk loader PostgreSQL Pertemuan 4. Jalankan pipeline tanpa orchestrator untuk memastikan masalah data atau koneksi sudah diselesaikan sebelum demo tool.</a:t>
            </a:r>
            <a:br>
              <a:rPr lang="en-US"/>
            </a:br>
            <a:br>
              <a:rPr lang="en-US"/>
            </a:br>
            <a:r>
              <a:rPr lang="en-US"/>
              <a:t>Sumber:</a:t>
            </a:r>
            <a:br>
              <a:rPr lang="en-US"/>
            </a:br>
            <a:r>
              <a:rPr lang="en-US"/>
              <a:t>pertemuan-6/README.md</a:t>
            </a:r>
            <a:endParaRPr/>
          </a:p>
        </p:txBody>
      </p:sp>
      <p:sp>
        <p:nvSpPr>
          <p:cNvPr id="373" name="Google Shape;37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Masing-masing tool punya setup berbeda. Dagster dan Prefect memakai Docker Compose build. Kestra membutuhkan build image runner dan import YAML setelah server aktif. Buka README tool yang dipilih untuk detail. Jangan menjalankan ketiganya bersamaan di laptop praktik.</a:t>
            </a:r>
            <a:br>
              <a:rPr lang="en-US"/>
            </a:br>
            <a:br>
              <a:rPr lang="en-US"/>
            </a:br>
            <a:r>
              <a:rPr lang="en-US"/>
              <a:t>Sumber:</a:t>
            </a:r>
            <a:br>
              <a:rPr lang="en-US"/>
            </a:br>
            <a:r>
              <a:rPr lang="en-US"/>
              <a:t>pertemuan-6/README.md</a:t>
            </a:r>
            <a:endParaRPr/>
          </a:p>
        </p:txBody>
      </p:sp>
      <p:sp>
        <p:nvSpPr>
          <p:cNvPr id="399" name="Google Shape;39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Minta peserta mengambil tiga bukti: status UI, log yang memuat hasil verifikasi, dan hasil query ClickHouse. Ini menumbuhkan kebiasaan memeriksa output, bukan hanya tombol yang berhasil diklik.</a:t>
            </a:r>
            <a:br>
              <a:rPr lang="en-US"/>
            </a:br>
            <a:br>
              <a:rPr lang="en-US"/>
            </a:br>
            <a:r>
              <a:rPr lang="en-US"/>
              <a:t>Sumber:</a:t>
            </a:r>
            <a:br>
              <a:rPr lang="en-US"/>
            </a:br>
            <a:r>
              <a:rPr lang="en-US"/>
              <a:t>pertemuan-6/README.md</a:t>
            </a:r>
            <a:endParaRPr/>
          </a:p>
        </p:txBody>
      </p:sp>
      <p:sp>
        <p:nvSpPr>
          <p:cNvPr id="427" name="Google Shape;42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Gunakan contoh kegagalan hipotetis, misalnya database belum siap. Jangan sengaja merusak data peserta. Hubungkan ke set -euo pipefail pada run_pipeline.sh: command yang gagal menghentikan script dan orchestrator mencatat run gagal.</a:t>
            </a:r>
            <a:br>
              <a:rPr lang="en-US"/>
            </a:br>
            <a:br>
              <a:rPr lang="en-US"/>
            </a:br>
            <a:r>
              <a:rPr lang="en-US"/>
              <a:t>Sumber:</a:t>
            </a:r>
            <a:br>
              <a:rPr lang="en-US"/>
            </a:br>
            <a:r>
              <a:rPr lang="en-US"/>
              <a:t>pertemuan-5/run_pipeline.sh</a:t>
            </a:r>
            <a:endParaRPr/>
          </a:p>
        </p:txBody>
      </p:sp>
      <p:sp>
        <p:nvSpPr>
          <p:cNvPr id="450" name="Google Shape;45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Latihan bisa dilakukan berpasangan jika resource laptop terbatas. Jalankan Dagster, Prefect, dan Kestra satu per satu. Untuk setiap tool, kumpulkan status run, log, hasil query, serta bukti scheduler. Output mengikuti bagian Output peserta di README Pertemuan 6.</a:t>
            </a:r>
            <a:br>
              <a:rPr lang="en-US"/>
            </a:br>
            <a:br>
              <a:rPr lang="en-US"/>
            </a:br>
            <a:r>
              <a:rPr lang="en-US"/>
              <a:t>Sumber:</a:t>
            </a:r>
            <a:br>
              <a:rPr lang="en-US"/>
            </a:br>
            <a:r>
              <a:rPr lang="en-US"/>
              <a:t>pertemuan-6/README.md</a:t>
            </a:r>
            <a:endParaRPr/>
          </a:p>
        </p:txBody>
      </p:sp>
      <p:sp>
        <p:nvSpPr>
          <p:cNvPr id="479" name="Google Shape;47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Catatan presenter:</a:t>
            </a:r>
            <a:br>
              <a:rPr lang="en-US"/>
            </a:br>
            <a:r>
              <a:rPr lang="en-US"/>
              <a:t>Akhiri dengan meminta peserta menjelaskan satu contoh untuk automation, satu untuk scheduling, dan satu untuk orchestration dari pipeline yang baru dipraktikkan. Tanyakan juga mengapa hasil di ClickHouse perlu dicek walaupun UI menampilkan run sukses.</a:t>
            </a:r>
            <a:br>
              <a:rPr lang="en-US"/>
            </a:br>
            <a:br>
              <a:rPr lang="en-US"/>
            </a:br>
            <a:r>
              <a:rPr lang="en-US"/>
              <a:t>Sumber:</a:t>
            </a:r>
            <a:br>
              <a:rPr lang="en-US"/>
            </a:br>
            <a:endParaRPr/>
          </a:p>
        </p:txBody>
      </p:sp>
      <p:sp>
        <p:nvSpPr>
          <p:cNvPr id="509" name="Google Shape;50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h6c90fedeb72c3e32_1_0: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h6c90fedeb72c3e32_1_0: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h6c90fedeb72c3e32_1_88: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h6c90fedeb72c3e32_1_88: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h6c90fedeb72c3e32_1_95: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h6c90fedeb72c3e32_1_95: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h6c90fedeb72c3e32_1_116: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h6c90fedeb72c3e32_1_116: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h6c90fedeb72c3e32_1_122: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 name="Google Shape;574;h6c90fedeb72c3e32_1_122: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h6c90fedeb72c3e32_1_143: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h6c90fedeb72c3e32_1_143: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2.png"/><Relationship Id="rId6"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1E2C"/>
        </a:solidFill>
      </p:bgPr>
    </p:bg>
    <p:spTree>
      <p:nvGrpSpPr>
        <p:cNvPr id="19" name="Shape 19"/>
        <p:cNvGrpSpPr/>
        <p:nvPr/>
      </p:nvGrpSpPr>
      <p:grpSpPr>
        <a:xfrm>
          <a:off x="0" y="0"/>
          <a:ext cx="0" cy="0"/>
          <a:chOff x="0" y="0"/>
          <a:chExt cx="0" cy="0"/>
        </a:xfrm>
      </p:grpSpPr>
      <p:sp>
        <p:nvSpPr>
          <p:cNvPr id="20" name="Google Shape;20;p4"/>
          <p:cNvSpPr/>
          <p:nvPr/>
        </p:nvSpPr>
        <p:spPr>
          <a:xfrm rot="1920000">
            <a:off x="9509760" y="-1188720"/>
            <a:ext cx="4572000" cy="4572000"/>
          </a:xfrm>
          <a:prstGeom prst="arc">
            <a:avLst>
              <a:gd fmla="val 16200000" name="adj1"/>
              <a:gd fmla="val 0" name="adj2"/>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rot="1200000">
            <a:off x="9006840" y="4133088"/>
            <a:ext cx="2743200" cy="2011680"/>
          </a:xfrm>
          <a:prstGeom prst="chevron">
            <a:avLst>
              <a:gd fmla="val 50000" name="adj"/>
            </a:avLst>
          </a:prstGeom>
          <a:solidFill>
            <a:srgbClr val="FA6A60"/>
          </a:solidFill>
          <a:ln cap="flat" cmpd="sng" w="12700">
            <a:solidFill>
              <a:srgbClr val="FA6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658368" y="603504"/>
            <a:ext cx="3154680" cy="338328"/>
          </a:xfrm>
          <a:prstGeom prst="roundRect">
            <a:avLst>
              <a:gd fmla="val 40541" name="adj"/>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txBox="1"/>
          <p:nvPr/>
        </p:nvSpPr>
        <p:spPr>
          <a:xfrm>
            <a:off x="749808" y="653796"/>
            <a:ext cx="297180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BOOTCAMP DATA ENGINEERING</a:t>
            </a:r>
            <a:endParaRPr b="0" i="0" sz="1200" u="none" cap="none" strike="noStrike">
              <a:solidFill>
                <a:schemeClr val="dk1"/>
              </a:solidFill>
              <a:latin typeface="Arial"/>
              <a:ea typeface="Arial"/>
              <a:cs typeface="Arial"/>
              <a:sym typeface="Arial"/>
            </a:endParaRPr>
          </a:p>
        </p:txBody>
      </p:sp>
      <p:sp>
        <p:nvSpPr>
          <p:cNvPr id="24" name="Google Shape;24;p4"/>
          <p:cNvSpPr txBox="1"/>
          <p:nvPr/>
        </p:nvSpPr>
        <p:spPr>
          <a:xfrm>
            <a:off x="676656" y="1481328"/>
            <a:ext cx="457200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9DFD8"/>
              </a:buClr>
              <a:buSzPts val="2400"/>
              <a:buFont typeface="Arial"/>
              <a:buNone/>
            </a:pPr>
            <a:r>
              <a:rPr b="1" i="0" lang="en-US" sz="2400" u="none" cap="none" strike="noStrike">
                <a:solidFill>
                  <a:srgbClr val="69DFD8"/>
                </a:solidFill>
                <a:latin typeface="Arial"/>
                <a:ea typeface="Arial"/>
                <a:cs typeface="Arial"/>
                <a:sym typeface="Arial"/>
              </a:rPr>
              <a:t>Pertemuan 6</a:t>
            </a:r>
            <a:endParaRPr b="0" i="0" sz="2400" u="none" cap="none" strike="noStrike">
              <a:solidFill>
                <a:schemeClr val="dk1"/>
              </a:solidFill>
              <a:latin typeface="Arial"/>
              <a:ea typeface="Arial"/>
              <a:cs typeface="Arial"/>
              <a:sym typeface="Arial"/>
            </a:endParaRPr>
          </a:p>
        </p:txBody>
      </p:sp>
      <p:sp>
        <p:nvSpPr>
          <p:cNvPr id="25" name="Google Shape;25;p4"/>
          <p:cNvSpPr txBox="1"/>
          <p:nvPr/>
        </p:nvSpPr>
        <p:spPr>
          <a:xfrm>
            <a:off x="676656" y="2011680"/>
            <a:ext cx="8321040" cy="12070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900"/>
              <a:buFont typeface="Arial"/>
              <a:buNone/>
            </a:pPr>
            <a:r>
              <a:rPr b="1" i="0" lang="en-US" sz="3900" u="none" cap="none" strike="noStrike">
                <a:solidFill>
                  <a:srgbClr val="FFFFFF"/>
                </a:solidFill>
                <a:latin typeface="Arial"/>
                <a:ea typeface="Arial"/>
                <a:cs typeface="Arial"/>
                <a:sym typeface="Arial"/>
              </a:rPr>
              <a:t>Automation, Scheduling,</a:t>
            </a:r>
            <a:endParaRPr b="0" i="0" sz="3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3900"/>
              <a:buFont typeface="Arial"/>
              <a:buNone/>
            </a:pPr>
            <a:r>
              <a:rPr b="1" i="0" lang="en-US" sz="3900" u="none" cap="none" strike="noStrike">
                <a:solidFill>
                  <a:srgbClr val="FFFFFF"/>
                </a:solidFill>
                <a:latin typeface="Arial"/>
                <a:ea typeface="Arial"/>
                <a:cs typeface="Arial"/>
                <a:sym typeface="Arial"/>
              </a:rPr>
              <a:t>dan Orchestration</a:t>
            </a:r>
            <a:endParaRPr b="0" i="0" sz="3900" u="none" cap="none" strike="noStrike">
              <a:solidFill>
                <a:schemeClr val="dk1"/>
              </a:solidFill>
              <a:latin typeface="Arial"/>
              <a:ea typeface="Arial"/>
              <a:cs typeface="Arial"/>
              <a:sym typeface="Arial"/>
            </a:endParaRPr>
          </a:p>
        </p:txBody>
      </p:sp>
      <p:sp>
        <p:nvSpPr>
          <p:cNvPr id="26" name="Google Shape;26;p4"/>
          <p:cNvSpPr txBox="1"/>
          <p:nvPr/>
        </p:nvSpPr>
        <p:spPr>
          <a:xfrm>
            <a:off x="694944" y="4050792"/>
            <a:ext cx="809244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9E3"/>
              </a:buClr>
              <a:buSzPts val="1900"/>
              <a:buFont typeface="Arial"/>
              <a:buNone/>
            </a:pPr>
            <a:r>
              <a:rPr b="0" i="0" lang="en-US" sz="1900" u="none" cap="none" strike="noStrike">
                <a:solidFill>
                  <a:srgbClr val="C9D9E3"/>
                </a:solidFill>
                <a:latin typeface="Arial"/>
                <a:ea typeface="Arial"/>
                <a:cs typeface="Arial"/>
                <a:sym typeface="Arial"/>
              </a:rPr>
              <a:t>Memahami dan mempraktikkan Dagster, Prefect, dan Kestra</a:t>
            </a:r>
            <a:endParaRPr b="0" i="0" sz="19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C9D9E3"/>
              </a:buClr>
              <a:buSzPts val="1900"/>
              <a:buFont typeface="Arial"/>
              <a:buNone/>
            </a:pPr>
            <a:r>
              <a:rPr b="0" i="0" lang="en-US" sz="1900" u="none" cap="none" strike="noStrike">
                <a:solidFill>
                  <a:srgbClr val="C9D9E3"/>
                </a:solidFill>
                <a:latin typeface="Arial"/>
                <a:ea typeface="Arial"/>
                <a:cs typeface="Arial"/>
                <a:sym typeface="Arial"/>
              </a:rPr>
              <a:t>pada pipeline ELT Pertemuan 5</a:t>
            </a:r>
            <a:endParaRPr b="0" i="0" sz="1900" u="none" cap="none" strike="noStrike">
              <a:solidFill>
                <a:schemeClr val="dk1"/>
              </a:solidFill>
              <a:latin typeface="Arial"/>
              <a:ea typeface="Arial"/>
              <a:cs typeface="Arial"/>
              <a:sym typeface="Arial"/>
            </a:endParaRPr>
          </a:p>
        </p:txBody>
      </p:sp>
      <p:sp>
        <p:nvSpPr>
          <p:cNvPr id="27" name="Google Shape;27;p4"/>
          <p:cNvSpPr txBox="1"/>
          <p:nvPr/>
        </p:nvSpPr>
        <p:spPr>
          <a:xfrm>
            <a:off x="694944" y="6236208"/>
            <a:ext cx="20116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Nusacodes</a:t>
            </a:r>
            <a:endParaRPr b="0" i="0" sz="1300" u="none" cap="none" strike="noStrike">
              <a:solidFill>
                <a:schemeClr val="dk1"/>
              </a:solidFill>
              <a:latin typeface="Arial"/>
              <a:ea typeface="Arial"/>
              <a:cs typeface="Arial"/>
              <a:sym typeface="Arial"/>
            </a:endParaRPr>
          </a:p>
        </p:txBody>
      </p:sp>
      <p:sp>
        <p:nvSpPr>
          <p:cNvPr id="28" name="Google Shape;28;p4"/>
          <p:cNvSpPr txBox="1"/>
          <p:nvPr/>
        </p:nvSpPr>
        <p:spPr>
          <a:xfrm>
            <a:off x="11082528" y="6236208"/>
            <a:ext cx="393192"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7C8D1"/>
              </a:buClr>
              <a:buSzPts val="1000"/>
              <a:buFont typeface="Arial"/>
              <a:buNone/>
            </a:pPr>
            <a:r>
              <a:rPr b="0" i="0" lang="en-US" sz="1000" u="none" cap="none" strike="noStrike">
                <a:solidFill>
                  <a:srgbClr val="B7C8D1"/>
                </a:solidFill>
                <a:latin typeface="Arial"/>
                <a:ea typeface="Arial"/>
                <a:cs typeface="Arial"/>
                <a:sym typeface="Arial"/>
              </a:rPr>
              <a:t>01</a:t>
            </a:r>
            <a:endParaRPr b="0" i="0" sz="10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 name="Shape 33"/>
        <p:cNvGrpSpPr/>
        <p:nvPr/>
      </p:nvGrpSpPr>
      <p:grpSpPr>
        <a:xfrm>
          <a:off x="0" y="0"/>
          <a:ext cx="0" cy="0"/>
          <a:chOff x="0" y="0"/>
          <a:chExt cx="0" cy="0"/>
        </a:xfrm>
      </p:grpSpPr>
      <p:sp>
        <p:nvSpPr>
          <p:cNvPr id="34" name="Google Shape;34;p5"/>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Hasil belajar</a:t>
            </a:r>
            <a:endParaRPr b="0" i="0" sz="3000" u="none" cap="none" strike="noStrike">
              <a:solidFill>
                <a:schemeClr val="dk1"/>
              </a:solidFill>
              <a:latin typeface="Arial"/>
              <a:ea typeface="Arial"/>
              <a:cs typeface="Arial"/>
              <a:sym typeface="Arial"/>
            </a:endParaRPr>
          </a:p>
        </p:txBody>
      </p:sp>
      <p:sp>
        <p:nvSpPr>
          <p:cNvPr id="35" name="Google Shape;35;p5"/>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Setelah sesi ini, peserta dapat menjelaskan konsep dan menunjukkan satu run yang berhasil.</a:t>
            </a:r>
            <a:endParaRPr b="0" i="0" sz="1500" u="none" cap="none" strike="noStrike">
              <a:solidFill>
                <a:schemeClr val="dk1"/>
              </a:solidFill>
              <a:latin typeface="Arial"/>
              <a:ea typeface="Arial"/>
              <a:cs typeface="Arial"/>
              <a:sym typeface="Arial"/>
            </a:endParaRPr>
          </a:p>
        </p:txBody>
      </p:sp>
      <p:sp>
        <p:nvSpPr>
          <p:cNvPr id="36" name="Google Shape;36;p5"/>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37" name="Google Shape;37;p5"/>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02</a:t>
            </a:r>
            <a:endParaRPr b="0" i="0" sz="1000" u="none" cap="none" strike="noStrike">
              <a:solidFill>
                <a:schemeClr val="dk1"/>
              </a:solidFill>
              <a:latin typeface="Arial"/>
              <a:ea typeface="Arial"/>
              <a:cs typeface="Arial"/>
              <a:sym typeface="Arial"/>
            </a:endParaRPr>
          </a:p>
        </p:txBody>
      </p:sp>
      <p:sp>
        <p:nvSpPr>
          <p:cNvPr id="38" name="Google Shape;38;p5"/>
          <p:cNvSpPr/>
          <p:nvPr/>
        </p:nvSpPr>
        <p:spPr>
          <a:xfrm>
            <a:off x="640080" y="1600200"/>
            <a:ext cx="5257800" cy="1828800"/>
          </a:xfrm>
          <a:prstGeom prst="roundRect">
            <a:avLst>
              <a:gd fmla="val 5000" name="adj"/>
            </a:avLst>
          </a:prstGeom>
          <a:solidFill>
            <a:srgbClr val="DDF5F3"/>
          </a:solidFill>
          <a:ln cap="flat" cmpd="sng" w="12700">
            <a:solidFill>
              <a:srgbClr val="DDF5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859536" y="1819656"/>
            <a:ext cx="347472" cy="347472"/>
          </a:xfrm>
          <a:prstGeom prst="ellipse">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txBox="1"/>
          <p:nvPr/>
        </p:nvSpPr>
        <p:spPr>
          <a:xfrm>
            <a:off x="1335024" y="1810512"/>
            <a:ext cx="432511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900"/>
              <a:buFont typeface="Arial"/>
              <a:buNone/>
            </a:pPr>
            <a:r>
              <a:rPr b="1" i="0" lang="en-US" sz="1900" u="none" cap="none" strike="noStrike">
                <a:solidFill>
                  <a:srgbClr val="102333"/>
                </a:solidFill>
                <a:latin typeface="Arial"/>
                <a:ea typeface="Arial"/>
                <a:cs typeface="Arial"/>
                <a:sym typeface="Arial"/>
              </a:rPr>
              <a:t>01  Bedakan tiga konsep</a:t>
            </a:r>
            <a:endParaRPr b="0" i="0" sz="1900" u="none" cap="none" strike="noStrike">
              <a:solidFill>
                <a:schemeClr val="dk1"/>
              </a:solidFill>
              <a:latin typeface="Arial"/>
              <a:ea typeface="Arial"/>
              <a:cs typeface="Arial"/>
              <a:sym typeface="Arial"/>
            </a:endParaRPr>
          </a:p>
        </p:txBody>
      </p:sp>
      <p:sp>
        <p:nvSpPr>
          <p:cNvPr id="41" name="Google Shape;41;p5"/>
          <p:cNvSpPr txBox="1"/>
          <p:nvPr/>
        </p:nvSpPr>
        <p:spPr>
          <a:xfrm>
            <a:off x="896112" y="2368296"/>
            <a:ext cx="4745736" cy="8961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Automation, scheduling, dan orchestration menjawab kebutuhan operasional yang berbeda.</a:t>
            </a:r>
            <a:endParaRPr b="0" i="0" sz="1500" u="none" cap="none" strike="noStrike">
              <a:solidFill>
                <a:schemeClr val="dk1"/>
              </a:solidFill>
              <a:latin typeface="Arial"/>
              <a:ea typeface="Arial"/>
              <a:cs typeface="Arial"/>
              <a:sym typeface="Arial"/>
            </a:endParaRPr>
          </a:p>
        </p:txBody>
      </p:sp>
      <p:sp>
        <p:nvSpPr>
          <p:cNvPr id="42" name="Google Shape;42;p5"/>
          <p:cNvSpPr/>
          <p:nvPr/>
        </p:nvSpPr>
        <p:spPr>
          <a:xfrm>
            <a:off x="6281928" y="1600200"/>
            <a:ext cx="5257800" cy="1828800"/>
          </a:xfrm>
          <a:prstGeom prst="roundRect">
            <a:avLst>
              <a:gd fmla="val 5000" name="adj"/>
            </a:avLst>
          </a:prstGeom>
          <a:solidFill>
            <a:srgbClr val="E7F1FA"/>
          </a:solidFill>
          <a:ln cap="flat" cmpd="sng" w="12700">
            <a:solidFill>
              <a:srgbClr val="E7F1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6501384" y="1819656"/>
            <a:ext cx="347472" cy="347472"/>
          </a:xfrm>
          <a:prstGeom prst="ellipse">
            <a:avLst/>
          </a:prstGeom>
          <a:solidFill>
            <a:srgbClr val="2563A6"/>
          </a:solidFill>
          <a:ln cap="flat" cmpd="sng" w="12700">
            <a:solidFill>
              <a:srgbClr val="2563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txBox="1"/>
          <p:nvPr/>
        </p:nvSpPr>
        <p:spPr>
          <a:xfrm>
            <a:off x="6976872" y="1810512"/>
            <a:ext cx="432511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900"/>
              <a:buFont typeface="Arial"/>
              <a:buNone/>
            </a:pPr>
            <a:r>
              <a:rPr b="1" i="0" lang="en-US" sz="1900" u="none" cap="none" strike="noStrike">
                <a:solidFill>
                  <a:srgbClr val="102333"/>
                </a:solidFill>
                <a:latin typeface="Arial"/>
                <a:ea typeface="Arial"/>
                <a:cs typeface="Arial"/>
                <a:sym typeface="Arial"/>
              </a:rPr>
              <a:t>02  Baca jadwal cron</a:t>
            </a:r>
            <a:endParaRPr b="0" i="0" sz="1900" u="none" cap="none" strike="noStrike">
              <a:solidFill>
                <a:schemeClr val="dk1"/>
              </a:solidFill>
              <a:latin typeface="Arial"/>
              <a:ea typeface="Arial"/>
              <a:cs typeface="Arial"/>
              <a:sym typeface="Arial"/>
            </a:endParaRPr>
          </a:p>
        </p:txBody>
      </p:sp>
      <p:sp>
        <p:nvSpPr>
          <p:cNvPr id="45" name="Google Shape;45;p5"/>
          <p:cNvSpPr txBox="1"/>
          <p:nvPr/>
        </p:nvSpPr>
        <p:spPr>
          <a:xfrm>
            <a:off x="6537960" y="2368296"/>
            <a:ext cx="4745736" cy="8961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Memahami ekspresi */5 dan */15 serta alasan timezone perlu ditulis jelas.</a:t>
            </a:r>
            <a:endParaRPr b="0" i="0" sz="1500" u="none" cap="none" strike="noStrike">
              <a:solidFill>
                <a:schemeClr val="dk1"/>
              </a:solidFill>
              <a:latin typeface="Arial"/>
              <a:ea typeface="Arial"/>
              <a:cs typeface="Arial"/>
              <a:sym typeface="Arial"/>
            </a:endParaRPr>
          </a:p>
        </p:txBody>
      </p:sp>
      <p:sp>
        <p:nvSpPr>
          <p:cNvPr id="46" name="Google Shape;46;p5"/>
          <p:cNvSpPr/>
          <p:nvPr/>
        </p:nvSpPr>
        <p:spPr>
          <a:xfrm>
            <a:off x="640080" y="3749040"/>
            <a:ext cx="5257800" cy="1828800"/>
          </a:xfrm>
          <a:prstGeom prst="roundRect">
            <a:avLst>
              <a:gd fmla="val 5000" name="adj"/>
            </a:avLst>
          </a:prstGeom>
          <a:solidFill>
            <a:srgbClr val="FEE8E5"/>
          </a:solidFill>
          <a:ln cap="flat" cmpd="sng" w="12700">
            <a:solidFill>
              <a:srgbClr val="FEE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859536" y="3968496"/>
            <a:ext cx="347472" cy="347472"/>
          </a:xfrm>
          <a:prstGeom prst="ellipse">
            <a:avLst/>
          </a:prstGeom>
          <a:solidFill>
            <a:srgbClr val="FA6A60"/>
          </a:solidFill>
          <a:ln cap="flat" cmpd="sng" w="12700">
            <a:solidFill>
              <a:srgbClr val="FA6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txBox="1"/>
          <p:nvPr/>
        </p:nvSpPr>
        <p:spPr>
          <a:xfrm>
            <a:off x="1335024" y="3959352"/>
            <a:ext cx="432511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900"/>
              <a:buFont typeface="Arial"/>
              <a:buNone/>
            </a:pPr>
            <a:r>
              <a:rPr b="1" i="0" lang="en-US" sz="1900" u="none" cap="none" strike="noStrike">
                <a:solidFill>
                  <a:srgbClr val="102333"/>
                </a:solidFill>
                <a:latin typeface="Arial"/>
                <a:ea typeface="Arial"/>
                <a:cs typeface="Arial"/>
                <a:sym typeface="Arial"/>
              </a:rPr>
              <a:t>03  Jalankan satu tool</a:t>
            </a:r>
            <a:endParaRPr b="0" i="0" sz="1900" u="none" cap="none" strike="noStrike">
              <a:solidFill>
                <a:schemeClr val="dk1"/>
              </a:solidFill>
              <a:latin typeface="Arial"/>
              <a:ea typeface="Arial"/>
              <a:cs typeface="Arial"/>
              <a:sym typeface="Arial"/>
            </a:endParaRPr>
          </a:p>
        </p:txBody>
      </p:sp>
      <p:sp>
        <p:nvSpPr>
          <p:cNvPr id="49" name="Google Shape;49;p5"/>
          <p:cNvSpPr txBox="1"/>
          <p:nvPr/>
        </p:nvSpPr>
        <p:spPr>
          <a:xfrm>
            <a:off x="896112" y="4517136"/>
            <a:ext cx="4745736" cy="8961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Memicu pipeline ELT lewat Dagster, Prefect, atau Kestra dan membaca log run.</a:t>
            </a:r>
            <a:endParaRPr b="0" i="0" sz="1500" u="none" cap="none" strike="noStrike">
              <a:solidFill>
                <a:schemeClr val="dk1"/>
              </a:solidFill>
              <a:latin typeface="Arial"/>
              <a:ea typeface="Arial"/>
              <a:cs typeface="Arial"/>
              <a:sym typeface="Arial"/>
            </a:endParaRPr>
          </a:p>
        </p:txBody>
      </p:sp>
      <p:sp>
        <p:nvSpPr>
          <p:cNvPr id="50" name="Google Shape;50;p5"/>
          <p:cNvSpPr/>
          <p:nvPr/>
        </p:nvSpPr>
        <p:spPr>
          <a:xfrm>
            <a:off x="6281928" y="3749040"/>
            <a:ext cx="5257800" cy="1828800"/>
          </a:xfrm>
          <a:prstGeom prst="roundRect">
            <a:avLst>
              <a:gd fmla="val 5000" name="adj"/>
            </a:avLst>
          </a:prstGeom>
          <a:solidFill>
            <a:srgbClr val="E3F5EA"/>
          </a:solidFill>
          <a:ln cap="flat" cmpd="sng" w="12700">
            <a:solidFill>
              <a:srgbClr val="E3F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6501384" y="3968496"/>
            <a:ext cx="347472" cy="347472"/>
          </a:xfrm>
          <a:prstGeom prst="ellipse">
            <a:avLst/>
          </a:prstGeom>
          <a:solidFill>
            <a:srgbClr val="17865D"/>
          </a:solidFill>
          <a:ln cap="flat" cmpd="sng" w="12700">
            <a:solidFill>
              <a:srgbClr val="178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txBox="1"/>
          <p:nvPr/>
        </p:nvSpPr>
        <p:spPr>
          <a:xfrm>
            <a:off x="6976872" y="3959352"/>
            <a:ext cx="432511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900"/>
              <a:buFont typeface="Arial"/>
              <a:buNone/>
            </a:pPr>
            <a:r>
              <a:rPr b="1" i="0" lang="en-US" sz="1900" u="none" cap="none" strike="noStrike">
                <a:solidFill>
                  <a:srgbClr val="102333"/>
                </a:solidFill>
                <a:latin typeface="Arial"/>
                <a:ea typeface="Arial"/>
                <a:cs typeface="Arial"/>
                <a:sym typeface="Arial"/>
              </a:rPr>
              <a:t>04  Verifikasi hasil</a:t>
            </a:r>
            <a:endParaRPr b="0" i="0" sz="1900" u="none" cap="none" strike="noStrike">
              <a:solidFill>
                <a:schemeClr val="dk1"/>
              </a:solidFill>
              <a:latin typeface="Arial"/>
              <a:ea typeface="Arial"/>
              <a:cs typeface="Arial"/>
              <a:sym typeface="Arial"/>
            </a:endParaRPr>
          </a:p>
        </p:txBody>
      </p:sp>
      <p:sp>
        <p:nvSpPr>
          <p:cNvPr id="53" name="Google Shape;53;p5"/>
          <p:cNvSpPr txBox="1"/>
          <p:nvPr/>
        </p:nvSpPr>
        <p:spPr>
          <a:xfrm>
            <a:off x="6537960" y="4517136"/>
            <a:ext cx="4745736" cy="8961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Membuktikan datamart terisi dan menjelaskan apa yang dilakukan saat run gagal.</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6"/>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Review: pipeline dari Pertemuan 5</a:t>
            </a:r>
            <a:endParaRPr b="0" i="0" sz="3000" u="none" cap="none" strike="noStrike">
              <a:solidFill>
                <a:schemeClr val="dk1"/>
              </a:solidFill>
              <a:latin typeface="Arial"/>
              <a:ea typeface="Arial"/>
              <a:cs typeface="Arial"/>
              <a:sym typeface="Arial"/>
            </a:endParaRPr>
          </a:p>
        </p:txBody>
      </p:sp>
      <p:sp>
        <p:nvSpPr>
          <p:cNvPr id="60" name="Google Shape;60;p6"/>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Proses data sudah ada; sekarang kita mengatur kapan dan bagaimana proses itu dijalankan.</a:t>
            </a:r>
            <a:endParaRPr b="0" i="0" sz="1500" u="none" cap="none" strike="noStrike">
              <a:solidFill>
                <a:schemeClr val="dk1"/>
              </a:solidFill>
              <a:latin typeface="Arial"/>
              <a:ea typeface="Arial"/>
              <a:cs typeface="Arial"/>
              <a:sym typeface="Arial"/>
            </a:endParaRPr>
          </a:p>
        </p:txBody>
      </p:sp>
      <p:sp>
        <p:nvSpPr>
          <p:cNvPr id="61" name="Google Shape;61;p6"/>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62" name="Google Shape;62;p6"/>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03</a:t>
            </a:r>
            <a:endParaRPr b="0" i="0" sz="1000" u="none" cap="none" strike="noStrike">
              <a:solidFill>
                <a:schemeClr val="dk1"/>
              </a:solidFill>
              <a:latin typeface="Arial"/>
              <a:ea typeface="Arial"/>
              <a:cs typeface="Arial"/>
              <a:sym typeface="Arial"/>
            </a:endParaRPr>
          </a:p>
        </p:txBody>
      </p:sp>
      <p:sp>
        <p:nvSpPr>
          <p:cNvPr id="63" name="Google Shape;63;p6"/>
          <p:cNvSpPr/>
          <p:nvPr/>
        </p:nvSpPr>
        <p:spPr>
          <a:xfrm>
            <a:off x="585216" y="1874520"/>
            <a:ext cx="2148840" cy="1417320"/>
          </a:xfrm>
          <a:prstGeom prst="roundRect">
            <a:avLst>
              <a:gd fmla="val 6452" name="adj"/>
            </a:avLst>
          </a:prstGeom>
          <a:solidFill>
            <a:srgbClr val="0C1E2C"/>
          </a:solidFill>
          <a:ln cap="flat" cmpd="sng" w="12700">
            <a:solidFill>
              <a:srgbClr val="0C1E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6"/>
          <p:cNvSpPr txBox="1"/>
          <p:nvPr/>
        </p:nvSpPr>
        <p:spPr>
          <a:xfrm>
            <a:off x="731520" y="2057400"/>
            <a:ext cx="185623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PostgreSQL</a:t>
            </a:r>
            <a:endParaRPr b="0" i="0" sz="2000" u="none" cap="none" strike="noStrike">
              <a:solidFill>
                <a:schemeClr val="dk1"/>
              </a:solidFill>
              <a:latin typeface="Arial"/>
              <a:ea typeface="Arial"/>
              <a:cs typeface="Arial"/>
              <a:sym typeface="Arial"/>
            </a:endParaRPr>
          </a:p>
        </p:txBody>
      </p:sp>
      <p:sp>
        <p:nvSpPr>
          <p:cNvPr id="65" name="Google Shape;65;p6"/>
          <p:cNvSpPr txBox="1"/>
          <p:nvPr/>
        </p:nvSpPr>
        <p:spPr>
          <a:xfrm>
            <a:off x="713232" y="2468880"/>
            <a:ext cx="1892808" cy="74066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bootcamp.orders</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bootcamp.entities</a:t>
            </a:r>
            <a:endParaRPr b="0" i="0" sz="1300" u="none" cap="none" strike="noStrike">
              <a:solidFill>
                <a:schemeClr val="dk1"/>
              </a:solidFill>
              <a:latin typeface="Arial"/>
              <a:ea typeface="Arial"/>
              <a:cs typeface="Arial"/>
              <a:sym typeface="Arial"/>
            </a:endParaRPr>
          </a:p>
        </p:txBody>
      </p:sp>
      <p:sp>
        <p:nvSpPr>
          <p:cNvPr id="66" name="Google Shape;66;p6"/>
          <p:cNvSpPr/>
          <p:nvPr/>
        </p:nvSpPr>
        <p:spPr>
          <a:xfrm>
            <a:off x="3063240" y="1874520"/>
            <a:ext cx="2148840" cy="1417320"/>
          </a:xfrm>
          <a:prstGeom prst="roundRect">
            <a:avLst>
              <a:gd fmla="val 6452" name="adj"/>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txBox="1"/>
          <p:nvPr/>
        </p:nvSpPr>
        <p:spPr>
          <a:xfrm>
            <a:off x="3209544" y="2057400"/>
            <a:ext cx="185623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Python</a:t>
            </a:r>
            <a:endParaRPr b="0" i="0" sz="2000" u="none" cap="none" strike="noStrike">
              <a:solidFill>
                <a:schemeClr val="dk1"/>
              </a:solidFill>
              <a:latin typeface="Arial"/>
              <a:ea typeface="Arial"/>
              <a:cs typeface="Arial"/>
              <a:sym typeface="Arial"/>
            </a:endParaRPr>
          </a:p>
        </p:txBody>
      </p:sp>
      <p:sp>
        <p:nvSpPr>
          <p:cNvPr id="68" name="Google Shape;68;p6"/>
          <p:cNvSpPr txBox="1"/>
          <p:nvPr/>
        </p:nvSpPr>
        <p:spPr>
          <a:xfrm>
            <a:off x="3191256" y="2468880"/>
            <a:ext cx="1892808" cy="74066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Extract + Load</a:t>
            </a:r>
            <a:endParaRPr b="0" i="0" sz="1300" u="none" cap="none" strike="noStrike">
              <a:solidFill>
                <a:schemeClr val="dk1"/>
              </a:solidFill>
              <a:latin typeface="Arial"/>
              <a:ea typeface="Arial"/>
              <a:cs typeface="Arial"/>
              <a:sym typeface="Arial"/>
            </a:endParaRPr>
          </a:p>
        </p:txBody>
      </p:sp>
      <p:sp>
        <p:nvSpPr>
          <p:cNvPr id="69" name="Google Shape;69;p6"/>
          <p:cNvSpPr/>
          <p:nvPr/>
        </p:nvSpPr>
        <p:spPr>
          <a:xfrm>
            <a:off x="5550408" y="1874520"/>
            <a:ext cx="2148840" cy="1417320"/>
          </a:xfrm>
          <a:prstGeom prst="roundRect">
            <a:avLst>
              <a:gd fmla="val 6452" name="adj"/>
            </a:avLst>
          </a:prstGeom>
          <a:solidFill>
            <a:srgbClr val="183043"/>
          </a:solidFill>
          <a:ln cap="flat" cmpd="sng" w="12700">
            <a:solidFill>
              <a:srgbClr val="1830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
          <p:cNvSpPr txBox="1"/>
          <p:nvPr/>
        </p:nvSpPr>
        <p:spPr>
          <a:xfrm>
            <a:off x="5696712" y="2057400"/>
            <a:ext cx="185623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ClickHouse</a:t>
            </a:r>
            <a:endParaRPr b="0" i="0" sz="1900" u="none" cap="none" strike="noStrike">
              <a:solidFill>
                <a:schemeClr val="dk1"/>
              </a:solidFill>
              <a:latin typeface="Arial"/>
              <a:ea typeface="Arial"/>
              <a:cs typeface="Arial"/>
              <a:sym typeface="Arial"/>
            </a:endParaRPr>
          </a:p>
        </p:txBody>
      </p:sp>
      <p:sp>
        <p:nvSpPr>
          <p:cNvPr id="71" name="Google Shape;71;p6"/>
          <p:cNvSpPr txBox="1"/>
          <p:nvPr/>
        </p:nvSpPr>
        <p:spPr>
          <a:xfrm>
            <a:off x="5678424" y="2468880"/>
            <a:ext cx="1892808" cy="74066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staging.raw_*</a:t>
            </a:r>
            <a:endParaRPr b="0" i="0" sz="1300" u="none" cap="none" strike="noStrike">
              <a:solidFill>
                <a:schemeClr val="dk1"/>
              </a:solidFill>
              <a:latin typeface="Arial"/>
              <a:ea typeface="Arial"/>
              <a:cs typeface="Arial"/>
              <a:sym typeface="Arial"/>
            </a:endParaRPr>
          </a:p>
        </p:txBody>
      </p:sp>
      <p:sp>
        <p:nvSpPr>
          <p:cNvPr id="72" name="Google Shape;72;p6"/>
          <p:cNvSpPr/>
          <p:nvPr/>
        </p:nvSpPr>
        <p:spPr>
          <a:xfrm>
            <a:off x="8028432" y="1874520"/>
            <a:ext cx="2148840" cy="1417320"/>
          </a:xfrm>
          <a:prstGeom prst="roundRect">
            <a:avLst>
              <a:gd fmla="val 6452" name="adj"/>
            </a:avLst>
          </a:prstGeom>
          <a:solidFill>
            <a:srgbClr val="FA6A60"/>
          </a:solidFill>
          <a:ln cap="flat" cmpd="sng" w="12700">
            <a:solidFill>
              <a:srgbClr val="FA6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txBox="1"/>
          <p:nvPr/>
        </p:nvSpPr>
        <p:spPr>
          <a:xfrm>
            <a:off x="8174736" y="2057400"/>
            <a:ext cx="185623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dbt</a:t>
            </a:r>
            <a:endParaRPr b="0" i="0" sz="2000" u="none" cap="none" strike="noStrike">
              <a:solidFill>
                <a:schemeClr val="dk1"/>
              </a:solidFill>
              <a:latin typeface="Arial"/>
              <a:ea typeface="Arial"/>
              <a:cs typeface="Arial"/>
              <a:sym typeface="Arial"/>
            </a:endParaRPr>
          </a:p>
        </p:txBody>
      </p:sp>
      <p:sp>
        <p:nvSpPr>
          <p:cNvPr id="74" name="Google Shape;74;p6"/>
          <p:cNvSpPr txBox="1"/>
          <p:nvPr/>
        </p:nvSpPr>
        <p:spPr>
          <a:xfrm>
            <a:off x="8156448" y="2468880"/>
            <a:ext cx="1892808" cy="74066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stg_orders → datamart</a:t>
            </a:r>
            <a:endParaRPr b="0" i="0" sz="1300" u="none" cap="none" strike="noStrike">
              <a:solidFill>
                <a:schemeClr val="dk1"/>
              </a:solidFill>
              <a:latin typeface="Arial"/>
              <a:ea typeface="Arial"/>
              <a:cs typeface="Arial"/>
              <a:sym typeface="Arial"/>
            </a:endParaRPr>
          </a:p>
        </p:txBody>
      </p:sp>
      <p:cxnSp>
        <p:nvCxnSpPr>
          <p:cNvPr id="75" name="Google Shape;75;p6"/>
          <p:cNvCxnSpPr/>
          <p:nvPr/>
        </p:nvCxnSpPr>
        <p:spPr>
          <a:xfrm>
            <a:off x="2807208" y="2569464"/>
            <a:ext cx="192024" cy="0"/>
          </a:xfrm>
          <a:prstGeom prst="straightConnector1">
            <a:avLst/>
          </a:prstGeom>
          <a:noFill/>
          <a:ln cap="flat" cmpd="sng" w="50800">
            <a:solidFill>
              <a:srgbClr val="FA6A60"/>
            </a:solidFill>
            <a:prstDash val="solid"/>
            <a:round/>
            <a:headEnd len="sm" w="sm" type="none"/>
            <a:tailEnd len="med" w="med" type="triangle"/>
          </a:ln>
        </p:spPr>
      </p:cxnSp>
      <p:cxnSp>
        <p:nvCxnSpPr>
          <p:cNvPr id="76" name="Google Shape;76;p6"/>
          <p:cNvCxnSpPr/>
          <p:nvPr/>
        </p:nvCxnSpPr>
        <p:spPr>
          <a:xfrm>
            <a:off x="5285232" y="2569464"/>
            <a:ext cx="192024" cy="0"/>
          </a:xfrm>
          <a:prstGeom prst="straightConnector1">
            <a:avLst/>
          </a:prstGeom>
          <a:noFill/>
          <a:ln cap="flat" cmpd="sng" w="50800">
            <a:solidFill>
              <a:srgbClr val="FA6A60"/>
            </a:solidFill>
            <a:prstDash val="solid"/>
            <a:round/>
            <a:headEnd len="sm" w="sm" type="none"/>
            <a:tailEnd len="med" w="med" type="triangle"/>
          </a:ln>
        </p:spPr>
      </p:cxnSp>
      <p:cxnSp>
        <p:nvCxnSpPr>
          <p:cNvPr id="77" name="Google Shape;77;p6"/>
          <p:cNvCxnSpPr/>
          <p:nvPr/>
        </p:nvCxnSpPr>
        <p:spPr>
          <a:xfrm>
            <a:off x="7763256" y="2569464"/>
            <a:ext cx="192024" cy="0"/>
          </a:xfrm>
          <a:prstGeom prst="straightConnector1">
            <a:avLst/>
          </a:prstGeom>
          <a:noFill/>
          <a:ln cap="flat" cmpd="sng" w="50800">
            <a:solidFill>
              <a:srgbClr val="FA6A60"/>
            </a:solidFill>
            <a:prstDash val="solid"/>
            <a:round/>
            <a:headEnd len="sm" w="sm" type="none"/>
            <a:tailEnd len="med" w="med" type="triangle"/>
          </a:ln>
        </p:spPr>
      </p:cxnSp>
      <p:sp>
        <p:nvSpPr>
          <p:cNvPr id="78" name="Google Shape;78;p6"/>
          <p:cNvSpPr/>
          <p:nvPr/>
        </p:nvSpPr>
        <p:spPr>
          <a:xfrm>
            <a:off x="1097280" y="4078224"/>
            <a:ext cx="10012680" cy="1078992"/>
          </a:xfrm>
          <a:prstGeom prst="roundRect">
            <a:avLst>
              <a:gd fmla="val 8475" name="adj"/>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txBox="1"/>
          <p:nvPr/>
        </p:nvSpPr>
        <p:spPr>
          <a:xfrm>
            <a:off x="1508760" y="4325112"/>
            <a:ext cx="912571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1E2C"/>
              </a:buClr>
              <a:buSzPts val="2300"/>
              <a:buFont typeface="Courier New"/>
              <a:buNone/>
            </a:pPr>
            <a:r>
              <a:rPr b="1" i="0" lang="en-US" sz="2300" u="none" cap="none" strike="noStrike">
                <a:solidFill>
                  <a:srgbClr val="0C1E2C"/>
                </a:solidFill>
                <a:latin typeface="Courier New"/>
                <a:ea typeface="Courier New"/>
                <a:cs typeface="Courier New"/>
                <a:sym typeface="Courier New"/>
              </a:rPr>
              <a:t>bash pertemuan-5/run_pipeline.sh</a:t>
            </a:r>
            <a:endParaRPr b="0" i="0" sz="2300" u="none" cap="none" strike="noStrike">
              <a:solidFill>
                <a:schemeClr val="dk1"/>
              </a:solidFill>
              <a:latin typeface="Arial"/>
              <a:ea typeface="Arial"/>
              <a:cs typeface="Arial"/>
              <a:sym typeface="Arial"/>
            </a:endParaRPr>
          </a:p>
        </p:txBody>
      </p:sp>
      <p:sp>
        <p:nvSpPr>
          <p:cNvPr id="80" name="Google Shape;80;p6"/>
          <p:cNvSpPr txBox="1"/>
          <p:nvPr/>
        </p:nvSpPr>
        <p:spPr>
          <a:xfrm>
            <a:off x="1371600" y="4736592"/>
            <a:ext cx="94640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Command ini memanggil etl_orders.py → dbt run → dbt test → verify_pipeline.py</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sp>
        <p:nvSpPr>
          <p:cNvPr id="86" name="Google Shape;86;p7"/>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Tiga konsep yang sering tertukar</a:t>
            </a:r>
            <a:endParaRPr b="0" i="0" sz="3000" u="none" cap="none" strike="noStrike">
              <a:solidFill>
                <a:schemeClr val="dk1"/>
              </a:solidFill>
              <a:latin typeface="Arial"/>
              <a:ea typeface="Arial"/>
              <a:cs typeface="Arial"/>
              <a:sym typeface="Arial"/>
            </a:endParaRPr>
          </a:p>
        </p:txBody>
      </p:sp>
      <p:sp>
        <p:nvSpPr>
          <p:cNvPr id="87" name="Google Shape;87;p7"/>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Perhatikan pertanyaan yang dijawab oleh masing-masing konsep.</a:t>
            </a:r>
            <a:endParaRPr b="0" i="0" sz="1500" u="none" cap="none" strike="noStrike">
              <a:solidFill>
                <a:schemeClr val="dk1"/>
              </a:solidFill>
              <a:latin typeface="Arial"/>
              <a:ea typeface="Arial"/>
              <a:cs typeface="Arial"/>
              <a:sym typeface="Arial"/>
            </a:endParaRPr>
          </a:p>
        </p:txBody>
      </p:sp>
      <p:sp>
        <p:nvSpPr>
          <p:cNvPr id="88" name="Google Shape;88;p7"/>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89" name="Google Shape;89;p7"/>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04</a:t>
            </a:r>
            <a:endParaRPr b="0" i="0" sz="1000" u="none" cap="none" strike="noStrike">
              <a:solidFill>
                <a:schemeClr val="dk1"/>
              </a:solidFill>
              <a:latin typeface="Arial"/>
              <a:ea typeface="Arial"/>
              <a:cs typeface="Arial"/>
              <a:sym typeface="Arial"/>
            </a:endParaRPr>
          </a:p>
        </p:txBody>
      </p:sp>
      <p:sp>
        <p:nvSpPr>
          <p:cNvPr id="90" name="Google Shape;90;p7"/>
          <p:cNvSpPr/>
          <p:nvPr/>
        </p:nvSpPr>
        <p:spPr>
          <a:xfrm>
            <a:off x="640080" y="1627632"/>
            <a:ext cx="3337560" cy="3456432"/>
          </a:xfrm>
          <a:prstGeom prst="roundRect">
            <a:avLst>
              <a:gd fmla="val 2740" name="adj"/>
            </a:avLst>
          </a:prstGeom>
          <a:solidFill>
            <a:srgbClr val="DDF5F3"/>
          </a:solidFill>
          <a:ln cap="flat" cmpd="sng" w="12700">
            <a:solidFill>
              <a:srgbClr val="DDF5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914400" y="1892808"/>
            <a:ext cx="484632" cy="484632"/>
          </a:xfrm>
          <a:prstGeom prst="ellipse">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txBox="1"/>
          <p:nvPr/>
        </p:nvSpPr>
        <p:spPr>
          <a:xfrm>
            <a:off x="914400" y="1984248"/>
            <a:ext cx="48463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1</a:t>
            </a:r>
            <a:endParaRPr b="0" i="0" sz="1400" u="none" cap="none" strike="noStrike">
              <a:solidFill>
                <a:schemeClr val="dk1"/>
              </a:solidFill>
              <a:latin typeface="Arial"/>
              <a:ea typeface="Arial"/>
              <a:cs typeface="Arial"/>
              <a:sym typeface="Arial"/>
            </a:endParaRPr>
          </a:p>
        </p:txBody>
      </p:sp>
      <p:sp>
        <p:nvSpPr>
          <p:cNvPr id="93" name="Google Shape;93;p7"/>
          <p:cNvSpPr txBox="1"/>
          <p:nvPr/>
        </p:nvSpPr>
        <p:spPr>
          <a:xfrm>
            <a:off x="914400" y="2542032"/>
            <a:ext cx="2788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A4"/>
              </a:buClr>
              <a:buSzPts val="1800"/>
              <a:buFont typeface="Arial"/>
              <a:buNone/>
            </a:pPr>
            <a:r>
              <a:rPr b="1" i="0" lang="en-US" sz="1800" u="none" cap="none" strike="noStrike">
                <a:solidFill>
                  <a:srgbClr val="00A7A4"/>
                </a:solidFill>
                <a:latin typeface="Arial"/>
                <a:ea typeface="Arial"/>
                <a:cs typeface="Arial"/>
                <a:sym typeface="Arial"/>
              </a:rPr>
              <a:t>AUTOMATION</a:t>
            </a:r>
            <a:endParaRPr b="0" i="0" sz="1800" u="none" cap="none" strike="noStrike">
              <a:solidFill>
                <a:schemeClr val="dk1"/>
              </a:solidFill>
              <a:latin typeface="Arial"/>
              <a:ea typeface="Arial"/>
              <a:cs typeface="Arial"/>
              <a:sym typeface="Arial"/>
            </a:endParaRPr>
          </a:p>
        </p:txBody>
      </p:sp>
      <p:sp>
        <p:nvSpPr>
          <p:cNvPr id="94" name="Google Shape;94;p7"/>
          <p:cNvSpPr txBox="1"/>
          <p:nvPr/>
        </p:nvSpPr>
        <p:spPr>
          <a:xfrm>
            <a:off x="914400" y="2980944"/>
            <a:ext cx="2761488"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C1E2C"/>
              </a:buClr>
              <a:buSzPts val="2100"/>
              <a:buFont typeface="Arial"/>
              <a:buNone/>
            </a:pPr>
            <a:r>
              <a:rPr b="1" i="0" lang="en-US" sz="2100" u="none" cap="none" strike="noStrike">
                <a:solidFill>
                  <a:srgbClr val="0C1E2C"/>
                </a:solidFill>
                <a:latin typeface="Arial"/>
                <a:ea typeface="Arial"/>
                <a:cs typeface="Arial"/>
                <a:sym typeface="Arial"/>
              </a:rPr>
              <a:t>Apa yang berjalan otomatis?</a:t>
            </a:r>
            <a:endParaRPr b="0" i="0" sz="2100" u="none" cap="none" strike="noStrike">
              <a:solidFill>
                <a:schemeClr val="dk1"/>
              </a:solidFill>
              <a:latin typeface="Arial"/>
              <a:ea typeface="Arial"/>
              <a:cs typeface="Arial"/>
              <a:sym typeface="Arial"/>
            </a:endParaRPr>
          </a:p>
        </p:txBody>
      </p:sp>
      <p:sp>
        <p:nvSpPr>
          <p:cNvPr id="95" name="Google Shape;95;p7"/>
          <p:cNvSpPr txBox="1"/>
          <p:nvPr/>
        </p:nvSpPr>
        <p:spPr>
          <a:xfrm>
            <a:off x="914400" y="3840480"/>
            <a:ext cx="2761488" cy="8961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Aturan membuat aksi berlangsung tanpa klik berulang. Contoh: jalankan pipeline setelah dipicu.</a:t>
            </a:r>
            <a:endParaRPr b="0" i="0" sz="1500" u="none" cap="none" strike="noStrike">
              <a:solidFill>
                <a:schemeClr val="dk1"/>
              </a:solidFill>
              <a:latin typeface="Arial"/>
              <a:ea typeface="Arial"/>
              <a:cs typeface="Arial"/>
              <a:sym typeface="Arial"/>
            </a:endParaRPr>
          </a:p>
        </p:txBody>
      </p:sp>
      <p:sp>
        <p:nvSpPr>
          <p:cNvPr id="96" name="Google Shape;96;p7"/>
          <p:cNvSpPr/>
          <p:nvPr/>
        </p:nvSpPr>
        <p:spPr>
          <a:xfrm>
            <a:off x="4343400" y="1627632"/>
            <a:ext cx="3337560" cy="3456432"/>
          </a:xfrm>
          <a:prstGeom prst="roundRect">
            <a:avLst>
              <a:gd fmla="val 2740" name="adj"/>
            </a:avLst>
          </a:prstGeom>
          <a:solidFill>
            <a:srgbClr val="E7F1FA"/>
          </a:solidFill>
          <a:ln cap="flat" cmpd="sng" w="12700">
            <a:solidFill>
              <a:srgbClr val="E7F1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p:nvPr/>
        </p:nvSpPr>
        <p:spPr>
          <a:xfrm>
            <a:off x="4617720" y="1892808"/>
            <a:ext cx="484632" cy="484632"/>
          </a:xfrm>
          <a:prstGeom prst="ellipse">
            <a:avLst/>
          </a:prstGeom>
          <a:solidFill>
            <a:srgbClr val="2563A6"/>
          </a:solidFill>
          <a:ln cap="flat" cmpd="sng" w="12700">
            <a:solidFill>
              <a:srgbClr val="2563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txBox="1"/>
          <p:nvPr/>
        </p:nvSpPr>
        <p:spPr>
          <a:xfrm>
            <a:off x="4617720" y="1984248"/>
            <a:ext cx="48463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2</a:t>
            </a:r>
            <a:endParaRPr b="0" i="0" sz="1400" u="none" cap="none" strike="noStrike">
              <a:solidFill>
                <a:schemeClr val="dk1"/>
              </a:solidFill>
              <a:latin typeface="Arial"/>
              <a:ea typeface="Arial"/>
              <a:cs typeface="Arial"/>
              <a:sym typeface="Arial"/>
            </a:endParaRPr>
          </a:p>
        </p:txBody>
      </p:sp>
      <p:sp>
        <p:nvSpPr>
          <p:cNvPr id="99" name="Google Shape;99;p7"/>
          <p:cNvSpPr txBox="1"/>
          <p:nvPr/>
        </p:nvSpPr>
        <p:spPr>
          <a:xfrm>
            <a:off x="4617720" y="2542032"/>
            <a:ext cx="2788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A6"/>
              </a:buClr>
              <a:buSzPts val="1800"/>
              <a:buFont typeface="Arial"/>
              <a:buNone/>
            </a:pPr>
            <a:r>
              <a:rPr b="1" i="0" lang="en-US" sz="1800" u="none" cap="none" strike="noStrike">
                <a:solidFill>
                  <a:srgbClr val="2563A6"/>
                </a:solidFill>
                <a:latin typeface="Arial"/>
                <a:ea typeface="Arial"/>
                <a:cs typeface="Arial"/>
                <a:sym typeface="Arial"/>
              </a:rPr>
              <a:t>SCHEDULING</a:t>
            </a:r>
            <a:endParaRPr b="0" i="0" sz="1800" u="none" cap="none" strike="noStrike">
              <a:solidFill>
                <a:schemeClr val="dk1"/>
              </a:solidFill>
              <a:latin typeface="Arial"/>
              <a:ea typeface="Arial"/>
              <a:cs typeface="Arial"/>
              <a:sym typeface="Arial"/>
            </a:endParaRPr>
          </a:p>
        </p:txBody>
      </p:sp>
      <p:sp>
        <p:nvSpPr>
          <p:cNvPr id="100" name="Google Shape;100;p7"/>
          <p:cNvSpPr txBox="1"/>
          <p:nvPr/>
        </p:nvSpPr>
        <p:spPr>
          <a:xfrm>
            <a:off x="4617720" y="2980944"/>
            <a:ext cx="2761488"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C1E2C"/>
              </a:buClr>
              <a:buSzPts val="2100"/>
              <a:buFont typeface="Arial"/>
              <a:buNone/>
            </a:pPr>
            <a:r>
              <a:rPr b="1" i="0" lang="en-US" sz="2100" u="none" cap="none" strike="noStrike">
                <a:solidFill>
                  <a:srgbClr val="0C1E2C"/>
                </a:solidFill>
                <a:latin typeface="Arial"/>
                <a:ea typeface="Arial"/>
                <a:cs typeface="Arial"/>
                <a:sym typeface="Arial"/>
              </a:rPr>
              <a:t>Kapan pekerjaan dimulai?</a:t>
            </a:r>
            <a:endParaRPr b="0" i="0" sz="2100" u="none" cap="none" strike="noStrike">
              <a:solidFill>
                <a:schemeClr val="dk1"/>
              </a:solidFill>
              <a:latin typeface="Arial"/>
              <a:ea typeface="Arial"/>
              <a:cs typeface="Arial"/>
              <a:sym typeface="Arial"/>
            </a:endParaRPr>
          </a:p>
        </p:txBody>
      </p:sp>
      <p:sp>
        <p:nvSpPr>
          <p:cNvPr id="101" name="Google Shape;101;p7"/>
          <p:cNvSpPr txBox="1"/>
          <p:nvPr/>
        </p:nvSpPr>
        <p:spPr>
          <a:xfrm>
            <a:off x="4617720" y="3840480"/>
            <a:ext cx="2761488" cy="8961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Jadwal waktu memicu run. Contoh: setiap 5 menit menurut Asia/Jakarta.</a:t>
            </a:r>
            <a:endParaRPr b="0" i="0" sz="1500" u="none" cap="none" strike="noStrike">
              <a:solidFill>
                <a:schemeClr val="dk1"/>
              </a:solidFill>
              <a:latin typeface="Arial"/>
              <a:ea typeface="Arial"/>
              <a:cs typeface="Arial"/>
              <a:sym typeface="Arial"/>
            </a:endParaRPr>
          </a:p>
        </p:txBody>
      </p:sp>
      <p:sp>
        <p:nvSpPr>
          <p:cNvPr id="102" name="Google Shape;102;p7"/>
          <p:cNvSpPr/>
          <p:nvPr/>
        </p:nvSpPr>
        <p:spPr>
          <a:xfrm>
            <a:off x="8046720" y="1627632"/>
            <a:ext cx="3337560" cy="3456432"/>
          </a:xfrm>
          <a:prstGeom prst="roundRect">
            <a:avLst>
              <a:gd fmla="val 2740" name="adj"/>
            </a:avLst>
          </a:prstGeom>
          <a:solidFill>
            <a:srgbClr val="FEE8E5"/>
          </a:solidFill>
          <a:ln cap="flat" cmpd="sng" w="12700">
            <a:solidFill>
              <a:srgbClr val="FEE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8321040" y="1892808"/>
            <a:ext cx="484632" cy="484632"/>
          </a:xfrm>
          <a:prstGeom prst="ellipse">
            <a:avLst/>
          </a:prstGeom>
          <a:solidFill>
            <a:srgbClr val="FA6A60"/>
          </a:solidFill>
          <a:ln cap="flat" cmpd="sng" w="12700">
            <a:solidFill>
              <a:srgbClr val="FA6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txBox="1"/>
          <p:nvPr/>
        </p:nvSpPr>
        <p:spPr>
          <a:xfrm>
            <a:off x="8321040" y="1984248"/>
            <a:ext cx="48463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3</a:t>
            </a:r>
            <a:endParaRPr b="0" i="0" sz="1400" u="none" cap="none" strike="noStrike">
              <a:solidFill>
                <a:schemeClr val="dk1"/>
              </a:solidFill>
              <a:latin typeface="Arial"/>
              <a:ea typeface="Arial"/>
              <a:cs typeface="Arial"/>
              <a:sym typeface="Arial"/>
            </a:endParaRPr>
          </a:p>
        </p:txBody>
      </p:sp>
      <p:sp>
        <p:nvSpPr>
          <p:cNvPr id="105" name="Google Shape;105;p7"/>
          <p:cNvSpPr txBox="1"/>
          <p:nvPr/>
        </p:nvSpPr>
        <p:spPr>
          <a:xfrm>
            <a:off x="8321040" y="2542032"/>
            <a:ext cx="2788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A6A60"/>
              </a:buClr>
              <a:buSzPts val="1800"/>
              <a:buFont typeface="Arial"/>
              <a:buNone/>
            </a:pPr>
            <a:r>
              <a:rPr b="1" i="0" lang="en-US" sz="1800" u="none" cap="none" strike="noStrike">
                <a:solidFill>
                  <a:srgbClr val="FA6A60"/>
                </a:solidFill>
                <a:latin typeface="Arial"/>
                <a:ea typeface="Arial"/>
                <a:cs typeface="Arial"/>
                <a:sym typeface="Arial"/>
              </a:rPr>
              <a:t>ORCHESTRATION</a:t>
            </a:r>
            <a:endParaRPr b="0" i="0" sz="1800" u="none" cap="none" strike="noStrike">
              <a:solidFill>
                <a:schemeClr val="dk1"/>
              </a:solidFill>
              <a:latin typeface="Arial"/>
              <a:ea typeface="Arial"/>
              <a:cs typeface="Arial"/>
              <a:sym typeface="Arial"/>
            </a:endParaRPr>
          </a:p>
        </p:txBody>
      </p:sp>
      <p:sp>
        <p:nvSpPr>
          <p:cNvPr id="106" name="Google Shape;106;p7"/>
          <p:cNvSpPr txBox="1"/>
          <p:nvPr/>
        </p:nvSpPr>
        <p:spPr>
          <a:xfrm>
            <a:off x="8321040" y="2980944"/>
            <a:ext cx="2761488"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C1E2C"/>
              </a:buClr>
              <a:buSzPts val="2100"/>
              <a:buFont typeface="Arial"/>
              <a:buNone/>
            </a:pPr>
            <a:r>
              <a:rPr b="1" i="0" lang="en-US" sz="2100" u="none" cap="none" strike="noStrike">
                <a:solidFill>
                  <a:srgbClr val="0C1E2C"/>
                </a:solidFill>
                <a:latin typeface="Arial"/>
                <a:ea typeface="Arial"/>
                <a:cs typeface="Arial"/>
                <a:sym typeface="Arial"/>
              </a:rPr>
              <a:t>Bagaimana alurnya dikendalikan?</a:t>
            </a:r>
            <a:endParaRPr b="0" i="0" sz="2100" u="none" cap="none" strike="noStrike">
              <a:solidFill>
                <a:schemeClr val="dk1"/>
              </a:solidFill>
              <a:latin typeface="Arial"/>
              <a:ea typeface="Arial"/>
              <a:cs typeface="Arial"/>
              <a:sym typeface="Arial"/>
            </a:endParaRPr>
          </a:p>
        </p:txBody>
      </p:sp>
      <p:sp>
        <p:nvSpPr>
          <p:cNvPr id="107" name="Google Shape;107;p7"/>
          <p:cNvSpPr txBox="1"/>
          <p:nvPr/>
        </p:nvSpPr>
        <p:spPr>
          <a:xfrm>
            <a:off x="8321040" y="3840480"/>
            <a:ext cx="2761488" cy="8961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Mengatur dependency, status, retry, log, dan hasil dari beberapa langkah.</a:t>
            </a:r>
            <a:endParaRPr b="0" i="0" sz="1500" u="none" cap="none" strike="noStrike">
              <a:solidFill>
                <a:schemeClr val="dk1"/>
              </a:solidFill>
              <a:latin typeface="Arial"/>
              <a:ea typeface="Arial"/>
              <a:cs typeface="Arial"/>
              <a:sym typeface="Arial"/>
            </a:endParaRPr>
          </a:p>
        </p:txBody>
      </p:sp>
      <p:sp>
        <p:nvSpPr>
          <p:cNvPr id="108" name="Google Shape;108;p7"/>
          <p:cNvSpPr txBox="1"/>
          <p:nvPr/>
        </p:nvSpPr>
        <p:spPr>
          <a:xfrm>
            <a:off x="1600200" y="5586984"/>
            <a:ext cx="9006840" cy="3383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1E2C"/>
              </a:buClr>
              <a:buSzPts val="2100"/>
              <a:buFont typeface="Arial"/>
              <a:buNone/>
            </a:pPr>
            <a:r>
              <a:rPr b="1" i="0" lang="en-US" sz="2100" u="none" cap="none" strike="noStrike">
                <a:solidFill>
                  <a:srgbClr val="0C1E2C"/>
                </a:solidFill>
                <a:latin typeface="Arial"/>
                <a:ea typeface="Arial"/>
                <a:cs typeface="Arial"/>
                <a:sym typeface="Arial"/>
              </a:rPr>
              <a:t>Satu pipeline dapat memakai ketiganya sekaligus.</a:t>
            </a:r>
            <a:endParaRPr b="0" i="0" sz="21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8"/>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Dari jadwal hingga data siap dipakai</a:t>
            </a:r>
            <a:endParaRPr b="0" i="0" sz="3000" u="none" cap="none" strike="noStrike">
              <a:solidFill>
                <a:schemeClr val="dk1"/>
              </a:solidFill>
              <a:latin typeface="Arial"/>
              <a:ea typeface="Arial"/>
              <a:cs typeface="Arial"/>
              <a:sym typeface="Arial"/>
            </a:endParaRPr>
          </a:p>
        </p:txBody>
      </p:sp>
      <p:sp>
        <p:nvSpPr>
          <p:cNvPr id="115" name="Google Shape;115;p8"/>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Jadwal memicu sebuah run; run baru dianggap selesai setelah hasilnya lolos verifikasi.</a:t>
            </a:r>
            <a:endParaRPr b="0" i="0" sz="1500" u="none" cap="none" strike="noStrike">
              <a:solidFill>
                <a:schemeClr val="dk1"/>
              </a:solidFill>
              <a:latin typeface="Arial"/>
              <a:ea typeface="Arial"/>
              <a:cs typeface="Arial"/>
              <a:sym typeface="Arial"/>
            </a:endParaRPr>
          </a:p>
        </p:txBody>
      </p:sp>
      <p:sp>
        <p:nvSpPr>
          <p:cNvPr id="116" name="Google Shape;116;p8"/>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117" name="Google Shape;117;p8"/>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05</a:t>
            </a:r>
            <a:endParaRPr b="0" i="0" sz="1000" u="none" cap="none" strike="noStrike">
              <a:solidFill>
                <a:schemeClr val="dk1"/>
              </a:solidFill>
              <a:latin typeface="Arial"/>
              <a:ea typeface="Arial"/>
              <a:cs typeface="Arial"/>
              <a:sym typeface="Arial"/>
            </a:endParaRPr>
          </a:p>
        </p:txBody>
      </p:sp>
      <p:sp>
        <p:nvSpPr>
          <p:cNvPr id="118" name="Google Shape;118;p8"/>
          <p:cNvSpPr/>
          <p:nvPr/>
        </p:nvSpPr>
        <p:spPr>
          <a:xfrm>
            <a:off x="594360" y="2176272"/>
            <a:ext cx="704088" cy="704088"/>
          </a:xfrm>
          <a:prstGeom prst="ellipse">
            <a:avLst/>
          </a:prstGeom>
          <a:solidFill>
            <a:srgbClr val="2563A6"/>
          </a:solidFill>
          <a:ln cap="flat" cmpd="sng" w="12700">
            <a:solidFill>
              <a:srgbClr val="2563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
          <p:cNvSpPr txBox="1"/>
          <p:nvPr/>
        </p:nvSpPr>
        <p:spPr>
          <a:xfrm>
            <a:off x="594360" y="2331720"/>
            <a:ext cx="70408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1</a:t>
            </a:r>
            <a:endParaRPr b="0" i="0" sz="1900" u="none" cap="none" strike="noStrike">
              <a:solidFill>
                <a:schemeClr val="dk1"/>
              </a:solidFill>
              <a:latin typeface="Arial"/>
              <a:ea typeface="Arial"/>
              <a:cs typeface="Arial"/>
              <a:sym typeface="Arial"/>
            </a:endParaRPr>
          </a:p>
        </p:txBody>
      </p:sp>
      <p:sp>
        <p:nvSpPr>
          <p:cNvPr id="120" name="Google Shape;120;p8"/>
          <p:cNvSpPr txBox="1"/>
          <p:nvPr/>
        </p:nvSpPr>
        <p:spPr>
          <a:xfrm>
            <a:off x="484632" y="3154680"/>
            <a:ext cx="1005840" cy="3383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1E2C"/>
              </a:buClr>
              <a:buSzPts val="1800"/>
              <a:buFont typeface="Arial"/>
              <a:buNone/>
            </a:pPr>
            <a:r>
              <a:rPr b="1" i="0" lang="en-US" sz="1800" u="none" cap="none" strike="noStrike">
                <a:solidFill>
                  <a:srgbClr val="0C1E2C"/>
                </a:solidFill>
                <a:latin typeface="Arial"/>
                <a:ea typeface="Arial"/>
                <a:cs typeface="Arial"/>
                <a:sym typeface="Arial"/>
              </a:rPr>
              <a:t>Trigger</a:t>
            </a:r>
            <a:endParaRPr b="0" i="0" sz="1800" u="none" cap="none" strike="noStrike">
              <a:solidFill>
                <a:schemeClr val="dk1"/>
              </a:solidFill>
              <a:latin typeface="Arial"/>
              <a:ea typeface="Arial"/>
              <a:cs typeface="Arial"/>
              <a:sym typeface="Arial"/>
            </a:endParaRPr>
          </a:p>
        </p:txBody>
      </p:sp>
      <p:sp>
        <p:nvSpPr>
          <p:cNvPr id="121" name="Google Shape;121;p8"/>
          <p:cNvSpPr txBox="1"/>
          <p:nvPr/>
        </p:nvSpPr>
        <p:spPr>
          <a:xfrm>
            <a:off x="173736" y="3694176"/>
            <a:ext cx="1664208"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26B79"/>
              </a:buClr>
              <a:buSzPts val="1300"/>
              <a:buFont typeface="Arial"/>
              <a:buNone/>
            </a:pPr>
            <a:r>
              <a:rPr b="0" i="0" lang="en-US" sz="1300" u="none" cap="none" strike="noStrike">
                <a:solidFill>
                  <a:srgbClr val="526B79"/>
                </a:solidFill>
                <a:latin typeface="Arial"/>
                <a:ea typeface="Arial"/>
                <a:cs typeface="Arial"/>
                <a:sym typeface="Arial"/>
              </a:rPr>
              <a:t>Cron atau klik manual</a:t>
            </a:r>
            <a:endParaRPr b="0" i="0" sz="1300" u="none" cap="none" strike="noStrike">
              <a:solidFill>
                <a:schemeClr val="dk1"/>
              </a:solidFill>
              <a:latin typeface="Arial"/>
              <a:ea typeface="Arial"/>
              <a:cs typeface="Arial"/>
              <a:sym typeface="Arial"/>
            </a:endParaRPr>
          </a:p>
        </p:txBody>
      </p:sp>
      <p:cxnSp>
        <p:nvCxnSpPr>
          <p:cNvPr id="122" name="Google Shape;122;p8"/>
          <p:cNvCxnSpPr/>
          <p:nvPr/>
        </p:nvCxnSpPr>
        <p:spPr>
          <a:xfrm>
            <a:off x="1444752" y="2532888"/>
            <a:ext cx="1234440" cy="0"/>
          </a:xfrm>
          <a:prstGeom prst="straightConnector1">
            <a:avLst/>
          </a:prstGeom>
          <a:noFill/>
          <a:ln cap="flat" cmpd="sng" w="38100">
            <a:solidFill>
              <a:srgbClr val="D8E3E9"/>
            </a:solidFill>
            <a:prstDash val="solid"/>
            <a:round/>
            <a:headEnd len="sm" w="sm" type="none"/>
            <a:tailEnd len="med" w="med" type="triangle"/>
          </a:ln>
        </p:spPr>
      </p:cxnSp>
      <p:sp>
        <p:nvSpPr>
          <p:cNvPr id="123" name="Google Shape;123;p8"/>
          <p:cNvSpPr/>
          <p:nvPr/>
        </p:nvSpPr>
        <p:spPr>
          <a:xfrm>
            <a:off x="2898648" y="2176272"/>
            <a:ext cx="704088" cy="704088"/>
          </a:xfrm>
          <a:prstGeom prst="ellipse">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txBox="1"/>
          <p:nvPr/>
        </p:nvSpPr>
        <p:spPr>
          <a:xfrm>
            <a:off x="2898648" y="2331720"/>
            <a:ext cx="70408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2</a:t>
            </a:r>
            <a:endParaRPr b="0" i="0" sz="1900" u="none" cap="none" strike="noStrike">
              <a:solidFill>
                <a:schemeClr val="dk1"/>
              </a:solidFill>
              <a:latin typeface="Arial"/>
              <a:ea typeface="Arial"/>
              <a:cs typeface="Arial"/>
              <a:sym typeface="Arial"/>
            </a:endParaRPr>
          </a:p>
        </p:txBody>
      </p:sp>
      <p:sp>
        <p:nvSpPr>
          <p:cNvPr id="125" name="Google Shape;125;p8"/>
          <p:cNvSpPr txBox="1"/>
          <p:nvPr/>
        </p:nvSpPr>
        <p:spPr>
          <a:xfrm>
            <a:off x="2788920" y="3154680"/>
            <a:ext cx="1005840" cy="3383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1E2C"/>
              </a:buClr>
              <a:buSzPts val="1800"/>
              <a:buFont typeface="Arial"/>
              <a:buNone/>
            </a:pPr>
            <a:r>
              <a:rPr b="1" i="0" lang="en-US" sz="1800" u="none" cap="none" strike="noStrike">
                <a:solidFill>
                  <a:srgbClr val="0C1E2C"/>
                </a:solidFill>
                <a:latin typeface="Arial"/>
                <a:ea typeface="Arial"/>
                <a:cs typeface="Arial"/>
                <a:sym typeface="Arial"/>
              </a:rPr>
              <a:t>Create run</a:t>
            </a:r>
            <a:endParaRPr b="0" i="0" sz="1800" u="none" cap="none" strike="noStrike">
              <a:solidFill>
                <a:schemeClr val="dk1"/>
              </a:solidFill>
              <a:latin typeface="Arial"/>
              <a:ea typeface="Arial"/>
              <a:cs typeface="Arial"/>
              <a:sym typeface="Arial"/>
            </a:endParaRPr>
          </a:p>
        </p:txBody>
      </p:sp>
      <p:sp>
        <p:nvSpPr>
          <p:cNvPr id="126" name="Google Shape;126;p8"/>
          <p:cNvSpPr txBox="1"/>
          <p:nvPr/>
        </p:nvSpPr>
        <p:spPr>
          <a:xfrm>
            <a:off x="2478024" y="3694176"/>
            <a:ext cx="1664208"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26B79"/>
              </a:buClr>
              <a:buSzPts val="1300"/>
              <a:buFont typeface="Arial"/>
              <a:buNone/>
            </a:pPr>
            <a:r>
              <a:rPr b="0" i="0" lang="en-US" sz="1300" u="none" cap="none" strike="noStrike">
                <a:solidFill>
                  <a:srgbClr val="526B79"/>
                </a:solidFill>
                <a:latin typeface="Arial"/>
                <a:ea typeface="Arial"/>
                <a:cs typeface="Arial"/>
                <a:sym typeface="Arial"/>
              </a:rPr>
              <a:t>Status dan ID run dicatat</a:t>
            </a:r>
            <a:endParaRPr b="0" i="0" sz="1300" u="none" cap="none" strike="noStrike">
              <a:solidFill>
                <a:schemeClr val="dk1"/>
              </a:solidFill>
              <a:latin typeface="Arial"/>
              <a:ea typeface="Arial"/>
              <a:cs typeface="Arial"/>
              <a:sym typeface="Arial"/>
            </a:endParaRPr>
          </a:p>
        </p:txBody>
      </p:sp>
      <p:cxnSp>
        <p:nvCxnSpPr>
          <p:cNvPr id="127" name="Google Shape;127;p8"/>
          <p:cNvCxnSpPr/>
          <p:nvPr/>
        </p:nvCxnSpPr>
        <p:spPr>
          <a:xfrm>
            <a:off x="3749040" y="2532888"/>
            <a:ext cx="1234440" cy="0"/>
          </a:xfrm>
          <a:prstGeom prst="straightConnector1">
            <a:avLst/>
          </a:prstGeom>
          <a:noFill/>
          <a:ln cap="flat" cmpd="sng" w="38100">
            <a:solidFill>
              <a:srgbClr val="D8E3E9"/>
            </a:solidFill>
            <a:prstDash val="solid"/>
            <a:round/>
            <a:headEnd len="sm" w="sm" type="none"/>
            <a:tailEnd len="med" w="med" type="triangle"/>
          </a:ln>
        </p:spPr>
      </p:cxnSp>
      <p:sp>
        <p:nvSpPr>
          <p:cNvPr id="128" name="Google Shape;128;p8"/>
          <p:cNvSpPr/>
          <p:nvPr/>
        </p:nvSpPr>
        <p:spPr>
          <a:xfrm>
            <a:off x="5202936" y="2176272"/>
            <a:ext cx="704088" cy="704088"/>
          </a:xfrm>
          <a:prstGeom prst="ellipse">
            <a:avLst/>
          </a:prstGeom>
          <a:solidFill>
            <a:srgbClr val="183043"/>
          </a:solidFill>
          <a:ln cap="flat" cmpd="sng" w="12700">
            <a:solidFill>
              <a:srgbClr val="1830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txBox="1"/>
          <p:nvPr/>
        </p:nvSpPr>
        <p:spPr>
          <a:xfrm>
            <a:off x="5202936" y="2331720"/>
            <a:ext cx="70408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3</a:t>
            </a:r>
            <a:endParaRPr b="0" i="0" sz="1900" u="none" cap="none" strike="noStrike">
              <a:solidFill>
                <a:schemeClr val="dk1"/>
              </a:solidFill>
              <a:latin typeface="Arial"/>
              <a:ea typeface="Arial"/>
              <a:cs typeface="Arial"/>
              <a:sym typeface="Arial"/>
            </a:endParaRPr>
          </a:p>
        </p:txBody>
      </p:sp>
      <p:sp>
        <p:nvSpPr>
          <p:cNvPr id="130" name="Google Shape;130;p8"/>
          <p:cNvSpPr txBox="1"/>
          <p:nvPr/>
        </p:nvSpPr>
        <p:spPr>
          <a:xfrm>
            <a:off x="5093208" y="3154680"/>
            <a:ext cx="1005840" cy="3383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1E2C"/>
              </a:buClr>
              <a:buSzPts val="1800"/>
              <a:buFont typeface="Arial"/>
              <a:buNone/>
            </a:pPr>
            <a:r>
              <a:rPr b="1" i="0" lang="en-US" sz="1800" u="none" cap="none" strike="noStrike">
                <a:solidFill>
                  <a:srgbClr val="0C1E2C"/>
                </a:solidFill>
                <a:latin typeface="Arial"/>
                <a:ea typeface="Arial"/>
                <a:cs typeface="Arial"/>
                <a:sym typeface="Arial"/>
              </a:rPr>
              <a:t>Execute</a:t>
            </a:r>
            <a:endParaRPr b="0" i="0" sz="1800" u="none" cap="none" strike="noStrike">
              <a:solidFill>
                <a:schemeClr val="dk1"/>
              </a:solidFill>
              <a:latin typeface="Arial"/>
              <a:ea typeface="Arial"/>
              <a:cs typeface="Arial"/>
              <a:sym typeface="Arial"/>
            </a:endParaRPr>
          </a:p>
        </p:txBody>
      </p:sp>
      <p:sp>
        <p:nvSpPr>
          <p:cNvPr id="131" name="Google Shape;131;p8"/>
          <p:cNvSpPr txBox="1"/>
          <p:nvPr/>
        </p:nvSpPr>
        <p:spPr>
          <a:xfrm>
            <a:off x="4782312" y="3694176"/>
            <a:ext cx="1664208"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26B79"/>
              </a:buClr>
              <a:buSzPts val="1300"/>
              <a:buFont typeface="Arial"/>
              <a:buNone/>
            </a:pPr>
            <a:r>
              <a:rPr b="0" i="0" lang="en-US" sz="1300" u="none" cap="none" strike="noStrike">
                <a:solidFill>
                  <a:srgbClr val="526B79"/>
                </a:solidFill>
                <a:latin typeface="Arial"/>
                <a:ea typeface="Arial"/>
                <a:cs typeface="Arial"/>
                <a:sym typeface="Arial"/>
              </a:rPr>
              <a:t>Jalankan pipeline ELT</a:t>
            </a:r>
            <a:endParaRPr b="0" i="0" sz="1300" u="none" cap="none" strike="noStrike">
              <a:solidFill>
                <a:schemeClr val="dk1"/>
              </a:solidFill>
              <a:latin typeface="Arial"/>
              <a:ea typeface="Arial"/>
              <a:cs typeface="Arial"/>
              <a:sym typeface="Arial"/>
            </a:endParaRPr>
          </a:p>
        </p:txBody>
      </p:sp>
      <p:cxnSp>
        <p:nvCxnSpPr>
          <p:cNvPr id="132" name="Google Shape;132;p8"/>
          <p:cNvCxnSpPr/>
          <p:nvPr/>
        </p:nvCxnSpPr>
        <p:spPr>
          <a:xfrm>
            <a:off x="6053328" y="2532888"/>
            <a:ext cx="1234440" cy="0"/>
          </a:xfrm>
          <a:prstGeom prst="straightConnector1">
            <a:avLst/>
          </a:prstGeom>
          <a:noFill/>
          <a:ln cap="flat" cmpd="sng" w="38100">
            <a:solidFill>
              <a:srgbClr val="D8E3E9"/>
            </a:solidFill>
            <a:prstDash val="solid"/>
            <a:round/>
            <a:headEnd len="sm" w="sm" type="none"/>
            <a:tailEnd len="med" w="med" type="triangle"/>
          </a:ln>
        </p:spPr>
      </p:cxnSp>
      <p:sp>
        <p:nvSpPr>
          <p:cNvPr id="133" name="Google Shape;133;p8"/>
          <p:cNvSpPr/>
          <p:nvPr/>
        </p:nvSpPr>
        <p:spPr>
          <a:xfrm>
            <a:off x="7507224" y="2176272"/>
            <a:ext cx="704088" cy="704088"/>
          </a:xfrm>
          <a:prstGeom prst="ellipse">
            <a:avLst/>
          </a:prstGeom>
          <a:solidFill>
            <a:srgbClr val="FA6A60"/>
          </a:solidFill>
          <a:ln cap="flat" cmpd="sng" w="12700">
            <a:solidFill>
              <a:srgbClr val="FA6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txBox="1"/>
          <p:nvPr/>
        </p:nvSpPr>
        <p:spPr>
          <a:xfrm>
            <a:off x="7507224" y="2331720"/>
            <a:ext cx="70408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4</a:t>
            </a:r>
            <a:endParaRPr b="0" i="0" sz="1900" u="none" cap="none" strike="noStrike">
              <a:solidFill>
                <a:schemeClr val="dk1"/>
              </a:solidFill>
              <a:latin typeface="Arial"/>
              <a:ea typeface="Arial"/>
              <a:cs typeface="Arial"/>
              <a:sym typeface="Arial"/>
            </a:endParaRPr>
          </a:p>
        </p:txBody>
      </p:sp>
      <p:sp>
        <p:nvSpPr>
          <p:cNvPr id="135" name="Google Shape;135;p8"/>
          <p:cNvSpPr txBox="1"/>
          <p:nvPr/>
        </p:nvSpPr>
        <p:spPr>
          <a:xfrm>
            <a:off x="7397496" y="3154680"/>
            <a:ext cx="1005840" cy="3383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1E2C"/>
              </a:buClr>
              <a:buSzPts val="1800"/>
              <a:buFont typeface="Arial"/>
              <a:buNone/>
            </a:pPr>
            <a:r>
              <a:rPr b="1" i="0" lang="en-US" sz="1800" u="none" cap="none" strike="noStrike">
                <a:solidFill>
                  <a:srgbClr val="0C1E2C"/>
                </a:solidFill>
                <a:latin typeface="Arial"/>
                <a:ea typeface="Arial"/>
                <a:cs typeface="Arial"/>
                <a:sym typeface="Arial"/>
              </a:rPr>
              <a:t>Observe</a:t>
            </a:r>
            <a:endParaRPr b="0" i="0" sz="1800" u="none" cap="none" strike="noStrike">
              <a:solidFill>
                <a:schemeClr val="dk1"/>
              </a:solidFill>
              <a:latin typeface="Arial"/>
              <a:ea typeface="Arial"/>
              <a:cs typeface="Arial"/>
              <a:sym typeface="Arial"/>
            </a:endParaRPr>
          </a:p>
        </p:txBody>
      </p:sp>
      <p:sp>
        <p:nvSpPr>
          <p:cNvPr id="136" name="Google Shape;136;p8"/>
          <p:cNvSpPr txBox="1"/>
          <p:nvPr/>
        </p:nvSpPr>
        <p:spPr>
          <a:xfrm>
            <a:off x="7086600" y="3694176"/>
            <a:ext cx="1664208"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26B79"/>
              </a:buClr>
              <a:buSzPts val="1300"/>
              <a:buFont typeface="Arial"/>
              <a:buNone/>
            </a:pPr>
            <a:r>
              <a:rPr b="0" i="0" lang="en-US" sz="1300" u="none" cap="none" strike="noStrike">
                <a:solidFill>
                  <a:srgbClr val="526B79"/>
                </a:solidFill>
                <a:latin typeface="Arial"/>
                <a:ea typeface="Arial"/>
                <a:cs typeface="Arial"/>
                <a:sym typeface="Arial"/>
              </a:rPr>
              <a:t>Baca log dan error</a:t>
            </a:r>
            <a:endParaRPr b="0" i="0" sz="1300" u="none" cap="none" strike="noStrike">
              <a:solidFill>
                <a:schemeClr val="dk1"/>
              </a:solidFill>
              <a:latin typeface="Arial"/>
              <a:ea typeface="Arial"/>
              <a:cs typeface="Arial"/>
              <a:sym typeface="Arial"/>
            </a:endParaRPr>
          </a:p>
        </p:txBody>
      </p:sp>
      <p:cxnSp>
        <p:nvCxnSpPr>
          <p:cNvPr id="137" name="Google Shape;137;p8"/>
          <p:cNvCxnSpPr/>
          <p:nvPr/>
        </p:nvCxnSpPr>
        <p:spPr>
          <a:xfrm>
            <a:off x="8357616" y="2532888"/>
            <a:ext cx="1234440" cy="0"/>
          </a:xfrm>
          <a:prstGeom prst="straightConnector1">
            <a:avLst/>
          </a:prstGeom>
          <a:noFill/>
          <a:ln cap="flat" cmpd="sng" w="38100">
            <a:solidFill>
              <a:srgbClr val="D8E3E9"/>
            </a:solidFill>
            <a:prstDash val="solid"/>
            <a:round/>
            <a:headEnd len="sm" w="sm" type="none"/>
            <a:tailEnd len="med" w="med" type="triangle"/>
          </a:ln>
        </p:spPr>
      </p:cxnSp>
      <p:sp>
        <p:nvSpPr>
          <p:cNvPr id="138" name="Google Shape;138;p8"/>
          <p:cNvSpPr/>
          <p:nvPr/>
        </p:nvSpPr>
        <p:spPr>
          <a:xfrm>
            <a:off x="9811512" y="2176272"/>
            <a:ext cx="704088" cy="704088"/>
          </a:xfrm>
          <a:prstGeom prst="ellipse">
            <a:avLst/>
          </a:prstGeom>
          <a:solidFill>
            <a:srgbClr val="17865D"/>
          </a:solidFill>
          <a:ln cap="flat" cmpd="sng" w="12700">
            <a:solidFill>
              <a:srgbClr val="178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txBox="1"/>
          <p:nvPr/>
        </p:nvSpPr>
        <p:spPr>
          <a:xfrm>
            <a:off x="9811512" y="2331720"/>
            <a:ext cx="70408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5</a:t>
            </a:r>
            <a:endParaRPr b="0" i="0" sz="1900" u="none" cap="none" strike="noStrike">
              <a:solidFill>
                <a:schemeClr val="dk1"/>
              </a:solidFill>
              <a:latin typeface="Arial"/>
              <a:ea typeface="Arial"/>
              <a:cs typeface="Arial"/>
              <a:sym typeface="Arial"/>
            </a:endParaRPr>
          </a:p>
        </p:txBody>
      </p:sp>
      <p:sp>
        <p:nvSpPr>
          <p:cNvPr id="140" name="Google Shape;140;p8"/>
          <p:cNvSpPr txBox="1"/>
          <p:nvPr/>
        </p:nvSpPr>
        <p:spPr>
          <a:xfrm>
            <a:off x="9701784" y="3154680"/>
            <a:ext cx="1005840" cy="3383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1E2C"/>
              </a:buClr>
              <a:buSzPts val="1800"/>
              <a:buFont typeface="Arial"/>
              <a:buNone/>
            </a:pPr>
            <a:r>
              <a:rPr b="1" i="0" lang="en-US" sz="1800" u="none" cap="none" strike="noStrike">
                <a:solidFill>
                  <a:srgbClr val="0C1E2C"/>
                </a:solidFill>
                <a:latin typeface="Arial"/>
                <a:ea typeface="Arial"/>
                <a:cs typeface="Arial"/>
                <a:sym typeface="Arial"/>
              </a:rPr>
              <a:t>Verify</a:t>
            </a:r>
            <a:endParaRPr b="0" i="0" sz="1800" u="none" cap="none" strike="noStrike">
              <a:solidFill>
                <a:schemeClr val="dk1"/>
              </a:solidFill>
              <a:latin typeface="Arial"/>
              <a:ea typeface="Arial"/>
              <a:cs typeface="Arial"/>
              <a:sym typeface="Arial"/>
            </a:endParaRPr>
          </a:p>
        </p:txBody>
      </p:sp>
      <p:sp>
        <p:nvSpPr>
          <p:cNvPr id="141" name="Google Shape;141;p8"/>
          <p:cNvSpPr txBox="1"/>
          <p:nvPr/>
        </p:nvSpPr>
        <p:spPr>
          <a:xfrm>
            <a:off x="9390888" y="3694176"/>
            <a:ext cx="1664208"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26B79"/>
              </a:buClr>
              <a:buSzPts val="1300"/>
              <a:buFont typeface="Arial"/>
              <a:buNone/>
            </a:pPr>
            <a:r>
              <a:rPr b="0" i="0" lang="en-US" sz="1300" u="none" cap="none" strike="noStrike">
                <a:solidFill>
                  <a:srgbClr val="526B79"/>
                </a:solidFill>
                <a:latin typeface="Arial"/>
                <a:ea typeface="Arial"/>
                <a:cs typeface="Arial"/>
                <a:sym typeface="Arial"/>
              </a:rPr>
              <a:t>Cek data mart</a:t>
            </a:r>
            <a:endParaRPr b="0" i="0" sz="1300" u="none" cap="none" strike="noStrike">
              <a:solidFill>
                <a:schemeClr val="dk1"/>
              </a:solidFill>
              <a:latin typeface="Arial"/>
              <a:ea typeface="Arial"/>
              <a:cs typeface="Arial"/>
              <a:sym typeface="Arial"/>
            </a:endParaRPr>
          </a:p>
        </p:txBody>
      </p:sp>
      <p:sp>
        <p:nvSpPr>
          <p:cNvPr id="142" name="Google Shape;142;p8"/>
          <p:cNvSpPr/>
          <p:nvPr/>
        </p:nvSpPr>
        <p:spPr>
          <a:xfrm>
            <a:off x="1874520" y="5074920"/>
            <a:ext cx="8366760" cy="530352"/>
          </a:xfrm>
          <a:prstGeom prst="roundRect">
            <a:avLst>
              <a:gd fmla="val 17241" name="adj"/>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txBox="1"/>
          <p:nvPr/>
        </p:nvSpPr>
        <p:spPr>
          <a:xfrm>
            <a:off x="2093976" y="5202936"/>
            <a:ext cx="792784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1E2C"/>
              </a:buClr>
              <a:buSzPts val="1700"/>
              <a:buFont typeface="Arial"/>
              <a:buNone/>
            </a:pPr>
            <a:r>
              <a:rPr b="1" i="0" lang="en-US" sz="1700" u="none" cap="none" strike="noStrike">
                <a:solidFill>
                  <a:srgbClr val="0C1E2C"/>
                </a:solidFill>
                <a:latin typeface="Arial"/>
                <a:ea typeface="Arial"/>
                <a:cs typeface="Arial"/>
                <a:sym typeface="Arial"/>
              </a:rPr>
              <a:t>Run sukses = proses selesai + tes lulus + data mart terisi</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9"/>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Membaca cron: */5 * * * *</a:t>
            </a:r>
            <a:endParaRPr b="0" i="0" sz="3000" u="none" cap="none" strike="noStrike">
              <a:solidFill>
                <a:schemeClr val="dk1"/>
              </a:solidFill>
              <a:latin typeface="Arial"/>
              <a:ea typeface="Arial"/>
              <a:cs typeface="Arial"/>
              <a:sym typeface="Arial"/>
            </a:endParaRPr>
          </a:p>
        </p:txBody>
      </p:sp>
      <p:sp>
        <p:nvSpPr>
          <p:cNvPr id="150" name="Google Shape;150;p9"/>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Lima bagian cron menentukan menit, jam, tanggal, bulan, dan hari.</a:t>
            </a:r>
            <a:endParaRPr b="0" i="0" sz="1500" u="none" cap="none" strike="noStrike">
              <a:solidFill>
                <a:schemeClr val="dk1"/>
              </a:solidFill>
              <a:latin typeface="Arial"/>
              <a:ea typeface="Arial"/>
              <a:cs typeface="Arial"/>
              <a:sym typeface="Arial"/>
            </a:endParaRPr>
          </a:p>
        </p:txBody>
      </p:sp>
      <p:sp>
        <p:nvSpPr>
          <p:cNvPr id="151" name="Google Shape;151;p9"/>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152" name="Google Shape;152;p9"/>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06</a:t>
            </a:r>
            <a:endParaRPr b="0" i="0" sz="1000" u="none" cap="none" strike="noStrike">
              <a:solidFill>
                <a:schemeClr val="dk1"/>
              </a:solidFill>
              <a:latin typeface="Arial"/>
              <a:ea typeface="Arial"/>
              <a:cs typeface="Arial"/>
              <a:sym typeface="Arial"/>
            </a:endParaRPr>
          </a:p>
        </p:txBody>
      </p:sp>
      <p:sp>
        <p:nvSpPr>
          <p:cNvPr id="153" name="Google Shape;153;p9"/>
          <p:cNvSpPr/>
          <p:nvPr/>
        </p:nvSpPr>
        <p:spPr>
          <a:xfrm>
            <a:off x="722376" y="1837944"/>
            <a:ext cx="1965960" cy="1325880"/>
          </a:xfrm>
          <a:prstGeom prst="roundRect">
            <a:avLst>
              <a:gd fmla="val 6897" name="adj"/>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
          <p:cNvSpPr txBox="1"/>
          <p:nvPr/>
        </p:nvSpPr>
        <p:spPr>
          <a:xfrm>
            <a:off x="859536" y="2039112"/>
            <a:ext cx="169164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Courier New"/>
              <a:buNone/>
            </a:pPr>
            <a:r>
              <a:rPr b="1" i="0" lang="en-US" sz="3400" u="none" cap="none" strike="noStrike">
                <a:solidFill>
                  <a:srgbClr val="FFFFFF"/>
                </a:solidFill>
                <a:latin typeface="Courier New"/>
                <a:ea typeface="Courier New"/>
                <a:cs typeface="Courier New"/>
                <a:sym typeface="Courier New"/>
              </a:rPr>
              <a:t>*/5</a:t>
            </a:r>
            <a:endParaRPr b="0" i="0" sz="3400" u="none" cap="none" strike="noStrike">
              <a:solidFill>
                <a:schemeClr val="dk1"/>
              </a:solidFill>
              <a:latin typeface="Arial"/>
              <a:ea typeface="Arial"/>
              <a:cs typeface="Arial"/>
              <a:sym typeface="Arial"/>
            </a:endParaRPr>
          </a:p>
        </p:txBody>
      </p:sp>
      <p:sp>
        <p:nvSpPr>
          <p:cNvPr id="155" name="Google Shape;155;p9"/>
          <p:cNvSpPr txBox="1"/>
          <p:nvPr/>
        </p:nvSpPr>
        <p:spPr>
          <a:xfrm>
            <a:off x="859536" y="2752344"/>
            <a:ext cx="16916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0" i="0" lang="en-US" sz="1500" u="none" cap="none" strike="noStrike">
                <a:solidFill>
                  <a:srgbClr val="FFFFFF"/>
                </a:solidFill>
                <a:latin typeface="Arial"/>
                <a:ea typeface="Arial"/>
                <a:cs typeface="Arial"/>
                <a:sym typeface="Arial"/>
              </a:rPr>
              <a:t>menit</a:t>
            </a:r>
            <a:endParaRPr b="0" i="0" sz="1500" u="none" cap="none" strike="noStrike">
              <a:solidFill>
                <a:schemeClr val="dk1"/>
              </a:solidFill>
              <a:latin typeface="Arial"/>
              <a:ea typeface="Arial"/>
              <a:cs typeface="Arial"/>
              <a:sym typeface="Arial"/>
            </a:endParaRPr>
          </a:p>
        </p:txBody>
      </p:sp>
      <p:sp>
        <p:nvSpPr>
          <p:cNvPr id="156" name="Google Shape;156;p9"/>
          <p:cNvSpPr/>
          <p:nvPr/>
        </p:nvSpPr>
        <p:spPr>
          <a:xfrm>
            <a:off x="3054096" y="1837944"/>
            <a:ext cx="1965960" cy="1325880"/>
          </a:xfrm>
          <a:prstGeom prst="roundRect">
            <a:avLst>
              <a:gd fmla="val 6897" name="adj"/>
            </a:avLst>
          </a:prstGeom>
          <a:solidFill>
            <a:srgbClr val="183043"/>
          </a:solidFill>
          <a:ln cap="flat" cmpd="sng" w="12700">
            <a:solidFill>
              <a:srgbClr val="1830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
          <p:cNvSpPr txBox="1"/>
          <p:nvPr/>
        </p:nvSpPr>
        <p:spPr>
          <a:xfrm>
            <a:off x="3191256" y="2039112"/>
            <a:ext cx="169164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Courier New"/>
              <a:buNone/>
            </a:pPr>
            <a:r>
              <a:rPr b="1" i="0" lang="en-US" sz="3400" u="none" cap="none" strike="noStrike">
                <a:solidFill>
                  <a:srgbClr val="FFFFFF"/>
                </a:solidFill>
                <a:latin typeface="Courier New"/>
                <a:ea typeface="Courier New"/>
                <a:cs typeface="Courier New"/>
                <a:sym typeface="Courier New"/>
              </a:rPr>
              <a:t>*</a:t>
            </a:r>
            <a:endParaRPr b="0" i="0" sz="3400" u="none" cap="none" strike="noStrike">
              <a:solidFill>
                <a:schemeClr val="dk1"/>
              </a:solidFill>
              <a:latin typeface="Arial"/>
              <a:ea typeface="Arial"/>
              <a:cs typeface="Arial"/>
              <a:sym typeface="Arial"/>
            </a:endParaRPr>
          </a:p>
        </p:txBody>
      </p:sp>
      <p:sp>
        <p:nvSpPr>
          <p:cNvPr id="158" name="Google Shape;158;p9"/>
          <p:cNvSpPr txBox="1"/>
          <p:nvPr/>
        </p:nvSpPr>
        <p:spPr>
          <a:xfrm>
            <a:off x="3191256" y="2752344"/>
            <a:ext cx="16916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0" i="0" lang="en-US" sz="1500" u="none" cap="none" strike="noStrike">
                <a:solidFill>
                  <a:srgbClr val="FFFFFF"/>
                </a:solidFill>
                <a:latin typeface="Arial"/>
                <a:ea typeface="Arial"/>
                <a:cs typeface="Arial"/>
                <a:sym typeface="Arial"/>
              </a:rPr>
              <a:t>jam</a:t>
            </a:r>
            <a:endParaRPr b="0" i="0" sz="1500" u="none" cap="none" strike="noStrike">
              <a:solidFill>
                <a:schemeClr val="dk1"/>
              </a:solidFill>
              <a:latin typeface="Arial"/>
              <a:ea typeface="Arial"/>
              <a:cs typeface="Arial"/>
              <a:sym typeface="Arial"/>
            </a:endParaRPr>
          </a:p>
        </p:txBody>
      </p:sp>
      <p:sp>
        <p:nvSpPr>
          <p:cNvPr id="159" name="Google Shape;159;p9"/>
          <p:cNvSpPr/>
          <p:nvPr/>
        </p:nvSpPr>
        <p:spPr>
          <a:xfrm>
            <a:off x="5385816" y="1837944"/>
            <a:ext cx="1965960" cy="1325880"/>
          </a:xfrm>
          <a:prstGeom prst="roundRect">
            <a:avLst>
              <a:gd fmla="val 6897" name="adj"/>
            </a:avLst>
          </a:prstGeom>
          <a:solidFill>
            <a:srgbClr val="183043"/>
          </a:solidFill>
          <a:ln cap="flat" cmpd="sng" w="12700">
            <a:solidFill>
              <a:srgbClr val="1830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txBox="1"/>
          <p:nvPr/>
        </p:nvSpPr>
        <p:spPr>
          <a:xfrm>
            <a:off x="5522976" y="2039112"/>
            <a:ext cx="169164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Courier New"/>
              <a:buNone/>
            </a:pPr>
            <a:r>
              <a:rPr b="1" i="0" lang="en-US" sz="3400" u="none" cap="none" strike="noStrike">
                <a:solidFill>
                  <a:srgbClr val="FFFFFF"/>
                </a:solidFill>
                <a:latin typeface="Courier New"/>
                <a:ea typeface="Courier New"/>
                <a:cs typeface="Courier New"/>
                <a:sym typeface="Courier New"/>
              </a:rPr>
              <a:t>*</a:t>
            </a:r>
            <a:endParaRPr b="0" i="0" sz="3400" u="none" cap="none" strike="noStrike">
              <a:solidFill>
                <a:schemeClr val="dk1"/>
              </a:solidFill>
              <a:latin typeface="Arial"/>
              <a:ea typeface="Arial"/>
              <a:cs typeface="Arial"/>
              <a:sym typeface="Arial"/>
            </a:endParaRPr>
          </a:p>
        </p:txBody>
      </p:sp>
      <p:sp>
        <p:nvSpPr>
          <p:cNvPr id="161" name="Google Shape;161;p9"/>
          <p:cNvSpPr txBox="1"/>
          <p:nvPr/>
        </p:nvSpPr>
        <p:spPr>
          <a:xfrm>
            <a:off x="5522976" y="2752344"/>
            <a:ext cx="16916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0" i="0" lang="en-US" sz="1500" u="none" cap="none" strike="noStrike">
                <a:solidFill>
                  <a:srgbClr val="FFFFFF"/>
                </a:solidFill>
                <a:latin typeface="Arial"/>
                <a:ea typeface="Arial"/>
                <a:cs typeface="Arial"/>
                <a:sym typeface="Arial"/>
              </a:rPr>
              <a:t>tanggal</a:t>
            </a:r>
            <a:endParaRPr b="0" i="0" sz="1500" u="none" cap="none" strike="noStrike">
              <a:solidFill>
                <a:schemeClr val="dk1"/>
              </a:solidFill>
              <a:latin typeface="Arial"/>
              <a:ea typeface="Arial"/>
              <a:cs typeface="Arial"/>
              <a:sym typeface="Arial"/>
            </a:endParaRPr>
          </a:p>
        </p:txBody>
      </p:sp>
      <p:sp>
        <p:nvSpPr>
          <p:cNvPr id="162" name="Google Shape;162;p9"/>
          <p:cNvSpPr/>
          <p:nvPr/>
        </p:nvSpPr>
        <p:spPr>
          <a:xfrm>
            <a:off x="7717536" y="1837944"/>
            <a:ext cx="1965960" cy="1325880"/>
          </a:xfrm>
          <a:prstGeom prst="roundRect">
            <a:avLst>
              <a:gd fmla="val 6897" name="adj"/>
            </a:avLst>
          </a:prstGeom>
          <a:solidFill>
            <a:srgbClr val="183043"/>
          </a:solidFill>
          <a:ln cap="flat" cmpd="sng" w="12700">
            <a:solidFill>
              <a:srgbClr val="1830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txBox="1"/>
          <p:nvPr/>
        </p:nvSpPr>
        <p:spPr>
          <a:xfrm>
            <a:off x="7854696" y="2039112"/>
            <a:ext cx="169164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Courier New"/>
              <a:buNone/>
            </a:pPr>
            <a:r>
              <a:rPr b="1" i="0" lang="en-US" sz="3400" u="none" cap="none" strike="noStrike">
                <a:solidFill>
                  <a:srgbClr val="FFFFFF"/>
                </a:solidFill>
                <a:latin typeface="Courier New"/>
                <a:ea typeface="Courier New"/>
                <a:cs typeface="Courier New"/>
                <a:sym typeface="Courier New"/>
              </a:rPr>
              <a:t>*</a:t>
            </a:r>
            <a:endParaRPr b="0" i="0" sz="3400" u="none" cap="none" strike="noStrike">
              <a:solidFill>
                <a:schemeClr val="dk1"/>
              </a:solidFill>
              <a:latin typeface="Arial"/>
              <a:ea typeface="Arial"/>
              <a:cs typeface="Arial"/>
              <a:sym typeface="Arial"/>
            </a:endParaRPr>
          </a:p>
        </p:txBody>
      </p:sp>
      <p:sp>
        <p:nvSpPr>
          <p:cNvPr id="164" name="Google Shape;164;p9"/>
          <p:cNvSpPr txBox="1"/>
          <p:nvPr/>
        </p:nvSpPr>
        <p:spPr>
          <a:xfrm>
            <a:off x="7854696" y="2752344"/>
            <a:ext cx="16916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0" i="0" lang="en-US" sz="1500" u="none" cap="none" strike="noStrike">
                <a:solidFill>
                  <a:srgbClr val="FFFFFF"/>
                </a:solidFill>
                <a:latin typeface="Arial"/>
                <a:ea typeface="Arial"/>
                <a:cs typeface="Arial"/>
                <a:sym typeface="Arial"/>
              </a:rPr>
              <a:t>bulan</a:t>
            </a:r>
            <a:endParaRPr b="0" i="0" sz="1500" u="none" cap="none" strike="noStrike">
              <a:solidFill>
                <a:schemeClr val="dk1"/>
              </a:solidFill>
              <a:latin typeface="Arial"/>
              <a:ea typeface="Arial"/>
              <a:cs typeface="Arial"/>
              <a:sym typeface="Arial"/>
            </a:endParaRPr>
          </a:p>
        </p:txBody>
      </p:sp>
      <p:sp>
        <p:nvSpPr>
          <p:cNvPr id="165" name="Google Shape;165;p9"/>
          <p:cNvSpPr/>
          <p:nvPr/>
        </p:nvSpPr>
        <p:spPr>
          <a:xfrm>
            <a:off x="10049256" y="1837944"/>
            <a:ext cx="1965960" cy="1325880"/>
          </a:xfrm>
          <a:prstGeom prst="roundRect">
            <a:avLst>
              <a:gd fmla="val 6897" name="adj"/>
            </a:avLst>
          </a:prstGeom>
          <a:solidFill>
            <a:srgbClr val="183043"/>
          </a:solidFill>
          <a:ln cap="flat" cmpd="sng" w="12700">
            <a:solidFill>
              <a:srgbClr val="1830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txBox="1"/>
          <p:nvPr/>
        </p:nvSpPr>
        <p:spPr>
          <a:xfrm>
            <a:off x="10186416" y="2039112"/>
            <a:ext cx="169164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400"/>
              <a:buFont typeface="Courier New"/>
              <a:buNone/>
            </a:pPr>
            <a:r>
              <a:rPr b="1" i="0" lang="en-US" sz="3400" u="none" cap="none" strike="noStrike">
                <a:solidFill>
                  <a:srgbClr val="FFFFFF"/>
                </a:solidFill>
                <a:latin typeface="Courier New"/>
                <a:ea typeface="Courier New"/>
                <a:cs typeface="Courier New"/>
                <a:sym typeface="Courier New"/>
              </a:rPr>
              <a:t>*</a:t>
            </a:r>
            <a:endParaRPr b="0" i="0" sz="3400" u="none" cap="none" strike="noStrike">
              <a:solidFill>
                <a:schemeClr val="dk1"/>
              </a:solidFill>
              <a:latin typeface="Arial"/>
              <a:ea typeface="Arial"/>
              <a:cs typeface="Arial"/>
              <a:sym typeface="Arial"/>
            </a:endParaRPr>
          </a:p>
        </p:txBody>
      </p:sp>
      <p:sp>
        <p:nvSpPr>
          <p:cNvPr id="167" name="Google Shape;167;p9"/>
          <p:cNvSpPr txBox="1"/>
          <p:nvPr/>
        </p:nvSpPr>
        <p:spPr>
          <a:xfrm>
            <a:off x="10186416" y="2752344"/>
            <a:ext cx="16916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Arial"/>
              <a:buNone/>
            </a:pPr>
            <a:r>
              <a:rPr b="0" i="0" lang="en-US" sz="1500" u="none" cap="none" strike="noStrike">
                <a:solidFill>
                  <a:srgbClr val="FFFFFF"/>
                </a:solidFill>
                <a:latin typeface="Arial"/>
                <a:ea typeface="Arial"/>
                <a:cs typeface="Arial"/>
                <a:sym typeface="Arial"/>
              </a:rPr>
              <a:t>hari</a:t>
            </a:r>
            <a:endParaRPr b="0" i="0" sz="1500" u="none" cap="none" strike="noStrike">
              <a:solidFill>
                <a:schemeClr val="dk1"/>
              </a:solidFill>
              <a:latin typeface="Arial"/>
              <a:ea typeface="Arial"/>
              <a:cs typeface="Arial"/>
              <a:sym typeface="Arial"/>
            </a:endParaRPr>
          </a:p>
        </p:txBody>
      </p:sp>
      <p:sp>
        <p:nvSpPr>
          <p:cNvPr id="168" name="Google Shape;168;p9"/>
          <p:cNvSpPr txBox="1"/>
          <p:nvPr/>
        </p:nvSpPr>
        <p:spPr>
          <a:xfrm>
            <a:off x="777240" y="3895344"/>
            <a:ext cx="416052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A4"/>
              </a:buClr>
              <a:buSzPts val="2700"/>
              <a:buFont typeface="Courier New"/>
              <a:buNone/>
            </a:pPr>
            <a:r>
              <a:rPr b="1" i="0" lang="en-US" sz="2700" u="none" cap="none" strike="noStrike">
                <a:solidFill>
                  <a:srgbClr val="00A7A4"/>
                </a:solidFill>
                <a:latin typeface="Courier New"/>
                <a:ea typeface="Courier New"/>
                <a:cs typeface="Courier New"/>
                <a:sym typeface="Courier New"/>
              </a:rPr>
              <a:t>*/5 * * * *</a:t>
            </a:r>
            <a:endParaRPr b="0" i="0" sz="2700" u="none" cap="none" strike="noStrike">
              <a:solidFill>
                <a:schemeClr val="dk1"/>
              </a:solidFill>
              <a:latin typeface="Arial"/>
              <a:ea typeface="Arial"/>
              <a:cs typeface="Arial"/>
              <a:sym typeface="Arial"/>
            </a:endParaRPr>
          </a:p>
        </p:txBody>
      </p:sp>
      <p:sp>
        <p:nvSpPr>
          <p:cNvPr id="169" name="Google Shape;169;p9"/>
          <p:cNvSpPr txBox="1"/>
          <p:nvPr/>
        </p:nvSpPr>
        <p:spPr>
          <a:xfrm>
            <a:off x="4572000" y="3904488"/>
            <a:ext cx="27432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2200"/>
              <a:buFont typeface="Arial"/>
              <a:buNone/>
            </a:pPr>
            <a:r>
              <a:rPr b="0" i="0" lang="en-US" sz="2200" u="none" cap="none" strike="noStrike">
                <a:solidFill>
                  <a:srgbClr val="102333"/>
                </a:solidFill>
                <a:latin typeface="Arial"/>
                <a:ea typeface="Arial"/>
                <a:cs typeface="Arial"/>
                <a:sym typeface="Arial"/>
              </a:rPr>
              <a:t>setiap 5 menit</a:t>
            </a:r>
            <a:endParaRPr b="0" i="0" sz="2200" u="none" cap="none" strike="noStrike">
              <a:solidFill>
                <a:schemeClr val="dk1"/>
              </a:solidFill>
              <a:latin typeface="Arial"/>
              <a:ea typeface="Arial"/>
              <a:cs typeface="Arial"/>
              <a:sym typeface="Arial"/>
            </a:endParaRPr>
          </a:p>
        </p:txBody>
      </p:sp>
      <p:sp>
        <p:nvSpPr>
          <p:cNvPr id="170" name="Google Shape;170;p9"/>
          <p:cNvSpPr txBox="1"/>
          <p:nvPr/>
        </p:nvSpPr>
        <p:spPr>
          <a:xfrm>
            <a:off x="777240" y="4645152"/>
            <a:ext cx="416052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A6"/>
              </a:buClr>
              <a:buSzPts val="2700"/>
              <a:buFont typeface="Courier New"/>
              <a:buNone/>
            </a:pPr>
            <a:r>
              <a:rPr b="1" i="0" lang="en-US" sz="2700" u="none" cap="none" strike="noStrike">
                <a:solidFill>
                  <a:srgbClr val="2563A6"/>
                </a:solidFill>
                <a:latin typeface="Courier New"/>
                <a:ea typeface="Courier New"/>
                <a:cs typeface="Courier New"/>
                <a:sym typeface="Courier New"/>
              </a:rPr>
              <a:t>*/15 * * * *</a:t>
            </a:r>
            <a:endParaRPr b="0" i="0" sz="2700" u="none" cap="none" strike="noStrike">
              <a:solidFill>
                <a:schemeClr val="dk1"/>
              </a:solidFill>
              <a:latin typeface="Arial"/>
              <a:ea typeface="Arial"/>
              <a:cs typeface="Arial"/>
              <a:sym typeface="Arial"/>
            </a:endParaRPr>
          </a:p>
        </p:txBody>
      </p:sp>
      <p:sp>
        <p:nvSpPr>
          <p:cNvPr id="171" name="Google Shape;171;p9"/>
          <p:cNvSpPr txBox="1"/>
          <p:nvPr/>
        </p:nvSpPr>
        <p:spPr>
          <a:xfrm>
            <a:off x="4572000" y="4663440"/>
            <a:ext cx="3200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2200"/>
              <a:buFont typeface="Arial"/>
              <a:buNone/>
            </a:pPr>
            <a:r>
              <a:rPr b="0" i="0" lang="en-US" sz="2200" u="none" cap="none" strike="noStrike">
                <a:solidFill>
                  <a:srgbClr val="102333"/>
                </a:solidFill>
                <a:latin typeface="Arial"/>
                <a:ea typeface="Arial"/>
                <a:cs typeface="Arial"/>
                <a:sym typeface="Arial"/>
              </a:rPr>
              <a:t>setiap 15 menit</a:t>
            </a:r>
            <a:endParaRPr b="0" i="0" sz="2200" u="none" cap="none" strike="noStrike">
              <a:solidFill>
                <a:schemeClr val="dk1"/>
              </a:solidFill>
              <a:latin typeface="Arial"/>
              <a:ea typeface="Arial"/>
              <a:cs typeface="Arial"/>
              <a:sym typeface="Arial"/>
            </a:endParaRPr>
          </a:p>
        </p:txBody>
      </p:sp>
      <p:sp>
        <p:nvSpPr>
          <p:cNvPr id="172" name="Google Shape;172;p9"/>
          <p:cNvSpPr/>
          <p:nvPr/>
        </p:nvSpPr>
        <p:spPr>
          <a:xfrm>
            <a:off x="7927848" y="4773168"/>
            <a:ext cx="3145536" cy="338328"/>
          </a:xfrm>
          <a:prstGeom prst="roundRect">
            <a:avLst>
              <a:gd fmla="val 40541" name="adj"/>
            </a:avLst>
          </a:prstGeom>
          <a:solidFill>
            <a:srgbClr val="FFF2DB"/>
          </a:solidFill>
          <a:ln cap="flat" cmpd="sng" w="12700">
            <a:solidFill>
              <a:srgbClr val="FFF2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
          <p:cNvSpPr txBox="1"/>
          <p:nvPr/>
        </p:nvSpPr>
        <p:spPr>
          <a:xfrm>
            <a:off x="8019288" y="4823460"/>
            <a:ext cx="29626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66405"/>
              </a:buClr>
              <a:buSzPts val="1300"/>
              <a:buFont typeface="Arial"/>
              <a:buNone/>
            </a:pPr>
            <a:r>
              <a:rPr b="1" i="0" lang="en-US" sz="1300" u="none" cap="none" strike="noStrike">
                <a:solidFill>
                  <a:srgbClr val="B66405"/>
                </a:solidFill>
                <a:latin typeface="Arial"/>
                <a:ea typeface="Arial"/>
                <a:cs typeface="Arial"/>
                <a:sym typeface="Arial"/>
              </a:rPr>
              <a:t>timezone: Asia/Jakarta</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0"/>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Jadwal pada kode latihan</a:t>
            </a:r>
            <a:endParaRPr b="0" i="0" sz="3000" u="none" cap="none" strike="noStrike">
              <a:solidFill>
                <a:schemeClr val="dk1"/>
              </a:solidFill>
              <a:latin typeface="Arial"/>
              <a:ea typeface="Arial"/>
              <a:cs typeface="Arial"/>
              <a:sym typeface="Arial"/>
            </a:endParaRPr>
          </a:p>
        </p:txBody>
      </p:sp>
      <p:sp>
        <p:nvSpPr>
          <p:cNvPr id="180" name="Google Shape;180;p10"/>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Bandingkan interval nyata pada kode, lalu periksa timezone tiap deployment.</a:t>
            </a:r>
            <a:endParaRPr b="0" i="0" sz="1500" u="none" cap="none" strike="noStrike">
              <a:solidFill>
                <a:schemeClr val="dk1"/>
              </a:solidFill>
              <a:latin typeface="Arial"/>
              <a:ea typeface="Arial"/>
              <a:cs typeface="Arial"/>
              <a:sym typeface="Arial"/>
            </a:endParaRPr>
          </a:p>
        </p:txBody>
      </p:sp>
      <p:sp>
        <p:nvSpPr>
          <p:cNvPr id="181" name="Google Shape;181;p10"/>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182" name="Google Shape;182;p10"/>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07</a:t>
            </a:r>
            <a:endParaRPr b="0" i="0" sz="1000" u="none" cap="none" strike="noStrike">
              <a:solidFill>
                <a:schemeClr val="dk1"/>
              </a:solidFill>
              <a:latin typeface="Arial"/>
              <a:ea typeface="Arial"/>
              <a:cs typeface="Arial"/>
              <a:sym typeface="Arial"/>
            </a:endParaRPr>
          </a:p>
        </p:txBody>
      </p:sp>
      <p:sp>
        <p:nvSpPr>
          <p:cNvPr id="183" name="Google Shape;183;p10"/>
          <p:cNvSpPr/>
          <p:nvPr/>
        </p:nvSpPr>
        <p:spPr>
          <a:xfrm>
            <a:off x="667512" y="1609344"/>
            <a:ext cx="10863072" cy="978408"/>
          </a:xfrm>
          <a:prstGeom prst="roundRect">
            <a:avLst>
              <a:gd fmla="val 9346" name="adj"/>
            </a:avLst>
          </a:prstGeom>
          <a:solidFill>
            <a:srgbClr val="DDF5F3"/>
          </a:solidFill>
          <a:ln cap="flat" cmpd="sng" w="12700">
            <a:solidFill>
              <a:srgbClr val="DDF5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
          <p:cNvSpPr txBox="1"/>
          <p:nvPr/>
        </p:nvSpPr>
        <p:spPr>
          <a:xfrm>
            <a:off x="932688" y="1783080"/>
            <a:ext cx="2057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A4"/>
              </a:buClr>
              <a:buSzPts val="2100"/>
              <a:buFont typeface="Arial"/>
              <a:buNone/>
            </a:pPr>
            <a:r>
              <a:rPr b="1" i="0" lang="en-US" sz="2100" u="none" cap="none" strike="noStrike">
                <a:solidFill>
                  <a:srgbClr val="00A7A4"/>
                </a:solidFill>
                <a:latin typeface="Arial"/>
                <a:ea typeface="Arial"/>
                <a:cs typeface="Arial"/>
                <a:sym typeface="Arial"/>
              </a:rPr>
              <a:t>Dagster</a:t>
            </a:r>
            <a:endParaRPr b="0" i="0" sz="2100" u="none" cap="none" strike="noStrike">
              <a:solidFill>
                <a:schemeClr val="dk1"/>
              </a:solidFill>
              <a:latin typeface="Arial"/>
              <a:ea typeface="Arial"/>
              <a:cs typeface="Arial"/>
              <a:sym typeface="Arial"/>
            </a:endParaRPr>
          </a:p>
        </p:txBody>
      </p:sp>
      <p:sp>
        <p:nvSpPr>
          <p:cNvPr id="185" name="Google Shape;185;p10"/>
          <p:cNvSpPr txBox="1"/>
          <p:nvPr/>
        </p:nvSpPr>
        <p:spPr>
          <a:xfrm>
            <a:off x="2816352" y="1828800"/>
            <a:ext cx="3200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00"/>
              <a:buFont typeface="Courier New"/>
              <a:buNone/>
            </a:pPr>
            <a:r>
              <a:rPr b="0" i="0" lang="en-US" sz="1400" u="none" cap="none" strike="noStrike">
                <a:solidFill>
                  <a:srgbClr val="102333"/>
                </a:solidFill>
                <a:latin typeface="Courier New"/>
                <a:ea typeface="Courier New"/>
                <a:cs typeface="Courier New"/>
                <a:sym typeface="Courier New"/>
              </a:rPr>
              <a:t>dagster_pipeline.py</a:t>
            </a:r>
            <a:endParaRPr b="0" i="0" sz="1400" u="none" cap="none" strike="noStrike">
              <a:solidFill>
                <a:schemeClr val="dk1"/>
              </a:solidFill>
              <a:latin typeface="Arial"/>
              <a:ea typeface="Arial"/>
              <a:cs typeface="Arial"/>
              <a:sym typeface="Arial"/>
            </a:endParaRPr>
          </a:p>
        </p:txBody>
      </p:sp>
      <p:sp>
        <p:nvSpPr>
          <p:cNvPr id="186" name="Google Shape;186;p10"/>
          <p:cNvSpPr txBox="1"/>
          <p:nvPr/>
        </p:nvSpPr>
        <p:spPr>
          <a:xfrm>
            <a:off x="6190488" y="1792224"/>
            <a:ext cx="23591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1900"/>
              <a:buFont typeface="Courier New"/>
              <a:buNone/>
            </a:pPr>
            <a:r>
              <a:rPr b="1" i="0" lang="en-US" sz="1900" u="none" cap="none" strike="noStrike">
                <a:solidFill>
                  <a:srgbClr val="0C1E2C"/>
                </a:solidFill>
                <a:latin typeface="Courier New"/>
                <a:ea typeface="Courier New"/>
                <a:cs typeface="Courier New"/>
                <a:sym typeface="Courier New"/>
              </a:rPr>
              <a:t>*/5 * * * *</a:t>
            </a:r>
            <a:endParaRPr b="0" i="0" sz="1900" u="none" cap="none" strike="noStrike">
              <a:solidFill>
                <a:schemeClr val="dk1"/>
              </a:solidFill>
              <a:latin typeface="Arial"/>
              <a:ea typeface="Arial"/>
              <a:cs typeface="Arial"/>
              <a:sym typeface="Arial"/>
            </a:endParaRPr>
          </a:p>
        </p:txBody>
      </p:sp>
      <p:sp>
        <p:nvSpPr>
          <p:cNvPr id="187" name="Google Shape;187;p10"/>
          <p:cNvSpPr txBox="1"/>
          <p:nvPr/>
        </p:nvSpPr>
        <p:spPr>
          <a:xfrm>
            <a:off x="8668512" y="1792224"/>
            <a:ext cx="2487168"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300"/>
              <a:buFont typeface="Arial"/>
              <a:buNone/>
            </a:pPr>
            <a:r>
              <a:rPr b="0" i="0" lang="en-US" sz="1300" u="none" cap="none" strike="noStrike">
                <a:solidFill>
                  <a:srgbClr val="526B79"/>
                </a:solidFill>
                <a:latin typeface="Arial"/>
                <a:ea typeface="Arial"/>
                <a:cs typeface="Arial"/>
                <a:sym typeface="Arial"/>
              </a:rPr>
              <a:t>Schedule pada asset job</a:t>
            </a:r>
            <a:endParaRPr b="0" i="0" sz="1300" u="none" cap="none" strike="noStrike">
              <a:solidFill>
                <a:schemeClr val="dk1"/>
              </a:solidFill>
              <a:latin typeface="Arial"/>
              <a:ea typeface="Arial"/>
              <a:cs typeface="Arial"/>
              <a:sym typeface="Arial"/>
            </a:endParaRPr>
          </a:p>
        </p:txBody>
      </p:sp>
      <p:sp>
        <p:nvSpPr>
          <p:cNvPr id="188" name="Google Shape;188;p10"/>
          <p:cNvSpPr/>
          <p:nvPr/>
        </p:nvSpPr>
        <p:spPr>
          <a:xfrm>
            <a:off x="667512" y="2834640"/>
            <a:ext cx="10863072" cy="978408"/>
          </a:xfrm>
          <a:prstGeom prst="roundRect">
            <a:avLst>
              <a:gd fmla="val 9346" name="adj"/>
            </a:avLst>
          </a:prstGeom>
          <a:solidFill>
            <a:srgbClr val="E7F1FA"/>
          </a:solidFill>
          <a:ln cap="flat" cmpd="sng" w="12700">
            <a:solidFill>
              <a:srgbClr val="E7F1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0"/>
          <p:cNvSpPr txBox="1"/>
          <p:nvPr/>
        </p:nvSpPr>
        <p:spPr>
          <a:xfrm>
            <a:off x="932688" y="3008376"/>
            <a:ext cx="2057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A6"/>
              </a:buClr>
              <a:buSzPts val="2100"/>
              <a:buFont typeface="Arial"/>
              <a:buNone/>
            </a:pPr>
            <a:r>
              <a:rPr b="1" i="0" lang="en-US" sz="2100" u="none" cap="none" strike="noStrike">
                <a:solidFill>
                  <a:srgbClr val="2563A6"/>
                </a:solidFill>
                <a:latin typeface="Arial"/>
                <a:ea typeface="Arial"/>
                <a:cs typeface="Arial"/>
                <a:sym typeface="Arial"/>
              </a:rPr>
              <a:t>Prefect</a:t>
            </a:r>
            <a:endParaRPr b="0" i="0" sz="2100" u="none" cap="none" strike="noStrike">
              <a:solidFill>
                <a:schemeClr val="dk1"/>
              </a:solidFill>
              <a:latin typeface="Arial"/>
              <a:ea typeface="Arial"/>
              <a:cs typeface="Arial"/>
              <a:sym typeface="Arial"/>
            </a:endParaRPr>
          </a:p>
        </p:txBody>
      </p:sp>
      <p:sp>
        <p:nvSpPr>
          <p:cNvPr id="190" name="Google Shape;190;p10"/>
          <p:cNvSpPr txBox="1"/>
          <p:nvPr/>
        </p:nvSpPr>
        <p:spPr>
          <a:xfrm>
            <a:off x="2816352" y="3054096"/>
            <a:ext cx="3200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00"/>
              <a:buFont typeface="Courier New"/>
              <a:buNone/>
            </a:pPr>
            <a:r>
              <a:rPr b="0" i="0" lang="en-US" sz="1400" u="none" cap="none" strike="noStrike">
                <a:solidFill>
                  <a:srgbClr val="102333"/>
                </a:solidFill>
                <a:latin typeface="Courier New"/>
                <a:ea typeface="Courier New"/>
                <a:cs typeface="Courier New"/>
                <a:sym typeface="Courier New"/>
              </a:rPr>
              <a:t>prefect_pipeline.py</a:t>
            </a:r>
            <a:endParaRPr b="0" i="0" sz="1400" u="none" cap="none" strike="noStrike">
              <a:solidFill>
                <a:schemeClr val="dk1"/>
              </a:solidFill>
              <a:latin typeface="Arial"/>
              <a:ea typeface="Arial"/>
              <a:cs typeface="Arial"/>
              <a:sym typeface="Arial"/>
            </a:endParaRPr>
          </a:p>
        </p:txBody>
      </p:sp>
      <p:sp>
        <p:nvSpPr>
          <p:cNvPr id="191" name="Google Shape;191;p10"/>
          <p:cNvSpPr txBox="1"/>
          <p:nvPr/>
        </p:nvSpPr>
        <p:spPr>
          <a:xfrm>
            <a:off x="6190488" y="3017520"/>
            <a:ext cx="23591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1900"/>
              <a:buFont typeface="Courier New"/>
              <a:buNone/>
            </a:pPr>
            <a:r>
              <a:rPr b="1" i="0" lang="en-US" sz="1900" u="none" cap="none" strike="noStrike">
                <a:solidFill>
                  <a:srgbClr val="0C1E2C"/>
                </a:solidFill>
                <a:latin typeface="Courier New"/>
                <a:ea typeface="Courier New"/>
                <a:cs typeface="Courier New"/>
                <a:sym typeface="Courier New"/>
              </a:rPr>
              <a:t>*/15 * * * *</a:t>
            </a:r>
            <a:endParaRPr b="0" i="0" sz="1900" u="none" cap="none" strike="noStrike">
              <a:solidFill>
                <a:schemeClr val="dk1"/>
              </a:solidFill>
              <a:latin typeface="Arial"/>
              <a:ea typeface="Arial"/>
              <a:cs typeface="Arial"/>
              <a:sym typeface="Arial"/>
            </a:endParaRPr>
          </a:p>
        </p:txBody>
      </p:sp>
      <p:sp>
        <p:nvSpPr>
          <p:cNvPr id="192" name="Google Shape;192;p10"/>
          <p:cNvSpPr txBox="1"/>
          <p:nvPr/>
        </p:nvSpPr>
        <p:spPr>
          <a:xfrm>
            <a:off x="8668512" y="3017520"/>
            <a:ext cx="2487168"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300"/>
              <a:buFont typeface="Arial"/>
              <a:buNone/>
            </a:pPr>
            <a:r>
              <a:rPr b="0" i="0" lang="en-US" sz="1300" u="none" cap="none" strike="noStrike">
                <a:solidFill>
                  <a:srgbClr val="526B79"/>
                </a:solidFill>
                <a:latin typeface="Arial"/>
                <a:ea typeface="Arial"/>
                <a:cs typeface="Arial"/>
                <a:sym typeface="Arial"/>
              </a:rPr>
              <a:t>Deployment melalui serve()</a:t>
            </a:r>
            <a:endParaRPr b="0" i="0" sz="1300" u="none" cap="none" strike="noStrike">
              <a:solidFill>
                <a:schemeClr val="dk1"/>
              </a:solidFill>
              <a:latin typeface="Arial"/>
              <a:ea typeface="Arial"/>
              <a:cs typeface="Arial"/>
              <a:sym typeface="Arial"/>
            </a:endParaRPr>
          </a:p>
        </p:txBody>
      </p:sp>
      <p:sp>
        <p:nvSpPr>
          <p:cNvPr id="193" name="Google Shape;193;p10"/>
          <p:cNvSpPr/>
          <p:nvPr/>
        </p:nvSpPr>
        <p:spPr>
          <a:xfrm>
            <a:off x="667512" y="4059936"/>
            <a:ext cx="10863072" cy="978408"/>
          </a:xfrm>
          <a:prstGeom prst="roundRect">
            <a:avLst>
              <a:gd fmla="val 9346" name="adj"/>
            </a:avLst>
          </a:prstGeom>
          <a:solidFill>
            <a:srgbClr val="FEE8E5"/>
          </a:solidFill>
          <a:ln cap="flat" cmpd="sng" w="12700">
            <a:solidFill>
              <a:srgbClr val="FEE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0"/>
          <p:cNvSpPr txBox="1"/>
          <p:nvPr/>
        </p:nvSpPr>
        <p:spPr>
          <a:xfrm>
            <a:off x="932688" y="4233672"/>
            <a:ext cx="2057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A6A60"/>
              </a:buClr>
              <a:buSzPts val="2100"/>
              <a:buFont typeface="Arial"/>
              <a:buNone/>
            </a:pPr>
            <a:r>
              <a:rPr b="1" i="0" lang="en-US" sz="2100" u="none" cap="none" strike="noStrike">
                <a:solidFill>
                  <a:srgbClr val="FA6A60"/>
                </a:solidFill>
                <a:latin typeface="Arial"/>
                <a:ea typeface="Arial"/>
                <a:cs typeface="Arial"/>
                <a:sym typeface="Arial"/>
              </a:rPr>
              <a:t>Kestra</a:t>
            </a:r>
            <a:endParaRPr b="0" i="0" sz="2100" u="none" cap="none" strike="noStrike">
              <a:solidFill>
                <a:schemeClr val="dk1"/>
              </a:solidFill>
              <a:latin typeface="Arial"/>
              <a:ea typeface="Arial"/>
              <a:cs typeface="Arial"/>
              <a:sym typeface="Arial"/>
            </a:endParaRPr>
          </a:p>
        </p:txBody>
      </p:sp>
      <p:sp>
        <p:nvSpPr>
          <p:cNvPr id="195" name="Google Shape;195;p10"/>
          <p:cNvSpPr txBox="1"/>
          <p:nvPr/>
        </p:nvSpPr>
        <p:spPr>
          <a:xfrm>
            <a:off x="2816352" y="4279392"/>
            <a:ext cx="3200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00"/>
              <a:buFont typeface="Courier New"/>
              <a:buNone/>
            </a:pPr>
            <a:r>
              <a:rPr b="0" i="0" lang="en-US" sz="1400" u="none" cap="none" strike="noStrike">
                <a:solidFill>
                  <a:srgbClr val="102333"/>
                </a:solidFill>
                <a:latin typeface="Courier New"/>
                <a:ea typeface="Courier New"/>
                <a:cs typeface="Courier New"/>
                <a:sym typeface="Courier New"/>
              </a:rPr>
              <a:t>flows/elt_pipeline.yml</a:t>
            </a:r>
            <a:endParaRPr b="0" i="0" sz="1400" u="none" cap="none" strike="noStrike">
              <a:solidFill>
                <a:schemeClr val="dk1"/>
              </a:solidFill>
              <a:latin typeface="Arial"/>
              <a:ea typeface="Arial"/>
              <a:cs typeface="Arial"/>
              <a:sym typeface="Arial"/>
            </a:endParaRPr>
          </a:p>
        </p:txBody>
      </p:sp>
      <p:sp>
        <p:nvSpPr>
          <p:cNvPr id="196" name="Google Shape;196;p10"/>
          <p:cNvSpPr txBox="1"/>
          <p:nvPr/>
        </p:nvSpPr>
        <p:spPr>
          <a:xfrm>
            <a:off x="6190488" y="4242816"/>
            <a:ext cx="235915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1900"/>
              <a:buFont typeface="Courier New"/>
              <a:buNone/>
            </a:pPr>
            <a:r>
              <a:rPr b="1" i="0" lang="en-US" sz="1900" u="none" cap="none" strike="noStrike">
                <a:solidFill>
                  <a:srgbClr val="0C1E2C"/>
                </a:solidFill>
                <a:latin typeface="Courier New"/>
                <a:ea typeface="Courier New"/>
                <a:cs typeface="Courier New"/>
                <a:sym typeface="Courier New"/>
              </a:rPr>
              <a:t>*/5 * * * *</a:t>
            </a:r>
            <a:endParaRPr b="0" i="0" sz="1900" u="none" cap="none" strike="noStrike">
              <a:solidFill>
                <a:schemeClr val="dk1"/>
              </a:solidFill>
              <a:latin typeface="Arial"/>
              <a:ea typeface="Arial"/>
              <a:cs typeface="Arial"/>
              <a:sym typeface="Arial"/>
            </a:endParaRPr>
          </a:p>
        </p:txBody>
      </p:sp>
      <p:sp>
        <p:nvSpPr>
          <p:cNvPr id="197" name="Google Shape;197;p10"/>
          <p:cNvSpPr txBox="1"/>
          <p:nvPr/>
        </p:nvSpPr>
        <p:spPr>
          <a:xfrm>
            <a:off x="8668512" y="4242816"/>
            <a:ext cx="2487168"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300"/>
              <a:buFont typeface="Arial"/>
              <a:buNone/>
            </a:pPr>
            <a:r>
              <a:rPr b="0" i="0" lang="en-US" sz="1300" u="none" cap="none" strike="noStrike">
                <a:solidFill>
                  <a:srgbClr val="526B79"/>
                </a:solidFill>
                <a:latin typeface="Arial"/>
                <a:ea typeface="Arial"/>
                <a:cs typeface="Arial"/>
                <a:sym typeface="Arial"/>
              </a:rPr>
              <a:t>Schedule trigger di YAML</a:t>
            </a:r>
            <a:endParaRPr b="0" i="0" sz="1300" u="none" cap="none" strike="noStrike">
              <a:solidFill>
                <a:schemeClr val="dk1"/>
              </a:solidFill>
              <a:latin typeface="Arial"/>
              <a:ea typeface="Arial"/>
              <a:cs typeface="Arial"/>
              <a:sym typeface="Arial"/>
            </a:endParaRPr>
          </a:p>
        </p:txBody>
      </p:sp>
      <p:sp>
        <p:nvSpPr>
          <p:cNvPr id="198" name="Google Shape;198;p10"/>
          <p:cNvSpPr txBox="1"/>
          <p:nvPr/>
        </p:nvSpPr>
        <p:spPr>
          <a:xfrm>
            <a:off x="786384" y="5696712"/>
            <a:ext cx="106527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Dagster dan Kestra menulis Asia/Jakarta pada definisi schedule; untuk Prefect, pastikan timezone deployment sesuai kebutuhan.</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 name="Shape 203"/>
        <p:cNvGrpSpPr/>
        <p:nvPr/>
      </p:nvGrpSpPr>
      <p:grpSpPr>
        <a:xfrm>
          <a:off x="0" y="0"/>
          <a:ext cx="0" cy="0"/>
          <a:chOff x="0" y="0"/>
          <a:chExt cx="0" cy="0"/>
        </a:xfrm>
      </p:grpSpPr>
      <p:sp>
        <p:nvSpPr>
          <p:cNvPr id="204" name="Google Shape;204;p11"/>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Satu pipeline, tiga cara mengorkestrasi</a:t>
            </a:r>
            <a:endParaRPr b="0" i="0" sz="3000" u="none" cap="none" strike="noStrike">
              <a:solidFill>
                <a:schemeClr val="dk1"/>
              </a:solidFill>
              <a:latin typeface="Arial"/>
              <a:ea typeface="Arial"/>
              <a:cs typeface="Arial"/>
              <a:sym typeface="Arial"/>
            </a:endParaRPr>
          </a:p>
        </p:txBody>
      </p:sp>
      <p:sp>
        <p:nvSpPr>
          <p:cNvPr id="205" name="Google Shape;205;p11"/>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Semua tool memanggil script Pertemuan 5 sehingga logika data tetap satu sumber.</a:t>
            </a:r>
            <a:endParaRPr b="0" i="0" sz="1500" u="none" cap="none" strike="noStrike">
              <a:solidFill>
                <a:schemeClr val="dk1"/>
              </a:solidFill>
              <a:latin typeface="Arial"/>
              <a:ea typeface="Arial"/>
              <a:cs typeface="Arial"/>
              <a:sym typeface="Arial"/>
            </a:endParaRPr>
          </a:p>
        </p:txBody>
      </p:sp>
      <p:sp>
        <p:nvSpPr>
          <p:cNvPr id="206" name="Google Shape;206;p11"/>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207" name="Google Shape;207;p11"/>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08</a:t>
            </a:r>
            <a:endParaRPr b="0" i="0" sz="1000" u="none" cap="none" strike="noStrike">
              <a:solidFill>
                <a:schemeClr val="dk1"/>
              </a:solidFill>
              <a:latin typeface="Arial"/>
              <a:ea typeface="Arial"/>
              <a:cs typeface="Arial"/>
              <a:sym typeface="Arial"/>
            </a:endParaRPr>
          </a:p>
        </p:txBody>
      </p:sp>
      <p:sp>
        <p:nvSpPr>
          <p:cNvPr id="208" name="Google Shape;208;p11"/>
          <p:cNvSpPr/>
          <p:nvPr/>
        </p:nvSpPr>
        <p:spPr>
          <a:xfrm>
            <a:off x="676656" y="1645920"/>
            <a:ext cx="3182112" cy="1078992"/>
          </a:xfrm>
          <a:prstGeom prst="roundRect">
            <a:avLst>
              <a:gd fmla="val 8475" name="adj"/>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1"/>
          <p:cNvSpPr txBox="1"/>
          <p:nvPr/>
        </p:nvSpPr>
        <p:spPr>
          <a:xfrm>
            <a:off x="822960" y="1828800"/>
            <a:ext cx="288950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Dagster</a:t>
            </a:r>
            <a:endParaRPr b="0" i="0" sz="2200" u="none" cap="none" strike="noStrike">
              <a:solidFill>
                <a:schemeClr val="dk1"/>
              </a:solidFill>
              <a:latin typeface="Arial"/>
              <a:ea typeface="Arial"/>
              <a:cs typeface="Arial"/>
              <a:sym typeface="Arial"/>
            </a:endParaRPr>
          </a:p>
        </p:txBody>
      </p:sp>
      <p:sp>
        <p:nvSpPr>
          <p:cNvPr id="210" name="Google Shape;210;p11"/>
          <p:cNvSpPr txBox="1"/>
          <p:nvPr/>
        </p:nvSpPr>
        <p:spPr>
          <a:xfrm>
            <a:off x="804672" y="2240280"/>
            <a:ext cx="2926080" cy="40233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asset + schedule</a:t>
            </a:r>
            <a:endParaRPr b="0" i="0" sz="1300" u="none" cap="none" strike="noStrike">
              <a:solidFill>
                <a:schemeClr val="dk1"/>
              </a:solidFill>
              <a:latin typeface="Arial"/>
              <a:ea typeface="Arial"/>
              <a:cs typeface="Arial"/>
              <a:sym typeface="Arial"/>
            </a:endParaRPr>
          </a:p>
        </p:txBody>
      </p:sp>
      <p:sp>
        <p:nvSpPr>
          <p:cNvPr id="211" name="Google Shape;211;p11"/>
          <p:cNvSpPr/>
          <p:nvPr/>
        </p:nvSpPr>
        <p:spPr>
          <a:xfrm>
            <a:off x="4498848" y="1645920"/>
            <a:ext cx="3182112" cy="1078992"/>
          </a:xfrm>
          <a:prstGeom prst="roundRect">
            <a:avLst>
              <a:gd fmla="val 8475" name="adj"/>
            </a:avLst>
          </a:prstGeom>
          <a:solidFill>
            <a:srgbClr val="2563A6"/>
          </a:solidFill>
          <a:ln cap="flat" cmpd="sng" w="12700">
            <a:solidFill>
              <a:srgbClr val="2563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txBox="1"/>
          <p:nvPr/>
        </p:nvSpPr>
        <p:spPr>
          <a:xfrm>
            <a:off x="4645152" y="1828800"/>
            <a:ext cx="288950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Prefect</a:t>
            </a:r>
            <a:endParaRPr b="0" i="0" sz="2200" u="none" cap="none" strike="noStrike">
              <a:solidFill>
                <a:schemeClr val="dk1"/>
              </a:solidFill>
              <a:latin typeface="Arial"/>
              <a:ea typeface="Arial"/>
              <a:cs typeface="Arial"/>
              <a:sym typeface="Arial"/>
            </a:endParaRPr>
          </a:p>
        </p:txBody>
      </p:sp>
      <p:sp>
        <p:nvSpPr>
          <p:cNvPr id="213" name="Google Shape;213;p11"/>
          <p:cNvSpPr txBox="1"/>
          <p:nvPr/>
        </p:nvSpPr>
        <p:spPr>
          <a:xfrm>
            <a:off x="4626864" y="2240280"/>
            <a:ext cx="2926080" cy="40233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flow + deployment</a:t>
            </a:r>
            <a:endParaRPr b="0" i="0" sz="1300" u="none" cap="none" strike="noStrike">
              <a:solidFill>
                <a:schemeClr val="dk1"/>
              </a:solidFill>
              <a:latin typeface="Arial"/>
              <a:ea typeface="Arial"/>
              <a:cs typeface="Arial"/>
              <a:sym typeface="Arial"/>
            </a:endParaRPr>
          </a:p>
        </p:txBody>
      </p:sp>
      <p:sp>
        <p:nvSpPr>
          <p:cNvPr id="214" name="Google Shape;214;p11"/>
          <p:cNvSpPr/>
          <p:nvPr/>
        </p:nvSpPr>
        <p:spPr>
          <a:xfrm>
            <a:off x="8321040" y="1645920"/>
            <a:ext cx="3182112" cy="1078992"/>
          </a:xfrm>
          <a:prstGeom prst="roundRect">
            <a:avLst>
              <a:gd fmla="val 8475" name="adj"/>
            </a:avLst>
          </a:prstGeom>
          <a:solidFill>
            <a:srgbClr val="FA6A60"/>
          </a:solidFill>
          <a:ln cap="flat" cmpd="sng" w="12700">
            <a:solidFill>
              <a:srgbClr val="FA6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
          <p:cNvSpPr txBox="1"/>
          <p:nvPr/>
        </p:nvSpPr>
        <p:spPr>
          <a:xfrm>
            <a:off x="8467344" y="1828800"/>
            <a:ext cx="288950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Kestra</a:t>
            </a:r>
            <a:endParaRPr b="0" i="0" sz="2200" u="none" cap="none" strike="noStrike">
              <a:solidFill>
                <a:schemeClr val="dk1"/>
              </a:solidFill>
              <a:latin typeface="Arial"/>
              <a:ea typeface="Arial"/>
              <a:cs typeface="Arial"/>
              <a:sym typeface="Arial"/>
            </a:endParaRPr>
          </a:p>
        </p:txBody>
      </p:sp>
      <p:sp>
        <p:nvSpPr>
          <p:cNvPr id="216" name="Google Shape;216;p11"/>
          <p:cNvSpPr txBox="1"/>
          <p:nvPr/>
        </p:nvSpPr>
        <p:spPr>
          <a:xfrm>
            <a:off x="8449056" y="2240280"/>
            <a:ext cx="2926080" cy="40233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YAML + trigger</a:t>
            </a:r>
            <a:endParaRPr b="0" i="0" sz="1300" u="none" cap="none" strike="noStrike">
              <a:solidFill>
                <a:schemeClr val="dk1"/>
              </a:solidFill>
              <a:latin typeface="Arial"/>
              <a:ea typeface="Arial"/>
              <a:cs typeface="Arial"/>
              <a:sym typeface="Arial"/>
            </a:endParaRPr>
          </a:p>
        </p:txBody>
      </p:sp>
      <p:cxnSp>
        <p:nvCxnSpPr>
          <p:cNvPr id="217" name="Google Shape;217;p11"/>
          <p:cNvCxnSpPr/>
          <p:nvPr/>
        </p:nvCxnSpPr>
        <p:spPr>
          <a:xfrm>
            <a:off x="2267712" y="2734056"/>
            <a:ext cx="0" cy="603504"/>
          </a:xfrm>
          <a:prstGeom prst="straightConnector1">
            <a:avLst/>
          </a:prstGeom>
          <a:noFill/>
          <a:ln cap="flat" cmpd="sng" w="25400">
            <a:solidFill>
              <a:srgbClr val="D8E3E9"/>
            </a:solidFill>
            <a:prstDash val="solid"/>
            <a:round/>
            <a:headEnd len="sm" w="sm" type="none"/>
            <a:tailEnd len="med" w="med" type="triangle"/>
          </a:ln>
        </p:spPr>
      </p:cxnSp>
      <p:cxnSp>
        <p:nvCxnSpPr>
          <p:cNvPr id="218" name="Google Shape;218;p11"/>
          <p:cNvCxnSpPr/>
          <p:nvPr/>
        </p:nvCxnSpPr>
        <p:spPr>
          <a:xfrm>
            <a:off x="6089904" y="2734056"/>
            <a:ext cx="0" cy="603504"/>
          </a:xfrm>
          <a:prstGeom prst="straightConnector1">
            <a:avLst/>
          </a:prstGeom>
          <a:noFill/>
          <a:ln cap="flat" cmpd="sng" w="25400">
            <a:solidFill>
              <a:srgbClr val="D8E3E9"/>
            </a:solidFill>
            <a:prstDash val="solid"/>
            <a:round/>
            <a:headEnd len="sm" w="sm" type="none"/>
            <a:tailEnd len="med" w="med" type="triangle"/>
          </a:ln>
        </p:spPr>
      </p:cxnSp>
      <p:cxnSp>
        <p:nvCxnSpPr>
          <p:cNvPr id="219" name="Google Shape;219;p11"/>
          <p:cNvCxnSpPr/>
          <p:nvPr/>
        </p:nvCxnSpPr>
        <p:spPr>
          <a:xfrm>
            <a:off x="9912096" y="2734056"/>
            <a:ext cx="0" cy="603504"/>
          </a:xfrm>
          <a:prstGeom prst="straightConnector1">
            <a:avLst/>
          </a:prstGeom>
          <a:noFill/>
          <a:ln cap="flat" cmpd="sng" w="25400">
            <a:solidFill>
              <a:srgbClr val="D8E3E9"/>
            </a:solidFill>
            <a:prstDash val="solid"/>
            <a:round/>
            <a:headEnd len="sm" w="sm" type="none"/>
            <a:tailEnd len="med" w="med" type="triangle"/>
          </a:ln>
        </p:spPr>
      </p:cxnSp>
      <p:sp>
        <p:nvSpPr>
          <p:cNvPr id="220" name="Google Shape;220;p11"/>
          <p:cNvSpPr/>
          <p:nvPr/>
        </p:nvSpPr>
        <p:spPr>
          <a:xfrm>
            <a:off x="2048256" y="3401568"/>
            <a:ext cx="8101584" cy="950976"/>
          </a:xfrm>
          <a:prstGeom prst="roundRect">
            <a:avLst>
              <a:gd fmla="val 9615" name="adj"/>
            </a:avLst>
          </a:prstGeom>
          <a:solidFill>
            <a:srgbClr val="0C1E2C"/>
          </a:solidFill>
          <a:ln cap="flat" cmpd="sng" w="12700">
            <a:solidFill>
              <a:srgbClr val="0C1E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txBox="1"/>
          <p:nvPr/>
        </p:nvSpPr>
        <p:spPr>
          <a:xfrm>
            <a:off x="2194560" y="3584448"/>
            <a:ext cx="780897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bash pertemuan-5/run_pipeline.sh</a:t>
            </a:r>
            <a:endParaRPr b="0" i="0" sz="2200" u="none" cap="none" strike="noStrike">
              <a:solidFill>
                <a:schemeClr val="dk1"/>
              </a:solidFill>
              <a:latin typeface="Arial"/>
              <a:ea typeface="Arial"/>
              <a:cs typeface="Arial"/>
              <a:sym typeface="Arial"/>
            </a:endParaRPr>
          </a:p>
        </p:txBody>
      </p:sp>
      <p:sp>
        <p:nvSpPr>
          <p:cNvPr id="222" name="Google Shape;222;p11"/>
          <p:cNvSpPr txBox="1"/>
          <p:nvPr/>
        </p:nvSpPr>
        <p:spPr>
          <a:xfrm>
            <a:off x="2176272" y="3995928"/>
            <a:ext cx="7845552"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Python load → dbt run/test → verify_pipeline.py</a:t>
            </a:r>
            <a:endParaRPr b="0" i="0" sz="1300" u="none" cap="none" strike="noStrike">
              <a:solidFill>
                <a:schemeClr val="dk1"/>
              </a:solidFill>
              <a:latin typeface="Arial"/>
              <a:ea typeface="Arial"/>
              <a:cs typeface="Arial"/>
              <a:sym typeface="Arial"/>
            </a:endParaRPr>
          </a:p>
        </p:txBody>
      </p:sp>
      <p:cxnSp>
        <p:nvCxnSpPr>
          <p:cNvPr id="223" name="Google Shape;223;p11"/>
          <p:cNvCxnSpPr/>
          <p:nvPr/>
        </p:nvCxnSpPr>
        <p:spPr>
          <a:xfrm>
            <a:off x="6099048" y="4361688"/>
            <a:ext cx="0" cy="384048"/>
          </a:xfrm>
          <a:prstGeom prst="straightConnector1">
            <a:avLst/>
          </a:prstGeom>
          <a:noFill/>
          <a:ln cap="flat" cmpd="sng" w="25400">
            <a:solidFill>
              <a:srgbClr val="D8E3E9"/>
            </a:solidFill>
            <a:prstDash val="solid"/>
            <a:round/>
            <a:headEnd len="sm" w="sm" type="none"/>
            <a:tailEnd len="med" w="med" type="triangle"/>
          </a:ln>
        </p:spPr>
      </p:cxnSp>
      <p:sp>
        <p:nvSpPr>
          <p:cNvPr id="224" name="Google Shape;224;p11"/>
          <p:cNvSpPr/>
          <p:nvPr/>
        </p:nvSpPr>
        <p:spPr>
          <a:xfrm>
            <a:off x="2048256" y="4828032"/>
            <a:ext cx="8101584" cy="713232"/>
          </a:xfrm>
          <a:prstGeom prst="roundRect">
            <a:avLst>
              <a:gd fmla="val 12821" name="adj"/>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txBox="1"/>
          <p:nvPr/>
        </p:nvSpPr>
        <p:spPr>
          <a:xfrm>
            <a:off x="2194560" y="5010912"/>
            <a:ext cx="780897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333"/>
              </a:buClr>
              <a:buSzPts val="1800"/>
              <a:buFont typeface="Arial"/>
              <a:buNone/>
            </a:pPr>
            <a:r>
              <a:rPr b="1" i="0" lang="en-US" sz="1800" u="none" cap="none" strike="noStrike">
                <a:solidFill>
                  <a:srgbClr val="102333"/>
                </a:solidFill>
                <a:latin typeface="Arial"/>
                <a:ea typeface="Arial"/>
                <a:cs typeface="Arial"/>
                <a:sym typeface="Arial"/>
              </a:rPr>
              <a:t>PostgreSQL  →  ClickHouse raw  →  datamart</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 name="Shape 230"/>
        <p:cNvGrpSpPr/>
        <p:nvPr/>
      </p:nvGrpSpPr>
      <p:grpSpPr>
        <a:xfrm>
          <a:off x="0" y="0"/>
          <a:ext cx="0" cy="0"/>
          <a:chOff x="0" y="0"/>
          <a:chExt cx="0" cy="0"/>
        </a:xfrm>
      </p:grpSpPr>
      <p:sp>
        <p:nvSpPr>
          <p:cNvPr id="231" name="Google Shape;231;p12"/>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Dagster: asset, job, schedule</a:t>
            </a:r>
            <a:endParaRPr b="0" i="0" sz="3000" u="none" cap="none" strike="noStrike">
              <a:solidFill>
                <a:schemeClr val="dk1"/>
              </a:solidFill>
              <a:latin typeface="Arial"/>
              <a:ea typeface="Arial"/>
              <a:cs typeface="Arial"/>
              <a:sym typeface="Arial"/>
            </a:endParaRPr>
          </a:p>
        </p:txBody>
      </p:sp>
      <p:sp>
        <p:nvSpPr>
          <p:cNvPr id="232" name="Google Shape;232;p12"/>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Dalam latihan ini, satu asset menjalankan pipeline Pertemuan 5.</a:t>
            </a:r>
            <a:endParaRPr b="0" i="0" sz="1500" u="none" cap="none" strike="noStrike">
              <a:solidFill>
                <a:schemeClr val="dk1"/>
              </a:solidFill>
              <a:latin typeface="Arial"/>
              <a:ea typeface="Arial"/>
              <a:cs typeface="Arial"/>
              <a:sym typeface="Arial"/>
            </a:endParaRPr>
          </a:p>
        </p:txBody>
      </p:sp>
      <p:sp>
        <p:nvSpPr>
          <p:cNvPr id="233" name="Google Shape;233;p12"/>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234" name="Google Shape;234;p12"/>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09</a:t>
            </a:r>
            <a:endParaRPr b="0" i="0" sz="1000" u="none" cap="none" strike="noStrike">
              <a:solidFill>
                <a:schemeClr val="dk1"/>
              </a:solidFill>
              <a:latin typeface="Arial"/>
              <a:ea typeface="Arial"/>
              <a:cs typeface="Arial"/>
              <a:sym typeface="Arial"/>
            </a:endParaRPr>
          </a:p>
        </p:txBody>
      </p:sp>
      <p:sp>
        <p:nvSpPr>
          <p:cNvPr id="235" name="Google Shape;235;p12"/>
          <p:cNvSpPr/>
          <p:nvPr/>
        </p:nvSpPr>
        <p:spPr>
          <a:xfrm>
            <a:off x="676656" y="1600200"/>
            <a:ext cx="3474720" cy="2331720"/>
          </a:xfrm>
          <a:prstGeom prst="roundRect">
            <a:avLst>
              <a:gd fmla="val 3922" name="adj"/>
            </a:avLst>
          </a:prstGeom>
          <a:solidFill>
            <a:srgbClr val="DDF5F3"/>
          </a:solidFill>
          <a:ln cap="flat" cmpd="sng" w="12700">
            <a:solidFill>
              <a:srgbClr val="DDF5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2"/>
          <p:cNvSpPr/>
          <p:nvPr/>
        </p:nvSpPr>
        <p:spPr>
          <a:xfrm>
            <a:off x="896112" y="1819656"/>
            <a:ext cx="347472" cy="347472"/>
          </a:xfrm>
          <a:prstGeom prst="ellipse">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2"/>
          <p:cNvSpPr txBox="1"/>
          <p:nvPr/>
        </p:nvSpPr>
        <p:spPr>
          <a:xfrm>
            <a:off x="1371600" y="1810512"/>
            <a:ext cx="254203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900"/>
              <a:buFont typeface="Arial"/>
              <a:buNone/>
            </a:pPr>
            <a:r>
              <a:rPr b="1" i="0" lang="en-US" sz="1900" u="none" cap="none" strike="noStrike">
                <a:solidFill>
                  <a:srgbClr val="102333"/>
                </a:solidFill>
                <a:latin typeface="Arial"/>
                <a:ea typeface="Arial"/>
                <a:cs typeface="Arial"/>
                <a:sym typeface="Arial"/>
              </a:rPr>
              <a:t>Asset: elt_pipeline</a:t>
            </a:r>
            <a:endParaRPr b="0" i="0" sz="1900" u="none" cap="none" strike="noStrike">
              <a:solidFill>
                <a:schemeClr val="dk1"/>
              </a:solidFill>
              <a:latin typeface="Arial"/>
              <a:ea typeface="Arial"/>
              <a:cs typeface="Arial"/>
              <a:sym typeface="Arial"/>
            </a:endParaRPr>
          </a:p>
        </p:txBody>
      </p:sp>
      <p:sp>
        <p:nvSpPr>
          <p:cNvPr id="238" name="Google Shape;238;p12"/>
          <p:cNvSpPr txBox="1"/>
          <p:nvPr/>
        </p:nvSpPr>
        <p:spPr>
          <a:xfrm>
            <a:off x="932688" y="2368296"/>
            <a:ext cx="2962656" cy="1399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600"/>
              <a:buFont typeface="Arial"/>
              <a:buNone/>
            </a:pPr>
            <a:r>
              <a:rPr b="0" i="0" lang="en-US" sz="1600" u="none" cap="none" strike="noStrike">
                <a:solidFill>
                  <a:srgbClr val="526B79"/>
                </a:solidFill>
                <a:latin typeface="Arial"/>
                <a:ea typeface="Arial"/>
                <a:cs typeface="Arial"/>
                <a:sym typeface="Arial"/>
              </a:rPr>
              <a:t>Function Python yang menjalankan run_pipeline.sh dan mencatat status/materialization.</a:t>
            </a:r>
            <a:endParaRPr b="0" i="0" sz="1600" u="none" cap="none" strike="noStrike">
              <a:solidFill>
                <a:schemeClr val="dk1"/>
              </a:solidFill>
              <a:latin typeface="Arial"/>
              <a:ea typeface="Arial"/>
              <a:cs typeface="Arial"/>
              <a:sym typeface="Arial"/>
            </a:endParaRPr>
          </a:p>
        </p:txBody>
      </p:sp>
      <p:sp>
        <p:nvSpPr>
          <p:cNvPr id="239" name="Google Shape;239;p12"/>
          <p:cNvSpPr/>
          <p:nvPr/>
        </p:nvSpPr>
        <p:spPr>
          <a:xfrm>
            <a:off x="4343400" y="1600200"/>
            <a:ext cx="3474720" cy="2331720"/>
          </a:xfrm>
          <a:prstGeom prst="roundRect">
            <a:avLst>
              <a:gd fmla="val 3922" name="adj"/>
            </a:avLst>
          </a:prstGeom>
          <a:solidFill>
            <a:srgbClr val="E7F1FA"/>
          </a:solidFill>
          <a:ln cap="flat" cmpd="sng" w="12700">
            <a:solidFill>
              <a:srgbClr val="E7F1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p:nvPr/>
        </p:nvSpPr>
        <p:spPr>
          <a:xfrm>
            <a:off x="4562856" y="1819656"/>
            <a:ext cx="347472" cy="347472"/>
          </a:xfrm>
          <a:prstGeom prst="ellipse">
            <a:avLst/>
          </a:prstGeom>
          <a:solidFill>
            <a:srgbClr val="2563A6"/>
          </a:solidFill>
          <a:ln cap="flat" cmpd="sng" w="12700">
            <a:solidFill>
              <a:srgbClr val="2563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2"/>
          <p:cNvSpPr txBox="1"/>
          <p:nvPr/>
        </p:nvSpPr>
        <p:spPr>
          <a:xfrm>
            <a:off x="5038344" y="1810512"/>
            <a:ext cx="254203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900"/>
              <a:buFont typeface="Arial"/>
              <a:buNone/>
            </a:pPr>
            <a:r>
              <a:rPr b="1" i="0" lang="en-US" sz="1900" u="none" cap="none" strike="noStrike">
                <a:solidFill>
                  <a:srgbClr val="102333"/>
                </a:solidFill>
                <a:latin typeface="Arial"/>
                <a:ea typeface="Arial"/>
                <a:cs typeface="Arial"/>
                <a:sym typeface="Arial"/>
              </a:rPr>
              <a:t>Job: elt_pipeline_job</a:t>
            </a:r>
            <a:endParaRPr b="0" i="0" sz="1900" u="none" cap="none" strike="noStrike">
              <a:solidFill>
                <a:schemeClr val="dk1"/>
              </a:solidFill>
              <a:latin typeface="Arial"/>
              <a:ea typeface="Arial"/>
              <a:cs typeface="Arial"/>
              <a:sym typeface="Arial"/>
            </a:endParaRPr>
          </a:p>
        </p:txBody>
      </p:sp>
      <p:sp>
        <p:nvSpPr>
          <p:cNvPr id="242" name="Google Shape;242;p12"/>
          <p:cNvSpPr txBox="1"/>
          <p:nvPr/>
        </p:nvSpPr>
        <p:spPr>
          <a:xfrm>
            <a:off x="4599432" y="2368296"/>
            <a:ext cx="2962656" cy="1399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600"/>
              <a:buFont typeface="Arial"/>
              <a:buNone/>
            </a:pPr>
            <a:r>
              <a:rPr b="0" i="0" lang="en-US" sz="1600" u="none" cap="none" strike="noStrike">
                <a:solidFill>
                  <a:srgbClr val="526B79"/>
                </a:solidFill>
                <a:latin typeface="Arial"/>
                <a:ea typeface="Arial"/>
                <a:cs typeface="Arial"/>
                <a:sym typeface="Arial"/>
              </a:rPr>
              <a:t>Memilih asset yang perlu dijalankan ketika ada manual run atau schedule.</a:t>
            </a:r>
            <a:endParaRPr b="0" i="0" sz="1600" u="none" cap="none" strike="noStrike">
              <a:solidFill>
                <a:schemeClr val="dk1"/>
              </a:solidFill>
              <a:latin typeface="Arial"/>
              <a:ea typeface="Arial"/>
              <a:cs typeface="Arial"/>
              <a:sym typeface="Arial"/>
            </a:endParaRPr>
          </a:p>
        </p:txBody>
      </p:sp>
      <p:sp>
        <p:nvSpPr>
          <p:cNvPr id="243" name="Google Shape;243;p12"/>
          <p:cNvSpPr/>
          <p:nvPr/>
        </p:nvSpPr>
        <p:spPr>
          <a:xfrm>
            <a:off x="8010144" y="1600200"/>
            <a:ext cx="3474720" cy="2331720"/>
          </a:xfrm>
          <a:prstGeom prst="roundRect">
            <a:avLst>
              <a:gd fmla="val 3922" name="adj"/>
            </a:avLst>
          </a:prstGeom>
          <a:solidFill>
            <a:srgbClr val="FEE8E5"/>
          </a:solidFill>
          <a:ln cap="flat" cmpd="sng" w="12700">
            <a:solidFill>
              <a:srgbClr val="FEE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2"/>
          <p:cNvSpPr/>
          <p:nvPr/>
        </p:nvSpPr>
        <p:spPr>
          <a:xfrm>
            <a:off x="8229600" y="1819656"/>
            <a:ext cx="347472" cy="347472"/>
          </a:xfrm>
          <a:prstGeom prst="ellipse">
            <a:avLst/>
          </a:prstGeom>
          <a:solidFill>
            <a:srgbClr val="FA6A60"/>
          </a:solidFill>
          <a:ln cap="flat" cmpd="sng" w="12700">
            <a:solidFill>
              <a:srgbClr val="FA6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2"/>
          <p:cNvSpPr txBox="1"/>
          <p:nvPr/>
        </p:nvSpPr>
        <p:spPr>
          <a:xfrm>
            <a:off x="8705088" y="1810512"/>
            <a:ext cx="254203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900"/>
              <a:buFont typeface="Arial"/>
              <a:buNone/>
            </a:pPr>
            <a:r>
              <a:rPr b="1" i="0" lang="en-US" sz="1900" u="none" cap="none" strike="noStrike">
                <a:solidFill>
                  <a:srgbClr val="102333"/>
                </a:solidFill>
                <a:latin typeface="Arial"/>
                <a:ea typeface="Arial"/>
                <a:cs typeface="Arial"/>
                <a:sym typeface="Arial"/>
              </a:rPr>
              <a:t>Schedule</a:t>
            </a:r>
            <a:endParaRPr b="0" i="0" sz="1900" u="none" cap="none" strike="noStrike">
              <a:solidFill>
                <a:schemeClr val="dk1"/>
              </a:solidFill>
              <a:latin typeface="Arial"/>
              <a:ea typeface="Arial"/>
              <a:cs typeface="Arial"/>
              <a:sym typeface="Arial"/>
            </a:endParaRPr>
          </a:p>
        </p:txBody>
      </p:sp>
      <p:sp>
        <p:nvSpPr>
          <p:cNvPr id="246" name="Google Shape;246;p12"/>
          <p:cNvSpPr txBox="1"/>
          <p:nvPr/>
        </p:nvSpPr>
        <p:spPr>
          <a:xfrm>
            <a:off x="8266176" y="2368296"/>
            <a:ext cx="2962656" cy="1399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600"/>
              <a:buFont typeface="Arial"/>
              <a:buNone/>
            </a:pPr>
            <a:r>
              <a:rPr b="0" i="0" lang="en-US" sz="1600" u="none" cap="none" strike="noStrike">
                <a:solidFill>
                  <a:srgbClr val="526B79"/>
                </a:solidFill>
                <a:latin typeface="Arial"/>
                <a:ea typeface="Arial"/>
                <a:cs typeface="Arial"/>
                <a:sym typeface="Arial"/>
              </a:rPr>
              <a:t>Cron */5 * * * * membuat run berkala dengan timezone Asia/Jakarta.</a:t>
            </a:r>
            <a:endParaRPr b="0" i="0" sz="1600" u="none" cap="none" strike="noStrike">
              <a:solidFill>
                <a:schemeClr val="dk1"/>
              </a:solidFill>
              <a:latin typeface="Arial"/>
              <a:ea typeface="Arial"/>
              <a:cs typeface="Arial"/>
              <a:sym typeface="Arial"/>
            </a:endParaRPr>
          </a:p>
        </p:txBody>
      </p:sp>
      <p:sp>
        <p:nvSpPr>
          <p:cNvPr id="247" name="Google Shape;247;p12"/>
          <p:cNvSpPr/>
          <p:nvPr/>
        </p:nvSpPr>
        <p:spPr>
          <a:xfrm>
            <a:off x="941832" y="4590288"/>
            <a:ext cx="10314432" cy="832104"/>
          </a:xfrm>
          <a:prstGeom prst="roundRect">
            <a:avLst>
              <a:gd fmla="val 10989" name="adj"/>
            </a:avLst>
          </a:prstGeom>
          <a:solidFill>
            <a:srgbClr val="0C1E2C"/>
          </a:solidFill>
          <a:ln cap="flat" cmpd="sng" w="12700">
            <a:solidFill>
              <a:srgbClr val="0C1E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2"/>
          <p:cNvSpPr txBox="1"/>
          <p:nvPr/>
        </p:nvSpPr>
        <p:spPr>
          <a:xfrm>
            <a:off x="1188720" y="4873752"/>
            <a:ext cx="98298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ourier New"/>
              <a:buNone/>
            </a:pPr>
            <a:r>
              <a:rPr b="0" i="0" lang="en-US" sz="1700" u="none" cap="none" strike="noStrike">
                <a:solidFill>
                  <a:srgbClr val="FFFFFF"/>
                </a:solidFill>
                <a:latin typeface="Courier New"/>
                <a:ea typeface="Courier New"/>
                <a:cs typeface="Courier New"/>
                <a:sym typeface="Courier New"/>
              </a:rPr>
              <a:t>@schedule(cron_schedule="*/5 * * * *", execution_timezone="Asia/Jakarta")</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13"/>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Dagster: siapa melakukan apa?</a:t>
            </a:r>
            <a:endParaRPr b="0" i="0" sz="3000" u="none" cap="none" strike="noStrike">
              <a:solidFill>
                <a:schemeClr val="dk1"/>
              </a:solidFill>
              <a:latin typeface="Arial"/>
              <a:ea typeface="Arial"/>
              <a:cs typeface="Arial"/>
              <a:sym typeface="Arial"/>
            </a:endParaRPr>
          </a:p>
        </p:txBody>
      </p:sp>
      <p:sp>
        <p:nvSpPr>
          <p:cNvPr id="255" name="Google Shape;255;p13"/>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Webserver menampilkan UI, daemon mengevaluasi jadwal, dan asset menjalankan pipeline.</a:t>
            </a:r>
            <a:endParaRPr b="0" i="0" sz="1500" u="none" cap="none" strike="noStrike">
              <a:solidFill>
                <a:schemeClr val="dk1"/>
              </a:solidFill>
              <a:latin typeface="Arial"/>
              <a:ea typeface="Arial"/>
              <a:cs typeface="Arial"/>
              <a:sym typeface="Arial"/>
            </a:endParaRPr>
          </a:p>
        </p:txBody>
      </p:sp>
      <p:sp>
        <p:nvSpPr>
          <p:cNvPr id="256" name="Google Shape;256;p13"/>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257" name="Google Shape;257;p13"/>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10</a:t>
            </a:r>
            <a:endParaRPr b="0" i="0" sz="1000" u="none" cap="none" strike="noStrike">
              <a:solidFill>
                <a:schemeClr val="dk1"/>
              </a:solidFill>
              <a:latin typeface="Arial"/>
              <a:ea typeface="Arial"/>
              <a:cs typeface="Arial"/>
              <a:sym typeface="Arial"/>
            </a:endParaRPr>
          </a:p>
        </p:txBody>
      </p:sp>
      <p:sp>
        <p:nvSpPr>
          <p:cNvPr id="258" name="Google Shape;258;p13"/>
          <p:cNvSpPr/>
          <p:nvPr/>
        </p:nvSpPr>
        <p:spPr>
          <a:xfrm>
            <a:off x="832104" y="1856232"/>
            <a:ext cx="3090672" cy="1261872"/>
          </a:xfrm>
          <a:prstGeom prst="roundRect">
            <a:avLst>
              <a:gd fmla="val 7246" name="adj"/>
            </a:avLst>
          </a:prstGeom>
          <a:solidFill>
            <a:srgbClr val="0C1E2C"/>
          </a:solidFill>
          <a:ln cap="flat" cmpd="sng" w="12700">
            <a:solidFill>
              <a:srgbClr val="0C1E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
          <p:cNvSpPr txBox="1"/>
          <p:nvPr/>
        </p:nvSpPr>
        <p:spPr>
          <a:xfrm>
            <a:off x="978408" y="2039112"/>
            <a:ext cx="279806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dagster-webserver</a:t>
            </a:r>
            <a:endParaRPr b="0" i="0" sz="2100" u="none" cap="none" strike="noStrike">
              <a:solidFill>
                <a:schemeClr val="dk1"/>
              </a:solidFill>
              <a:latin typeface="Arial"/>
              <a:ea typeface="Arial"/>
              <a:cs typeface="Arial"/>
              <a:sym typeface="Arial"/>
            </a:endParaRPr>
          </a:p>
        </p:txBody>
      </p:sp>
      <p:sp>
        <p:nvSpPr>
          <p:cNvPr id="260" name="Google Shape;260;p13"/>
          <p:cNvSpPr txBox="1"/>
          <p:nvPr/>
        </p:nvSpPr>
        <p:spPr>
          <a:xfrm>
            <a:off x="960120" y="2450592"/>
            <a:ext cx="2834640" cy="58521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UI dan riwayat run</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localhost:3000</a:t>
            </a:r>
            <a:endParaRPr b="0" i="0" sz="1300" u="none" cap="none" strike="noStrike">
              <a:solidFill>
                <a:schemeClr val="dk1"/>
              </a:solidFill>
              <a:latin typeface="Arial"/>
              <a:ea typeface="Arial"/>
              <a:cs typeface="Arial"/>
              <a:sym typeface="Arial"/>
            </a:endParaRPr>
          </a:p>
        </p:txBody>
      </p:sp>
      <p:sp>
        <p:nvSpPr>
          <p:cNvPr id="261" name="Google Shape;261;p13"/>
          <p:cNvSpPr/>
          <p:nvPr/>
        </p:nvSpPr>
        <p:spPr>
          <a:xfrm>
            <a:off x="4608576" y="1856232"/>
            <a:ext cx="3090672" cy="1261872"/>
          </a:xfrm>
          <a:prstGeom prst="roundRect">
            <a:avLst>
              <a:gd fmla="val 7246" name="adj"/>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3"/>
          <p:cNvSpPr txBox="1"/>
          <p:nvPr/>
        </p:nvSpPr>
        <p:spPr>
          <a:xfrm>
            <a:off x="4754880" y="2039112"/>
            <a:ext cx="279806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dagster-daemon</a:t>
            </a:r>
            <a:endParaRPr b="0" i="0" sz="2100" u="none" cap="none" strike="noStrike">
              <a:solidFill>
                <a:schemeClr val="dk1"/>
              </a:solidFill>
              <a:latin typeface="Arial"/>
              <a:ea typeface="Arial"/>
              <a:cs typeface="Arial"/>
              <a:sym typeface="Arial"/>
            </a:endParaRPr>
          </a:p>
        </p:txBody>
      </p:sp>
      <p:sp>
        <p:nvSpPr>
          <p:cNvPr id="263" name="Google Shape;263;p13"/>
          <p:cNvSpPr txBox="1"/>
          <p:nvPr/>
        </p:nvSpPr>
        <p:spPr>
          <a:xfrm>
            <a:off x="4736592" y="2450592"/>
            <a:ext cx="2834640" cy="58521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Mengevaluasi schedule</a:t>
            </a:r>
            <a:endParaRPr b="0" i="0" sz="1300" u="none" cap="none" strike="noStrike">
              <a:solidFill>
                <a:schemeClr val="dk1"/>
              </a:solidFill>
              <a:latin typeface="Arial"/>
              <a:ea typeface="Arial"/>
              <a:cs typeface="Arial"/>
              <a:sym typeface="Arial"/>
            </a:endParaRPr>
          </a:p>
        </p:txBody>
      </p:sp>
      <p:sp>
        <p:nvSpPr>
          <p:cNvPr id="264" name="Google Shape;264;p13"/>
          <p:cNvSpPr/>
          <p:nvPr/>
        </p:nvSpPr>
        <p:spPr>
          <a:xfrm>
            <a:off x="8385048" y="1856232"/>
            <a:ext cx="3090672" cy="1261872"/>
          </a:xfrm>
          <a:prstGeom prst="roundRect">
            <a:avLst>
              <a:gd fmla="val 7246" name="adj"/>
            </a:avLst>
          </a:prstGeom>
          <a:solidFill>
            <a:srgbClr val="FA6A60"/>
          </a:solidFill>
          <a:ln cap="flat" cmpd="sng" w="12700">
            <a:solidFill>
              <a:srgbClr val="FA6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3"/>
          <p:cNvSpPr txBox="1"/>
          <p:nvPr/>
        </p:nvSpPr>
        <p:spPr>
          <a:xfrm>
            <a:off x="8531352" y="2039112"/>
            <a:ext cx="279806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elt_pipeline asset</a:t>
            </a:r>
            <a:endParaRPr b="0" i="0" sz="2100" u="none" cap="none" strike="noStrike">
              <a:solidFill>
                <a:schemeClr val="dk1"/>
              </a:solidFill>
              <a:latin typeface="Arial"/>
              <a:ea typeface="Arial"/>
              <a:cs typeface="Arial"/>
              <a:sym typeface="Arial"/>
            </a:endParaRPr>
          </a:p>
        </p:txBody>
      </p:sp>
      <p:sp>
        <p:nvSpPr>
          <p:cNvPr id="266" name="Google Shape;266;p13"/>
          <p:cNvSpPr txBox="1"/>
          <p:nvPr/>
        </p:nvSpPr>
        <p:spPr>
          <a:xfrm>
            <a:off x="8513064" y="2450592"/>
            <a:ext cx="2834640" cy="585216"/>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Memanggil script ELT</a:t>
            </a:r>
            <a:endParaRPr b="0" i="0" sz="1300" u="none" cap="none" strike="noStrike">
              <a:solidFill>
                <a:schemeClr val="dk1"/>
              </a:solidFill>
              <a:latin typeface="Arial"/>
              <a:ea typeface="Arial"/>
              <a:cs typeface="Arial"/>
              <a:sym typeface="Arial"/>
            </a:endParaRPr>
          </a:p>
        </p:txBody>
      </p:sp>
      <p:cxnSp>
        <p:nvCxnSpPr>
          <p:cNvPr id="267" name="Google Shape;267;p13"/>
          <p:cNvCxnSpPr/>
          <p:nvPr/>
        </p:nvCxnSpPr>
        <p:spPr>
          <a:xfrm>
            <a:off x="4014216" y="2468880"/>
            <a:ext cx="429768" cy="0"/>
          </a:xfrm>
          <a:prstGeom prst="straightConnector1">
            <a:avLst/>
          </a:prstGeom>
          <a:noFill/>
          <a:ln cap="flat" cmpd="sng" w="38100">
            <a:solidFill>
              <a:srgbClr val="D8E3E9"/>
            </a:solidFill>
            <a:prstDash val="solid"/>
            <a:round/>
            <a:headEnd len="sm" w="sm" type="none"/>
            <a:tailEnd len="med" w="med" type="triangle"/>
          </a:ln>
        </p:spPr>
      </p:cxnSp>
      <p:cxnSp>
        <p:nvCxnSpPr>
          <p:cNvPr id="268" name="Google Shape;268;p13"/>
          <p:cNvCxnSpPr/>
          <p:nvPr/>
        </p:nvCxnSpPr>
        <p:spPr>
          <a:xfrm>
            <a:off x="7790688" y="2468880"/>
            <a:ext cx="429768" cy="0"/>
          </a:xfrm>
          <a:prstGeom prst="straightConnector1">
            <a:avLst/>
          </a:prstGeom>
          <a:noFill/>
          <a:ln cap="flat" cmpd="sng" w="38100">
            <a:solidFill>
              <a:srgbClr val="D8E3E9"/>
            </a:solidFill>
            <a:prstDash val="solid"/>
            <a:round/>
            <a:headEnd len="sm" w="sm" type="none"/>
            <a:tailEnd len="med" w="med" type="triangle"/>
          </a:ln>
        </p:spPr>
      </p:cxnSp>
      <p:sp>
        <p:nvSpPr>
          <p:cNvPr id="269" name="Google Shape;269;p13"/>
          <p:cNvSpPr/>
          <p:nvPr/>
        </p:nvSpPr>
        <p:spPr>
          <a:xfrm>
            <a:off x="1234440" y="4142232"/>
            <a:ext cx="9692640" cy="1060704"/>
          </a:xfrm>
          <a:prstGeom prst="roundRect">
            <a:avLst>
              <a:gd fmla="val 8621" name="adj"/>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3"/>
          <p:cNvSpPr txBox="1"/>
          <p:nvPr/>
        </p:nvSpPr>
        <p:spPr>
          <a:xfrm>
            <a:off x="1463040" y="4407408"/>
            <a:ext cx="921715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1E2C"/>
              </a:buClr>
              <a:buSzPts val="2000"/>
              <a:buFont typeface="Arial"/>
              <a:buNone/>
            </a:pPr>
            <a:r>
              <a:rPr b="1" i="0" lang="en-US" sz="2000" u="none" cap="none" strike="noStrike">
                <a:solidFill>
                  <a:srgbClr val="0C1E2C"/>
                </a:solidFill>
                <a:latin typeface="Arial"/>
                <a:ea typeface="Arial"/>
                <a:cs typeface="Arial"/>
                <a:sym typeface="Arial"/>
              </a:rPr>
              <a:t>Manual: Assets → elt_pipeline → Materialize → Runs → buka log</a:t>
            </a:r>
            <a:endParaRPr b="0" i="0" sz="2000" u="none" cap="none" strike="noStrike">
              <a:solidFill>
                <a:schemeClr val="dk1"/>
              </a:solidFill>
              <a:latin typeface="Arial"/>
              <a:ea typeface="Arial"/>
              <a:cs typeface="Arial"/>
              <a:sym typeface="Arial"/>
            </a:endParaRPr>
          </a:p>
        </p:txBody>
      </p:sp>
      <p:sp>
        <p:nvSpPr>
          <p:cNvPr id="271" name="Google Shape;271;p13"/>
          <p:cNvSpPr txBox="1"/>
          <p:nvPr/>
        </p:nvSpPr>
        <p:spPr>
          <a:xfrm>
            <a:off x="1947672" y="4791456"/>
            <a:ext cx="8293608"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26B79"/>
              </a:buClr>
              <a:buSzPts val="1600"/>
              <a:buFont typeface="Arial"/>
              <a:buNone/>
            </a:pPr>
            <a:r>
              <a:rPr b="0" i="0" lang="en-US" sz="1600" u="none" cap="none" strike="noStrike">
                <a:solidFill>
                  <a:srgbClr val="526B79"/>
                </a:solidFill>
                <a:latin typeface="Arial"/>
                <a:ea typeface="Arial"/>
                <a:cs typeface="Arial"/>
                <a:sym typeface="Arial"/>
              </a:rPr>
              <a:t>Terjadwal: pastikan daemon hidup dan schedule aktif.</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 name="Shape 276"/>
        <p:cNvGrpSpPr/>
        <p:nvPr/>
      </p:nvGrpSpPr>
      <p:grpSpPr>
        <a:xfrm>
          <a:off x="0" y="0"/>
          <a:ext cx="0" cy="0"/>
          <a:chOff x="0" y="0"/>
          <a:chExt cx="0" cy="0"/>
        </a:xfrm>
      </p:grpSpPr>
      <p:sp>
        <p:nvSpPr>
          <p:cNvPr id="277" name="Google Shape;277;p14"/>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Prefect: flow, task, deployment</a:t>
            </a:r>
            <a:endParaRPr b="0" i="0" sz="3000" u="none" cap="none" strike="noStrike">
              <a:solidFill>
                <a:schemeClr val="dk1"/>
              </a:solidFill>
              <a:latin typeface="Arial"/>
              <a:ea typeface="Arial"/>
              <a:cs typeface="Arial"/>
              <a:sym typeface="Arial"/>
            </a:endParaRPr>
          </a:p>
        </p:txBody>
      </p:sp>
      <p:sp>
        <p:nvSpPr>
          <p:cNvPr id="278" name="Google Shape;278;p14"/>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Function Python diberi decorator; serve() mendaftarkan deployment dan menunggu run.</a:t>
            </a:r>
            <a:endParaRPr b="0" i="0" sz="1500" u="none" cap="none" strike="noStrike">
              <a:solidFill>
                <a:schemeClr val="dk1"/>
              </a:solidFill>
              <a:latin typeface="Arial"/>
              <a:ea typeface="Arial"/>
              <a:cs typeface="Arial"/>
              <a:sym typeface="Arial"/>
            </a:endParaRPr>
          </a:p>
        </p:txBody>
      </p:sp>
      <p:sp>
        <p:nvSpPr>
          <p:cNvPr id="279" name="Google Shape;279;p14"/>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280" name="Google Shape;280;p14"/>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11</a:t>
            </a:r>
            <a:endParaRPr b="0" i="0" sz="1000" u="none" cap="none" strike="noStrike">
              <a:solidFill>
                <a:schemeClr val="dk1"/>
              </a:solidFill>
              <a:latin typeface="Arial"/>
              <a:ea typeface="Arial"/>
              <a:cs typeface="Arial"/>
              <a:sym typeface="Arial"/>
            </a:endParaRPr>
          </a:p>
        </p:txBody>
      </p:sp>
      <p:sp>
        <p:nvSpPr>
          <p:cNvPr id="281" name="Google Shape;281;p14"/>
          <p:cNvSpPr/>
          <p:nvPr/>
        </p:nvSpPr>
        <p:spPr>
          <a:xfrm>
            <a:off x="694944" y="1572768"/>
            <a:ext cx="6629400" cy="3877056"/>
          </a:xfrm>
          <a:prstGeom prst="roundRect">
            <a:avLst>
              <a:gd fmla="val 2358" name="adj"/>
            </a:avLst>
          </a:prstGeom>
          <a:solidFill>
            <a:srgbClr val="0C1E2C"/>
          </a:solidFill>
          <a:ln cap="flat" cmpd="sng" w="12700">
            <a:solidFill>
              <a:srgbClr val="0C1E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4"/>
          <p:cNvSpPr txBox="1"/>
          <p:nvPr/>
        </p:nvSpPr>
        <p:spPr>
          <a:xfrm>
            <a:off x="978408" y="1874520"/>
            <a:ext cx="6172200" cy="32735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Courier New"/>
              <a:buNone/>
            </a:pPr>
            <a:r>
              <a:rPr b="0" i="0" lang="en-US" sz="1500" u="none" cap="none" strike="noStrike">
                <a:solidFill>
                  <a:srgbClr val="FFFFFF"/>
                </a:solidFill>
                <a:latin typeface="Courier New"/>
                <a:ea typeface="Courier New"/>
                <a:cs typeface="Courier New"/>
                <a:sym typeface="Courier New"/>
              </a:rPr>
              <a:t>@task(retries=1, retry_delay_seconds=10)</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500"/>
              <a:buFont typeface="Courier New"/>
              <a:buNone/>
            </a:pPr>
            <a:r>
              <a:rPr b="0" i="0" lang="en-US" sz="1500" u="none" cap="none" strike="noStrike">
                <a:solidFill>
                  <a:srgbClr val="FFFFFF"/>
                </a:solidFill>
                <a:latin typeface="Courier New"/>
                <a:ea typeface="Courier New"/>
                <a:cs typeface="Courier New"/>
                <a:sym typeface="Courier New"/>
              </a:rPr>
              <a:t>def run_elt_pipeline():</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500"/>
              <a:buFont typeface="Courier New"/>
              <a:buNone/>
            </a:pPr>
            <a:r>
              <a:rPr b="0" i="0" lang="en-US" sz="1500" u="none" cap="none" strike="noStrike">
                <a:solidFill>
                  <a:srgbClr val="FFFFFF"/>
                </a:solidFill>
                <a:latin typeface="Courier New"/>
                <a:ea typeface="Courier New"/>
                <a:cs typeface="Courier New"/>
                <a:sym typeface="Courier New"/>
              </a:rPr>
              <a:t>    ...  # bash pertemuan-5/run_pipeline.sh</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500"/>
              <a:buFont typeface="Arial"/>
              <a:buNone/>
            </a:pPr>
            <a:r>
              <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500"/>
              <a:buFont typeface="Courier New"/>
              <a:buNone/>
            </a:pPr>
            <a:r>
              <a:rPr b="0" i="0" lang="en-US" sz="1500" u="none" cap="none" strike="noStrike">
                <a:solidFill>
                  <a:srgbClr val="FFFFFF"/>
                </a:solidFill>
                <a:latin typeface="Courier New"/>
                <a:ea typeface="Courier New"/>
                <a:cs typeface="Courier New"/>
                <a:sym typeface="Courier New"/>
              </a:rPr>
              <a:t>@flow(name="pertemuan-6-elt")</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500"/>
              <a:buFont typeface="Courier New"/>
              <a:buNone/>
            </a:pPr>
            <a:r>
              <a:rPr b="0" i="0" lang="en-US" sz="1500" u="none" cap="none" strike="noStrike">
                <a:solidFill>
                  <a:srgbClr val="FFFFFF"/>
                </a:solidFill>
                <a:latin typeface="Courier New"/>
                <a:ea typeface="Courier New"/>
                <a:cs typeface="Courier New"/>
                <a:sym typeface="Courier New"/>
              </a:rPr>
              <a:t>def elt_flow():</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500"/>
              <a:buFont typeface="Courier New"/>
              <a:buNone/>
            </a:pPr>
            <a:r>
              <a:rPr b="0" i="0" lang="en-US" sz="1500" u="none" cap="none" strike="noStrike">
                <a:solidFill>
                  <a:srgbClr val="FFFFFF"/>
                </a:solidFill>
                <a:latin typeface="Courier New"/>
                <a:ea typeface="Courier New"/>
                <a:cs typeface="Courier New"/>
                <a:sym typeface="Courier New"/>
              </a:rPr>
              <a:t>    return run_elt_pipeline()</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500"/>
              <a:buFont typeface="Arial"/>
              <a:buNone/>
            </a:pPr>
            <a:r>
              <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500"/>
              <a:buFont typeface="Courier New"/>
              <a:buNone/>
            </a:pPr>
            <a:r>
              <a:rPr b="0" i="0" lang="en-US" sz="1500" u="none" cap="none" strike="noStrike">
                <a:solidFill>
                  <a:srgbClr val="FFFFFF"/>
                </a:solidFill>
                <a:latin typeface="Courier New"/>
                <a:ea typeface="Courier New"/>
                <a:cs typeface="Courier New"/>
                <a:sym typeface="Courier New"/>
              </a:rPr>
              <a:t>elt_flow.serve(</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500"/>
              <a:buFont typeface="Courier New"/>
              <a:buNone/>
            </a:pPr>
            <a:r>
              <a:rPr b="0" i="0" lang="en-US" sz="1500" u="none" cap="none" strike="noStrike">
                <a:solidFill>
                  <a:srgbClr val="FFFFFF"/>
                </a:solidFill>
                <a:latin typeface="Courier New"/>
                <a:ea typeface="Courier New"/>
                <a:cs typeface="Courier New"/>
                <a:sym typeface="Courier New"/>
              </a:rPr>
              <a:t>    name="pertemuan-6-elt",</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500"/>
              <a:buFont typeface="Courier New"/>
              <a:buNone/>
            </a:pPr>
            <a:r>
              <a:rPr b="0" i="0" lang="en-US" sz="1500" u="none" cap="none" strike="noStrike">
                <a:solidFill>
                  <a:srgbClr val="FFFFFF"/>
                </a:solidFill>
                <a:latin typeface="Courier New"/>
                <a:ea typeface="Courier New"/>
                <a:cs typeface="Courier New"/>
                <a:sym typeface="Courier New"/>
              </a:rPr>
              <a:t>    cron="*/15 * * * *",</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500"/>
              <a:buFont typeface="Courier New"/>
              <a:buNone/>
            </a:pPr>
            <a:r>
              <a:rPr b="0" i="0" lang="en-US" sz="1500" u="none" cap="none" strike="noStrike">
                <a:solidFill>
                  <a:srgbClr val="FFFFFF"/>
                </a:solidFill>
                <a:latin typeface="Courier New"/>
                <a:ea typeface="Courier New"/>
                <a:cs typeface="Courier New"/>
                <a:sym typeface="Courier New"/>
              </a:rPr>
              <a:t>)</a:t>
            </a:r>
            <a:endParaRPr b="0" i="0" sz="1500" u="none" cap="none" strike="noStrike">
              <a:solidFill>
                <a:schemeClr val="dk1"/>
              </a:solidFill>
              <a:latin typeface="Arial"/>
              <a:ea typeface="Arial"/>
              <a:cs typeface="Arial"/>
              <a:sym typeface="Arial"/>
            </a:endParaRPr>
          </a:p>
        </p:txBody>
      </p:sp>
      <p:sp>
        <p:nvSpPr>
          <p:cNvPr id="283" name="Google Shape;283;p14"/>
          <p:cNvSpPr/>
          <p:nvPr/>
        </p:nvSpPr>
        <p:spPr>
          <a:xfrm>
            <a:off x="7644384" y="1728216"/>
            <a:ext cx="3840480" cy="1508760"/>
          </a:xfrm>
          <a:prstGeom prst="roundRect">
            <a:avLst>
              <a:gd fmla="val 6061" name="adj"/>
            </a:avLst>
          </a:prstGeom>
          <a:solidFill>
            <a:srgbClr val="E7F1FA"/>
          </a:solidFill>
          <a:ln cap="flat" cmpd="sng" w="12700">
            <a:solidFill>
              <a:srgbClr val="E7F1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4"/>
          <p:cNvSpPr/>
          <p:nvPr/>
        </p:nvSpPr>
        <p:spPr>
          <a:xfrm>
            <a:off x="7863840" y="1947672"/>
            <a:ext cx="347472" cy="347472"/>
          </a:xfrm>
          <a:prstGeom prst="ellipse">
            <a:avLst/>
          </a:prstGeom>
          <a:solidFill>
            <a:srgbClr val="2563A6"/>
          </a:solidFill>
          <a:ln cap="flat" cmpd="sng" w="12700">
            <a:solidFill>
              <a:srgbClr val="2563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4"/>
          <p:cNvSpPr txBox="1"/>
          <p:nvPr/>
        </p:nvSpPr>
        <p:spPr>
          <a:xfrm>
            <a:off x="8339328" y="1938528"/>
            <a:ext cx="29077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900"/>
              <a:buFont typeface="Arial"/>
              <a:buNone/>
            </a:pPr>
            <a:r>
              <a:rPr b="1" i="0" lang="en-US" sz="1900" u="none" cap="none" strike="noStrike">
                <a:solidFill>
                  <a:srgbClr val="102333"/>
                </a:solidFill>
                <a:latin typeface="Arial"/>
                <a:ea typeface="Arial"/>
                <a:cs typeface="Arial"/>
                <a:sym typeface="Arial"/>
              </a:rPr>
              <a:t>@task</a:t>
            </a:r>
            <a:endParaRPr b="0" i="0" sz="1900" u="none" cap="none" strike="noStrike">
              <a:solidFill>
                <a:schemeClr val="dk1"/>
              </a:solidFill>
              <a:latin typeface="Arial"/>
              <a:ea typeface="Arial"/>
              <a:cs typeface="Arial"/>
              <a:sym typeface="Arial"/>
            </a:endParaRPr>
          </a:p>
        </p:txBody>
      </p:sp>
      <p:sp>
        <p:nvSpPr>
          <p:cNvPr id="286" name="Google Shape;286;p14"/>
          <p:cNvSpPr txBox="1"/>
          <p:nvPr/>
        </p:nvSpPr>
        <p:spPr>
          <a:xfrm>
            <a:off x="7900416" y="2496312"/>
            <a:ext cx="3328416" cy="5760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Unit kerja dengan retry dan log.</a:t>
            </a:r>
            <a:endParaRPr b="0" i="0" sz="1500" u="none" cap="none" strike="noStrike">
              <a:solidFill>
                <a:schemeClr val="dk1"/>
              </a:solidFill>
              <a:latin typeface="Arial"/>
              <a:ea typeface="Arial"/>
              <a:cs typeface="Arial"/>
              <a:sym typeface="Arial"/>
            </a:endParaRPr>
          </a:p>
        </p:txBody>
      </p:sp>
      <p:sp>
        <p:nvSpPr>
          <p:cNvPr id="287" name="Google Shape;287;p14"/>
          <p:cNvSpPr/>
          <p:nvPr/>
        </p:nvSpPr>
        <p:spPr>
          <a:xfrm>
            <a:off x="7644384" y="3429000"/>
            <a:ext cx="3840480" cy="1508760"/>
          </a:xfrm>
          <a:prstGeom prst="roundRect">
            <a:avLst>
              <a:gd fmla="val 6061" name="adj"/>
            </a:avLst>
          </a:prstGeom>
          <a:solidFill>
            <a:srgbClr val="DDF5F3"/>
          </a:solidFill>
          <a:ln cap="flat" cmpd="sng" w="12700">
            <a:solidFill>
              <a:srgbClr val="DDF5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4"/>
          <p:cNvSpPr/>
          <p:nvPr/>
        </p:nvSpPr>
        <p:spPr>
          <a:xfrm>
            <a:off x="7863840" y="3648456"/>
            <a:ext cx="347472" cy="347472"/>
          </a:xfrm>
          <a:prstGeom prst="ellipse">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
          <p:cNvSpPr txBox="1"/>
          <p:nvPr/>
        </p:nvSpPr>
        <p:spPr>
          <a:xfrm>
            <a:off x="8339328" y="3639312"/>
            <a:ext cx="290779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900"/>
              <a:buFont typeface="Arial"/>
              <a:buNone/>
            </a:pPr>
            <a:r>
              <a:rPr b="1" i="0" lang="en-US" sz="1900" u="none" cap="none" strike="noStrike">
                <a:solidFill>
                  <a:srgbClr val="102333"/>
                </a:solidFill>
                <a:latin typeface="Arial"/>
                <a:ea typeface="Arial"/>
                <a:cs typeface="Arial"/>
                <a:sym typeface="Arial"/>
              </a:rPr>
              <a:t>@flow + serve()</a:t>
            </a:r>
            <a:endParaRPr b="0" i="0" sz="1900" u="none" cap="none" strike="noStrike">
              <a:solidFill>
                <a:schemeClr val="dk1"/>
              </a:solidFill>
              <a:latin typeface="Arial"/>
              <a:ea typeface="Arial"/>
              <a:cs typeface="Arial"/>
              <a:sym typeface="Arial"/>
            </a:endParaRPr>
          </a:p>
        </p:txBody>
      </p:sp>
      <p:sp>
        <p:nvSpPr>
          <p:cNvPr id="290" name="Google Shape;290;p14"/>
          <p:cNvSpPr txBox="1"/>
          <p:nvPr/>
        </p:nvSpPr>
        <p:spPr>
          <a:xfrm>
            <a:off x="7900416" y="4197096"/>
            <a:ext cx="3328416" cy="5760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Workflow dan deployment terjadwal.</a:t>
            </a:r>
            <a:endParaRPr b="0" i="0" sz="1500" u="none" cap="none" strike="noStrike">
              <a:solidFill>
                <a:schemeClr val="dk1"/>
              </a:solidFill>
              <a:latin typeface="Arial"/>
              <a:ea typeface="Arial"/>
              <a:cs typeface="Arial"/>
              <a:sym typeface="Arial"/>
            </a:endParaRPr>
          </a:p>
        </p:txBody>
      </p:sp>
      <p:sp>
        <p:nvSpPr>
          <p:cNvPr id="291" name="Google Shape;291;p14"/>
          <p:cNvSpPr txBox="1"/>
          <p:nvPr/>
        </p:nvSpPr>
        <p:spPr>
          <a:xfrm>
            <a:off x="7863840" y="5248656"/>
            <a:ext cx="349300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1600"/>
              <a:buFont typeface="Arial"/>
              <a:buNone/>
            </a:pPr>
            <a:r>
              <a:rPr b="1" i="0" lang="en-US" sz="1600" u="none" cap="none" strike="noStrike">
                <a:solidFill>
                  <a:srgbClr val="0C1E2C"/>
                </a:solidFill>
                <a:latin typeface="Arial"/>
                <a:ea typeface="Arial"/>
                <a:cs typeface="Arial"/>
                <a:sym typeface="Arial"/>
              </a:rPr>
              <a:t>UI: localhost:4200</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6" name="Shape 296"/>
        <p:cNvGrpSpPr/>
        <p:nvPr/>
      </p:nvGrpSpPr>
      <p:grpSpPr>
        <a:xfrm>
          <a:off x="0" y="0"/>
          <a:ext cx="0" cy="0"/>
          <a:chOff x="0" y="0"/>
          <a:chExt cx="0" cy="0"/>
        </a:xfrm>
      </p:grpSpPr>
      <p:sp>
        <p:nvSpPr>
          <p:cNvPr id="297" name="Google Shape;297;p15"/>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Kestra: flow YAML dan task runner</a:t>
            </a:r>
            <a:endParaRPr b="0" i="0" sz="3000" u="none" cap="none" strike="noStrike">
              <a:solidFill>
                <a:schemeClr val="dk1"/>
              </a:solidFill>
              <a:latin typeface="Arial"/>
              <a:ea typeface="Arial"/>
              <a:cs typeface="Arial"/>
              <a:sym typeface="Arial"/>
            </a:endParaRPr>
          </a:p>
        </p:txBody>
      </p:sp>
      <p:sp>
        <p:nvSpPr>
          <p:cNvPr id="298" name="Google Shape;298;p15"/>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YAML mendefinisikan task dan trigger; Docker runner mengeksekusi command dalam image.</a:t>
            </a:r>
            <a:endParaRPr b="0" i="0" sz="1500" u="none" cap="none" strike="noStrike">
              <a:solidFill>
                <a:schemeClr val="dk1"/>
              </a:solidFill>
              <a:latin typeface="Arial"/>
              <a:ea typeface="Arial"/>
              <a:cs typeface="Arial"/>
              <a:sym typeface="Arial"/>
            </a:endParaRPr>
          </a:p>
        </p:txBody>
      </p:sp>
      <p:sp>
        <p:nvSpPr>
          <p:cNvPr id="299" name="Google Shape;299;p15"/>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300" name="Google Shape;300;p15"/>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12</a:t>
            </a:r>
            <a:endParaRPr b="0" i="0" sz="1000" u="none" cap="none" strike="noStrike">
              <a:solidFill>
                <a:schemeClr val="dk1"/>
              </a:solidFill>
              <a:latin typeface="Arial"/>
              <a:ea typeface="Arial"/>
              <a:cs typeface="Arial"/>
              <a:sym typeface="Arial"/>
            </a:endParaRPr>
          </a:p>
        </p:txBody>
      </p:sp>
      <p:sp>
        <p:nvSpPr>
          <p:cNvPr id="301" name="Google Shape;301;p15"/>
          <p:cNvSpPr/>
          <p:nvPr/>
        </p:nvSpPr>
        <p:spPr>
          <a:xfrm>
            <a:off x="694944" y="1572768"/>
            <a:ext cx="6583680" cy="4041648"/>
          </a:xfrm>
          <a:prstGeom prst="roundRect">
            <a:avLst>
              <a:gd fmla="val 2262" name="adj"/>
            </a:avLst>
          </a:prstGeom>
          <a:solidFill>
            <a:srgbClr val="0C1E2C"/>
          </a:solidFill>
          <a:ln cap="flat" cmpd="sng" w="12700">
            <a:solidFill>
              <a:srgbClr val="0C1E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5"/>
          <p:cNvSpPr txBox="1"/>
          <p:nvPr/>
        </p:nvSpPr>
        <p:spPr>
          <a:xfrm>
            <a:off x="950976" y="1810512"/>
            <a:ext cx="6099048" cy="35753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20"/>
              <a:buFont typeface="Courier New"/>
              <a:buNone/>
            </a:pPr>
            <a:r>
              <a:rPr b="0" i="0" lang="en-US" sz="1220" u="none" cap="none" strike="noStrike">
                <a:solidFill>
                  <a:srgbClr val="FFFFFF"/>
                </a:solidFill>
                <a:latin typeface="Courier New"/>
                <a:ea typeface="Courier New"/>
                <a:cs typeface="Courier New"/>
                <a:sym typeface="Courier New"/>
              </a:rPr>
              <a:t>tasks:</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US" sz="1220" u="none" cap="none" strike="noStrike">
                <a:solidFill>
                  <a:srgbClr val="FFFFFF"/>
                </a:solidFill>
                <a:latin typeface="Courier New"/>
                <a:ea typeface="Courier New"/>
                <a:cs typeface="Courier New"/>
                <a:sym typeface="Courier New"/>
              </a:rPr>
              <a:t>  - id: run_elt_pipeline</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US" sz="1220" u="none" cap="none" strike="noStrike">
                <a:solidFill>
                  <a:srgbClr val="FFFFFF"/>
                </a:solidFill>
                <a:latin typeface="Courier New"/>
                <a:ea typeface="Courier New"/>
                <a:cs typeface="Courier New"/>
                <a:sym typeface="Courier New"/>
              </a:rPr>
              <a:t>    type: io.kestra.plugin.scripts.shell.Commands</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US" sz="1220" u="none" cap="none" strike="noStrike">
                <a:solidFill>
                  <a:srgbClr val="FFFFFF"/>
                </a:solidFill>
                <a:latin typeface="Courier New"/>
                <a:ea typeface="Courier New"/>
                <a:cs typeface="Courier New"/>
                <a:sym typeface="Courier New"/>
              </a:rPr>
              <a:t>    containerImage: nusacodes/p6-elt-runner:local</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US" sz="1220" u="none" cap="none" strike="noStrike">
                <a:solidFill>
                  <a:srgbClr val="FFFFFF"/>
                </a:solidFill>
                <a:latin typeface="Courier New"/>
                <a:ea typeface="Courier New"/>
                <a:cs typeface="Courier New"/>
                <a:sym typeface="Courier New"/>
              </a:rPr>
              <a:t>    taskRunner:</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US" sz="1220" u="none" cap="none" strike="noStrike">
                <a:solidFill>
                  <a:srgbClr val="FFFFFF"/>
                </a:solidFill>
                <a:latin typeface="Courier New"/>
                <a:ea typeface="Courier New"/>
                <a:cs typeface="Courier New"/>
                <a:sym typeface="Courier New"/>
              </a:rPr>
              <a:t>      type: io.kestra.plugin.scripts.runner.docker.Docker</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US" sz="1220" u="none" cap="none" strike="noStrike">
                <a:solidFill>
                  <a:srgbClr val="FFFFFF"/>
                </a:solidFill>
                <a:latin typeface="Courier New"/>
                <a:ea typeface="Courier New"/>
                <a:cs typeface="Courier New"/>
                <a:sym typeface="Courier New"/>
              </a:rPr>
              <a:t>    commands:</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US" sz="1220" u="none" cap="none" strike="noStrike">
                <a:solidFill>
                  <a:srgbClr val="FFFFFF"/>
                </a:solidFill>
                <a:latin typeface="Courier New"/>
                <a:ea typeface="Courier New"/>
                <a:cs typeface="Courier New"/>
                <a:sym typeface="Courier New"/>
              </a:rPr>
              <a:t>      - cd /workspace &amp;&amp; bash pertemuan-5/run_pipeline.sh</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20"/>
              <a:buFont typeface="Arial"/>
              <a:buNone/>
            </a:pPr>
            <a:r>
              <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US" sz="1220" u="none" cap="none" strike="noStrike">
                <a:solidFill>
                  <a:srgbClr val="FFFFFF"/>
                </a:solidFill>
                <a:latin typeface="Courier New"/>
                <a:ea typeface="Courier New"/>
                <a:cs typeface="Courier New"/>
                <a:sym typeface="Courier New"/>
              </a:rPr>
              <a:t>triggers:</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US" sz="1220" u="none" cap="none" strike="noStrike">
                <a:solidFill>
                  <a:srgbClr val="FFFFFF"/>
                </a:solidFill>
                <a:latin typeface="Courier New"/>
                <a:ea typeface="Courier New"/>
                <a:cs typeface="Courier New"/>
                <a:sym typeface="Courier New"/>
              </a:rPr>
              <a:t>  - id: every_5_minutes</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US" sz="1220" u="none" cap="none" strike="noStrike">
                <a:solidFill>
                  <a:srgbClr val="FFFFFF"/>
                </a:solidFill>
                <a:latin typeface="Courier New"/>
                <a:ea typeface="Courier New"/>
                <a:cs typeface="Courier New"/>
                <a:sym typeface="Courier New"/>
              </a:rPr>
              <a:t>    type: io.kestra.plugin.core.trigger.Schedule</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US" sz="1220" u="none" cap="none" strike="noStrike">
                <a:solidFill>
                  <a:srgbClr val="FFFFFF"/>
                </a:solidFill>
                <a:latin typeface="Courier New"/>
                <a:ea typeface="Courier New"/>
                <a:cs typeface="Courier New"/>
                <a:sym typeface="Courier New"/>
              </a:rPr>
              <a:t>    cron: "*/5 * * * *"</a:t>
            </a:r>
            <a:endParaRPr b="0" i="0" sz="122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220"/>
              <a:buFont typeface="Courier New"/>
              <a:buNone/>
            </a:pPr>
            <a:r>
              <a:rPr b="0" i="0" lang="en-US" sz="1220" u="none" cap="none" strike="noStrike">
                <a:solidFill>
                  <a:srgbClr val="FFFFFF"/>
                </a:solidFill>
                <a:latin typeface="Courier New"/>
                <a:ea typeface="Courier New"/>
                <a:cs typeface="Courier New"/>
                <a:sym typeface="Courier New"/>
              </a:rPr>
              <a:t>    timezone: Asia/Jakarta</a:t>
            </a:r>
            <a:endParaRPr b="0" i="0" sz="1220" u="none" cap="none" strike="noStrike">
              <a:solidFill>
                <a:schemeClr val="dk1"/>
              </a:solidFill>
              <a:latin typeface="Arial"/>
              <a:ea typeface="Arial"/>
              <a:cs typeface="Arial"/>
              <a:sym typeface="Arial"/>
            </a:endParaRPr>
          </a:p>
        </p:txBody>
      </p:sp>
      <p:sp>
        <p:nvSpPr>
          <p:cNvPr id="303" name="Google Shape;303;p15"/>
          <p:cNvSpPr/>
          <p:nvPr/>
        </p:nvSpPr>
        <p:spPr>
          <a:xfrm>
            <a:off x="7589520" y="1719072"/>
            <a:ext cx="3867912" cy="1627632"/>
          </a:xfrm>
          <a:prstGeom prst="roundRect">
            <a:avLst>
              <a:gd fmla="val 5618" name="adj"/>
            </a:avLst>
          </a:prstGeom>
          <a:solidFill>
            <a:srgbClr val="FEE8E5"/>
          </a:solidFill>
          <a:ln cap="flat" cmpd="sng" w="12700">
            <a:solidFill>
              <a:srgbClr val="FEE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5"/>
          <p:cNvSpPr/>
          <p:nvPr/>
        </p:nvSpPr>
        <p:spPr>
          <a:xfrm>
            <a:off x="7808976" y="1938528"/>
            <a:ext cx="347472" cy="347472"/>
          </a:xfrm>
          <a:prstGeom prst="ellipse">
            <a:avLst/>
          </a:prstGeom>
          <a:solidFill>
            <a:srgbClr val="FA6A60"/>
          </a:solidFill>
          <a:ln cap="flat" cmpd="sng" w="12700">
            <a:solidFill>
              <a:srgbClr val="FA6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txBox="1"/>
          <p:nvPr/>
        </p:nvSpPr>
        <p:spPr>
          <a:xfrm>
            <a:off x="8284464" y="1929384"/>
            <a:ext cx="2935224"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900"/>
              <a:buFont typeface="Arial"/>
              <a:buNone/>
            </a:pPr>
            <a:r>
              <a:rPr b="1" i="0" lang="en-US" sz="1900" u="none" cap="none" strike="noStrike">
                <a:solidFill>
                  <a:srgbClr val="102333"/>
                </a:solidFill>
                <a:latin typeface="Arial"/>
                <a:ea typeface="Arial"/>
                <a:cs typeface="Arial"/>
                <a:sym typeface="Arial"/>
              </a:rPr>
              <a:t>Flow + task</a:t>
            </a:r>
            <a:endParaRPr b="0" i="0" sz="1900" u="none" cap="none" strike="noStrike">
              <a:solidFill>
                <a:schemeClr val="dk1"/>
              </a:solidFill>
              <a:latin typeface="Arial"/>
              <a:ea typeface="Arial"/>
              <a:cs typeface="Arial"/>
              <a:sym typeface="Arial"/>
            </a:endParaRPr>
          </a:p>
        </p:txBody>
      </p:sp>
      <p:sp>
        <p:nvSpPr>
          <p:cNvPr id="306" name="Google Shape;306;p15"/>
          <p:cNvSpPr txBox="1"/>
          <p:nvPr/>
        </p:nvSpPr>
        <p:spPr>
          <a:xfrm>
            <a:off x="7845552" y="2487168"/>
            <a:ext cx="3355848" cy="6949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Langkah kerja dijelaskan secara deklaratif.</a:t>
            </a:r>
            <a:endParaRPr b="0" i="0" sz="1500" u="none" cap="none" strike="noStrike">
              <a:solidFill>
                <a:schemeClr val="dk1"/>
              </a:solidFill>
              <a:latin typeface="Arial"/>
              <a:ea typeface="Arial"/>
              <a:cs typeface="Arial"/>
              <a:sym typeface="Arial"/>
            </a:endParaRPr>
          </a:p>
        </p:txBody>
      </p:sp>
      <p:sp>
        <p:nvSpPr>
          <p:cNvPr id="307" name="Google Shape;307;p15"/>
          <p:cNvSpPr/>
          <p:nvPr/>
        </p:nvSpPr>
        <p:spPr>
          <a:xfrm>
            <a:off x="7589520" y="3557016"/>
            <a:ext cx="3867912" cy="1627632"/>
          </a:xfrm>
          <a:prstGeom prst="roundRect">
            <a:avLst>
              <a:gd fmla="val 5618" name="adj"/>
            </a:avLst>
          </a:prstGeom>
          <a:solidFill>
            <a:srgbClr val="DDF5F3"/>
          </a:solidFill>
          <a:ln cap="flat" cmpd="sng" w="12700">
            <a:solidFill>
              <a:srgbClr val="DDF5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5"/>
          <p:cNvSpPr/>
          <p:nvPr/>
        </p:nvSpPr>
        <p:spPr>
          <a:xfrm>
            <a:off x="7808976" y="3776472"/>
            <a:ext cx="347472" cy="347472"/>
          </a:xfrm>
          <a:prstGeom prst="ellipse">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5"/>
          <p:cNvSpPr txBox="1"/>
          <p:nvPr/>
        </p:nvSpPr>
        <p:spPr>
          <a:xfrm>
            <a:off x="8284464" y="3767328"/>
            <a:ext cx="2935224"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900"/>
              <a:buFont typeface="Arial"/>
              <a:buNone/>
            </a:pPr>
            <a:r>
              <a:rPr b="1" i="0" lang="en-US" sz="1900" u="none" cap="none" strike="noStrike">
                <a:solidFill>
                  <a:srgbClr val="102333"/>
                </a:solidFill>
                <a:latin typeface="Arial"/>
                <a:ea typeface="Arial"/>
                <a:cs typeface="Arial"/>
                <a:sym typeface="Arial"/>
              </a:rPr>
              <a:t>Schedule trigger</a:t>
            </a:r>
            <a:endParaRPr b="0" i="0" sz="1900" u="none" cap="none" strike="noStrike">
              <a:solidFill>
                <a:schemeClr val="dk1"/>
              </a:solidFill>
              <a:latin typeface="Arial"/>
              <a:ea typeface="Arial"/>
              <a:cs typeface="Arial"/>
              <a:sym typeface="Arial"/>
            </a:endParaRPr>
          </a:p>
        </p:txBody>
      </p:sp>
      <p:sp>
        <p:nvSpPr>
          <p:cNvPr id="310" name="Google Shape;310;p15"/>
          <p:cNvSpPr txBox="1"/>
          <p:nvPr/>
        </p:nvSpPr>
        <p:spPr>
          <a:xfrm>
            <a:off x="7845552" y="4325112"/>
            <a:ext cx="3355848" cy="6949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Menjalankan flow tiap 5 menit WIB.</a:t>
            </a:r>
            <a:endParaRPr b="0" i="0" sz="1500" u="none" cap="none" strike="noStrike">
              <a:solidFill>
                <a:schemeClr val="dk1"/>
              </a:solidFill>
              <a:latin typeface="Arial"/>
              <a:ea typeface="Arial"/>
              <a:cs typeface="Arial"/>
              <a:sym typeface="Arial"/>
            </a:endParaRPr>
          </a:p>
        </p:txBody>
      </p:sp>
      <p:sp>
        <p:nvSpPr>
          <p:cNvPr id="311" name="Google Shape;311;p15"/>
          <p:cNvSpPr txBox="1"/>
          <p:nvPr/>
        </p:nvSpPr>
        <p:spPr>
          <a:xfrm>
            <a:off x="7836408" y="5440680"/>
            <a:ext cx="337413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1600"/>
              <a:buFont typeface="Arial"/>
              <a:buNone/>
            </a:pPr>
            <a:r>
              <a:rPr b="1" i="0" lang="en-US" sz="1600" u="none" cap="none" strike="noStrike">
                <a:solidFill>
                  <a:srgbClr val="0C1E2C"/>
                </a:solidFill>
                <a:latin typeface="Arial"/>
                <a:ea typeface="Arial"/>
                <a:cs typeface="Arial"/>
                <a:sym typeface="Arial"/>
              </a:rPr>
              <a:t>UI: localhost:8080</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16"/>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Tiga tool, satu target hasil</a:t>
            </a:r>
            <a:endParaRPr b="0" i="0" sz="3000" u="none" cap="none" strike="noStrike">
              <a:solidFill>
                <a:schemeClr val="dk1"/>
              </a:solidFill>
              <a:latin typeface="Arial"/>
              <a:ea typeface="Arial"/>
              <a:cs typeface="Arial"/>
              <a:sym typeface="Arial"/>
            </a:endParaRPr>
          </a:p>
        </p:txBody>
      </p:sp>
      <p:sp>
        <p:nvSpPr>
          <p:cNvPr id="318" name="Google Shape;318;p16"/>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Perbedaannya terutama ada pada cara menulis workflow dan cara menjalankannya.</a:t>
            </a:r>
            <a:endParaRPr b="0" i="0" sz="1500" u="none" cap="none" strike="noStrike">
              <a:solidFill>
                <a:schemeClr val="dk1"/>
              </a:solidFill>
              <a:latin typeface="Arial"/>
              <a:ea typeface="Arial"/>
              <a:cs typeface="Arial"/>
              <a:sym typeface="Arial"/>
            </a:endParaRPr>
          </a:p>
        </p:txBody>
      </p:sp>
      <p:sp>
        <p:nvSpPr>
          <p:cNvPr id="319" name="Google Shape;319;p16"/>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320" name="Google Shape;320;p16"/>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13</a:t>
            </a:r>
            <a:endParaRPr b="0" i="0" sz="1000" u="none" cap="none" strike="noStrike">
              <a:solidFill>
                <a:schemeClr val="dk1"/>
              </a:solidFill>
              <a:latin typeface="Arial"/>
              <a:ea typeface="Arial"/>
              <a:cs typeface="Arial"/>
              <a:sym typeface="Arial"/>
            </a:endParaRPr>
          </a:p>
        </p:txBody>
      </p:sp>
      <p:sp>
        <p:nvSpPr>
          <p:cNvPr id="321" name="Google Shape;321;p16"/>
          <p:cNvSpPr/>
          <p:nvPr/>
        </p:nvSpPr>
        <p:spPr>
          <a:xfrm>
            <a:off x="658368" y="1554480"/>
            <a:ext cx="2075688" cy="621792"/>
          </a:xfrm>
          <a:prstGeom prst="rect">
            <a:avLst/>
          </a:prstGeom>
          <a:solidFill>
            <a:srgbClr val="0C1E2C"/>
          </a:solidFill>
          <a:ln cap="flat" cmpd="sng" w="12700">
            <a:solidFill>
              <a:srgbClr val="0C1E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6"/>
          <p:cNvSpPr txBox="1"/>
          <p:nvPr/>
        </p:nvSpPr>
        <p:spPr>
          <a:xfrm>
            <a:off x="813816" y="1691640"/>
            <a:ext cx="1764792"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Aspek</a:t>
            </a:r>
            <a:endParaRPr b="0" i="0" sz="1500" u="none" cap="none" strike="noStrike">
              <a:solidFill>
                <a:schemeClr val="dk1"/>
              </a:solidFill>
              <a:latin typeface="Arial"/>
              <a:ea typeface="Arial"/>
              <a:cs typeface="Arial"/>
              <a:sym typeface="Arial"/>
            </a:endParaRPr>
          </a:p>
        </p:txBody>
      </p:sp>
      <p:sp>
        <p:nvSpPr>
          <p:cNvPr id="323" name="Google Shape;323;p16"/>
          <p:cNvSpPr/>
          <p:nvPr/>
        </p:nvSpPr>
        <p:spPr>
          <a:xfrm>
            <a:off x="2788920" y="1554480"/>
            <a:ext cx="2816352" cy="621792"/>
          </a:xfrm>
          <a:prstGeom prst="rect">
            <a:avLst/>
          </a:prstGeom>
          <a:solidFill>
            <a:srgbClr val="0C1E2C"/>
          </a:solidFill>
          <a:ln cap="flat" cmpd="sng" w="12700">
            <a:solidFill>
              <a:srgbClr val="0C1E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6"/>
          <p:cNvSpPr txBox="1"/>
          <p:nvPr/>
        </p:nvSpPr>
        <p:spPr>
          <a:xfrm>
            <a:off x="2944368" y="1691640"/>
            <a:ext cx="250545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Dagster</a:t>
            </a:r>
            <a:endParaRPr b="0" i="0" sz="1500" u="none" cap="none" strike="noStrike">
              <a:solidFill>
                <a:schemeClr val="dk1"/>
              </a:solidFill>
              <a:latin typeface="Arial"/>
              <a:ea typeface="Arial"/>
              <a:cs typeface="Arial"/>
              <a:sym typeface="Arial"/>
            </a:endParaRPr>
          </a:p>
        </p:txBody>
      </p:sp>
      <p:sp>
        <p:nvSpPr>
          <p:cNvPr id="325" name="Google Shape;325;p16"/>
          <p:cNvSpPr/>
          <p:nvPr/>
        </p:nvSpPr>
        <p:spPr>
          <a:xfrm>
            <a:off x="5669280" y="1554480"/>
            <a:ext cx="2816352" cy="621792"/>
          </a:xfrm>
          <a:prstGeom prst="rect">
            <a:avLst/>
          </a:prstGeom>
          <a:solidFill>
            <a:srgbClr val="0C1E2C"/>
          </a:solidFill>
          <a:ln cap="flat" cmpd="sng" w="12700">
            <a:solidFill>
              <a:srgbClr val="0C1E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6"/>
          <p:cNvSpPr txBox="1"/>
          <p:nvPr/>
        </p:nvSpPr>
        <p:spPr>
          <a:xfrm>
            <a:off x="5824728" y="1691640"/>
            <a:ext cx="250545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Prefect</a:t>
            </a:r>
            <a:endParaRPr b="0" i="0" sz="1500" u="none" cap="none" strike="noStrike">
              <a:solidFill>
                <a:schemeClr val="dk1"/>
              </a:solidFill>
              <a:latin typeface="Arial"/>
              <a:ea typeface="Arial"/>
              <a:cs typeface="Arial"/>
              <a:sym typeface="Arial"/>
            </a:endParaRPr>
          </a:p>
        </p:txBody>
      </p:sp>
      <p:sp>
        <p:nvSpPr>
          <p:cNvPr id="327" name="Google Shape;327;p16"/>
          <p:cNvSpPr/>
          <p:nvPr/>
        </p:nvSpPr>
        <p:spPr>
          <a:xfrm>
            <a:off x="8549640" y="1554480"/>
            <a:ext cx="2935224" cy="621792"/>
          </a:xfrm>
          <a:prstGeom prst="rect">
            <a:avLst/>
          </a:prstGeom>
          <a:solidFill>
            <a:srgbClr val="0C1E2C"/>
          </a:solidFill>
          <a:ln cap="flat" cmpd="sng" w="12700">
            <a:solidFill>
              <a:srgbClr val="0C1E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6"/>
          <p:cNvSpPr txBox="1"/>
          <p:nvPr/>
        </p:nvSpPr>
        <p:spPr>
          <a:xfrm>
            <a:off x="8705088" y="1691640"/>
            <a:ext cx="2624328"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Kestra</a:t>
            </a:r>
            <a:endParaRPr b="0" i="0" sz="1500" u="none" cap="none" strike="noStrike">
              <a:solidFill>
                <a:schemeClr val="dk1"/>
              </a:solidFill>
              <a:latin typeface="Arial"/>
              <a:ea typeface="Arial"/>
              <a:cs typeface="Arial"/>
              <a:sym typeface="Arial"/>
            </a:endParaRPr>
          </a:p>
        </p:txBody>
      </p:sp>
      <p:sp>
        <p:nvSpPr>
          <p:cNvPr id="329" name="Google Shape;329;p16"/>
          <p:cNvSpPr/>
          <p:nvPr/>
        </p:nvSpPr>
        <p:spPr>
          <a:xfrm>
            <a:off x="658368" y="2203704"/>
            <a:ext cx="2075688" cy="621792"/>
          </a:xfrm>
          <a:prstGeom prst="rect">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6"/>
          <p:cNvSpPr txBox="1"/>
          <p:nvPr/>
        </p:nvSpPr>
        <p:spPr>
          <a:xfrm>
            <a:off x="813816" y="2340864"/>
            <a:ext cx="1764792"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1420"/>
              <a:buFont typeface="Arial"/>
              <a:buNone/>
            </a:pPr>
            <a:r>
              <a:rPr b="1" i="0" lang="en-US" sz="1420" u="none" cap="none" strike="noStrike">
                <a:solidFill>
                  <a:srgbClr val="0C1E2C"/>
                </a:solidFill>
                <a:latin typeface="Arial"/>
                <a:ea typeface="Arial"/>
                <a:cs typeface="Arial"/>
                <a:sym typeface="Arial"/>
              </a:rPr>
              <a:t>Definisi</a:t>
            </a:r>
            <a:endParaRPr b="0" i="0" sz="1420" u="none" cap="none" strike="noStrike">
              <a:solidFill>
                <a:schemeClr val="dk1"/>
              </a:solidFill>
              <a:latin typeface="Arial"/>
              <a:ea typeface="Arial"/>
              <a:cs typeface="Arial"/>
              <a:sym typeface="Arial"/>
            </a:endParaRPr>
          </a:p>
        </p:txBody>
      </p:sp>
      <p:sp>
        <p:nvSpPr>
          <p:cNvPr id="331" name="Google Shape;331;p16"/>
          <p:cNvSpPr/>
          <p:nvPr/>
        </p:nvSpPr>
        <p:spPr>
          <a:xfrm>
            <a:off x="2788920" y="2203704"/>
            <a:ext cx="2816352" cy="621792"/>
          </a:xfrm>
          <a:prstGeom prst="rect">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6"/>
          <p:cNvSpPr txBox="1"/>
          <p:nvPr/>
        </p:nvSpPr>
        <p:spPr>
          <a:xfrm>
            <a:off x="2944368" y="2340864"/>
            <a:ext cx="250545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20"/>
              <a:buFont typeface="Arial"/>
              <a:buNone/>
            </a:pPr>
            <a:r>
              <a:rPr b="0" i="0" lang="en-US" sz="1420" u="none" cap="none" strike="noStrike">
                <a:solidFill>
                  <a:srgbClr val="102333"/>
                </a:solidFill>
                <a:latin typeface="Arial"/>
                <a:ea typeface="Arial"/>
                <a:cs typeface="Arial"/>
                <a:sym typeface="Arial"/>
              </a:rPr>
              <a:t>Python asset + job</a:t>
            </a:r>
            <a:endParaRPr b="0" i="0" sz="1420" u="none" cap="none" strike="noStrike">
              <a:solidFill>
                <a:schemeClr val="dk1"/>
              </a:solidFill>
              <a:latin typeface="Arial"/>
              <a:ea typeface="Arial"/>
              <a:cs typeface="Arial"/>
              <a:sym typeface="Arial"/>
            </a:endParaRPr>
          </a:p>
        </p:txBody>
      </p:sp>
      <p:sp>
        <p:nvSpPr>
          <p:cNvPr id="333" name="Google Shape;333;p16"/>
          <p:cNvSpPr/>
          <p:nvPr/>
        </p:nvSpPr>
        <p:spPr>
          <a:xfrm>
            <a:off x="5669280" y="2203704"/>
            <a:ext cx="2816352" cy="621792"/>
          </a:xfrm>
          <a:prstGeom prst="rect">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6"/>
          <p:cNvSpPr txBox="1"/>
          <p:nvPr/>
        </p:nvSpPr>
        <p:spPr>
          <a:xfrm>
            <a:off x="5824728" y="2340864"/>
            <a:ext cx="250545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20"/>
              <a:buFont typeface="Arial"/>
              <a:buNone/>
            </a:pPr>
            <a:r>
              <a:rPr b="0" i="0" lang="en-US" sz="1420" u="none" cap="none" strike="noStrike">
                <a:solidFill>
                  <a:srgbClr val="102333"/>
                </a:solidFill>
                <a:latin typeface="Arial"/>
                <a:ea typeface="Arial"/>
                <a:cs typeface="Arial"/>
                <a:sym typeface="Arial"/>
              </a:rPr>
              <a:t>Python @flow + @task</a:t>
            </a:r>
            <a:endParaRPr b="0" i="0" sz="1420" u="none" cap="none" strike="noStrike">
              <a:solidFill>
                <a:schemeClr val="dk1"/>
              </a:solidFill>
              <a:latin typeface="Arial"/>
              <a:ea typeface="Arial"/>
              <a:cs typeface="Arial"/>
              <a:sym typeface="Arial"/>
            </a:endParaRPr>
          </a:p>
        </p:txBody>
      </p:sp>
      <p:sp>
        <p:nvSpPr>
          <p:cNvPr id="335" name="Google Shape;335;p16"/>
          <p:cNvSpPr/>
          <p:nvPr/>
        </p:nvSpPr>
        <p:spPr>
          <a:xfrm>
            <a:off x="8549640" y="2203704"/>
            <a:ext cx="2935224" cy="621792"/>
          </a:xfrm>
          <a:prstGeom prst="rect">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6"/>
          <p:cNvSpPr txBox="1"/>
          <p:nvPr/>
        </p:nvSpPr>
        <p:spPr>
          <a:xfrm>
            <a:off x="8705088" y="2340864"/>
            <a:ext cx="2624328"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20"/>
              <a:buFont typeface="Arial"/>
              <a:buNone/>
            </a:pPr>
            <a:r>
              <a:rPr b="0" i="0" lang="en-US" sz="1420" u="none" cap="none" strike="noStrike">
                <a:solidFill>
                  <a:srgbClr val="102333"/>
                </a:solidFill>
                <a:latin typeface="Arial"/>
                <a:ea typeface="Arial"/>
                <a:cs typeface="Arial"/>
                <a:sym typeface="Arial"/>
              </a:rPr>
              <a:t>YAML flow + task</a:t>
            </a:r>
            <a:endParaRPr b="0" i="0" sz="1420" u="none" cap="none" strike="noStrike">
              <a:solidFill>
                <a:schemeClr val="dk1"/>
              </a:solidFill>
              <a:latin typeface="Arial"/>
              <a:ea typeface="Arial"/>
              <a:cs typeface="Arial"/>
              <a:sym typeface="Arial"/>
            </a:endParaRPr>
          </a:p>
        </p:txBody>
      </p:sp>
      <p:sp>
        <p:nvSpPr>
          <p:cNvPr id="337" name="Google Shape;337;p16"/>
          <p:cNvSpPr/>
          <p:nvPr/>
        </p:nvSpPr>
        <p:spPr>
          <a:xfrm>
            <a:off x="658368" y="2852928"/>
            <a:ext cx="2075688" cy="621792"/>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6"/>
          <p:cNvSpPr txBox="1"/>
          <p:nvPr/>
        </p:nvSpPr>
        <p:spPr>
          <a:xfrm>
            <a:off x="813816" y="2990088"/>
            <a:ext cx="1764792"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1420"/>
              <a:buFont typeface="Arial"/>
              <a:buNone/>
            </a:pPr>
            <a:r>
              <a:rPr b="1" i="0" lang="en-US" sz="1420" u="none" cap="none" strike="noStrike">
                <a:solidFill>
                  <a:srgbClr val="0C1E2C"/>
                </a:solidFill>
                <a:latin typeface="Arial"/>
                <a:ea typeface="Arial"/>
                <a:cs typeface="Arial"/>
                <a:sym typeface="Arial"/>
              </a:rPr>
              <a:t>Pemicu latihan</a:t>
            </a:r>
            <a:endParaRPr b="0" i="0" sz="1420" u="none" cap="none" strike="noStrike">
              <a:solidFill>
                <a:schemeClr val="dk1"/>
              </a:solidFill>
              <a:latin typeface="Arial"/>
              <a:ea typeface="Arial"/>
              <a:cs typeface="Arial"/>
              <a:sym typeface="Arial"/>
            </a:endParaRPr>
          </a:p>
        </p:txBody>
      </p:sp>
      <p:sp>
        <p:nvSpPr>
          <p:cNvPr id="339" name="Google Shape;339;p16"/>
          <p:cNvSpPr/>
          <p:nvPr/>
        </p:nvSpPr>
        <p:spPr>
          <a:xfrm>
            <a:off x="2788920" y="2852928"/>
            <a:ext cx="2816352" cy="621792"/>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6"/>
          <p:cNvSpPr txBox="1"/>
          <p:nvPr/>
        </p:nvSpPr>
        <p:spPr>
          <a:xfrm>
            <a:off x="2944368" y="2990088"/>
            <a:ext cx="250545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20"/>
              <a:buFont typeface="Arial"/>
              <a:buNone/>
            </a:pPr>
            <a:r>
              <a:rPr b="0" i="0" lang="en-US" sz="1420" u="none" cap="none" strike="noStrike">
                <a:solidFill>
                  <a:srgbClr val="102333"/>
                </a:solidFill>
                <a:latin typeface="Arial"/>
                <a:ea typeface="Arial"/>
                <a:cs typeface="Arial"/>
                <a:sym typeface="Arial"/>
              </a:rPr>
              <a:t>Schedule 5 menit</a:t>
            </a:r>
            <a:endParaRPr b="0" i="0" sz="1420" u="none" cap="none" strike="noStrike">
              <a:solidFill>
                <a:schemeClr val="dk1"/>
              </a:solidFill>
              <a:latin typeface="Arial"/>
              <a:ea typeface="Arial"/>
              <a:cs typeface="Arial"/>
              <a:sym typeface="Arial"/>
            </a:endParaRPr>
          </a:p>
        </p:txBody>
      </p:sp>
      <p:sp>
        <p:nvSpPr>
          <p:cNvPr id="341" name="Google Shape;341;p16"/>
          <p:cNvSpPr/>
          <p:nvPr/>
        </p:nvSpPr>
        <p:spPr>
          <a:xfrm>
            <a:off x="5669280" y="2852928"/>
            <a:ext cx="2816352" cy="621792"/>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6"/>
          <p:cNvSpPr txBox="1"/>
          <p:nvPr/>
        </p:nvSpPr>
        <p:spPr>
          <a:xfrm>
            <a:off x="5824728" y="2990088"/>
            <a:ext cx="250545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20"/>
              <a:buFont typeface="Arial"/>
              <a:buNone/>
            </a:pPr>
            <a:r>
              <a:rPr b="0" i="0" lang="en-US" sz="1420" u="none" cap="none" strike="noStrike">
                <a:solidFill>
                  <a:srgbClr val="102333"/>
                </a:solidFill>
                <a:latin typeface="Arial"/>
                <a:ea typeface="Arial"/>
                <a:cs typeface="Arial"/>
                <a:sym typeface="Arial"/>
              </a:rPr>
              <a:t>Deployment 15 menit</a:t>
            </a:r>
            <a:endParaRPr b="0" i="0" sz="1420" u="none" cap="none" strike="noStrike">
              <a:solidFill>
                <a:schemeClr val="dk1"/>
              </a:solidFill>
              <a:latin typeface="Arial"/>
              <a:ea typeface="Arial"/>
              <a:cs typeface="Arial"/>
              <a:sym typeface="Arial"/>
            </a:endParaRPr>
          </a:p>
        </p:txBody>
      </p:sp>
      <p:sp>
        <p:nvSpPr>
          <p:cNvPr id="343" name="Google Shape;343;p16"/>
          <p:cNvSpPr/>
          <p:nvPr/>
        </p:nvSpPr>
        <p:spPr>
          <a:xfrm>
            <a:off x="8549640" y="2852928"/>
            <a:ext cx="2935224" cy="621792"/>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6"/>
          <p:cNvSpPr txBox="1"/>
          <p:nvPr/>
        </p:nvSpPr>
        <p:spPr>
          <a:xfrm>
            <a:off x="8705088" y="2990088"/>
            <a:ext cx="2624328"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20"/>
              <a:buFont typeface="Arial"/>
              <a:buNone/>
            </a:pPr>
            <a:r>
              <a:rPr b="0" i="0" lang="en-US" sz="1420" u="none" cap="none" strike="noStrike">
                <a:solidFill>
                  <a:srgbClr val="102333"/>
                </a:solidFill>
                <a:latin typeface="Arial"/>
                <a:ea typeface="Arial"/>
                <a:cs typeface="Arial"/>
                <a:sym typeface="Arial"/>
              </a:rPr>
              <a:t>Trigger 5 menit</a:t>
            </a:r>
            <a:endParaRPr b="0" i="0" sz="1420" u="none" cap="none" strike="noStrike">
              <a:solidFill>
                <a:schemeClr val="dk1"/>
              </a:solidFill>
              <a:latin typeface="Arial"/>
              <a:ea typeface="Arial"/>
              <a:cs typeface="Arial"/>
              <a:sym typeface="Arial"/>
            </a:endParaRPr>
          </a:p>
        </p:txBody>
      </p:sp>
      <p:sp>
        <p:nvSpPr>
          <p:cNvPr id="345" name="Google Shape;345;p16"/>
          <p:cNvSpPr/>
          <p:nvPr/>
        </p:nvSpPr>
        <p:spPr>
          <a:xfrm>
            <a:off x="658368" y="3502152"/>
            <a:ext cx="2075688" cy="621792"/>
          </a:xfrm>
          <a:prstGeom prst="rect">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6"/>
          <p:cNvSpPr txBox="1"/>
          <p:nvPr/>
        </p:nvSpPr>
        <p:spPr>
          <a:xfrm>
            <a:off x="813816" y="3639312"/>
            <a:ext cx="1764792"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1420"/>
              <a:buFont typeface="Arial"/>
              <a:buNone/>
            </a:pPr>
            <a:r>
              <a:rPr b="1" i="0" lang="en-US" sz="1420" u="none" cap="none" strike="noStrike">
                <a:solidFill>
                  <a:srgbClr val="0C1E2C"/>
                </a:solidFill>
                <a:latin typeface="Arial"/>
                <a:ea typeface="Arial"/>
                <a:cs typeface="Arial"/>
                <a:sym typeface="Arial"/>
              </a:rPr>
              <a:t>Runtime latihan</a:t>
            </a:r>
            <a:endParaRPr b="0" i="0" sz="1420" u="none" cap="none" strike="noStrike">
              <a:solidFill>
                <a:schemeClr val="dk1"/>
              </a:solidFill>
              <a:latin typeface="Arial"/>
              <a:ea typeface="Arial"/>
              <a:cs typeface="Arial"/>
              <a:sym typeface="Arial"/>
            </a:endParaRPr>
          </a:p>
        </p:txBody>
      </p:sp>
      <p:sp>
        <p:nvSpPr>
          <p:cNvPr id="347" name="Google Shape;347;p16"/>
          <p:cNvSpPr/>
          <p:nvPr/>
        </p:nvSpPr>
        <p:spPr>
          <a:xfrm>
            <a:off x="2788920" y="3502152"/>
            <a:ext cx="2816352" cy="621792"/>
          </a:xfrm>
          <a:prstGeom prst="rect">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6"/>
          <p:cNvSpPr txBox="1"/>
          <p:nvPr/>
        </p:nvSpPr>
        <p:spPr>
          <a:xfrm>
            <a:off x="2944368" y="3639312"/>
            <a:ext cx="250545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20"/>
              <a:buFont typeface="Arial"/>
              <a:buNone/>
            </a:pPr>
            <a:r>
              <a:rPr b="0" i="0" lang="en-US" sz="1420" u="none" cap="none" strike="noStrike">
                <a:solidFill>
                  <a:srgbClr val="102333"/>
                </a:solidFill>
                <a:latin typeface="Arial"/>
                <a:ea typeface="Arial"/>
                <a:cs typeface="Arial"/>
                <a:sym typeface="Arial"/>
              </a:rPr>
              <a:t>Webserver + daemon</a:t>
            </a:r>
            <a:endParaRPr b="0" i="0" sz="1420" u="none" cap="none" strike="noStrike">
              <a:solidFill>
                <a:schemeClr val="dk1"/>
              </a:solidFill>
              <a:latin typeface="Arial"/>
              <a:ea typeface="Arial"/>
              <a:cs typeface="Arial"/>
              <a:sym typeface="Arial"/>
            </a:endParaRPr>
          </a:p>
        </p:txBody>
      </p:sp>
      <p:sp>
        <p:nvSpPr>
          <p:cNvPr id="349" name="Google Shape;349;p16"/>
          <p:cNvSpPr/>
          <p:nvPr/>
        </p:nvSpPr>
        <p:spPr>
          <a:xfrm>
            <a:off x="5669280" y="3502152"/>
            <a:ext cx="2816352" cy="621792"/>
          </a:xfrm>
          <a:prstGeom prst="rect">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6"/>
          <p:cNvSpPr txBox="1"/>
          <p:nvPr/>
        </p:nvSpPr>
        <p:spPr>
          <a:xfrm>
            <a:off x="5824728" y="3639312"/>
            <a:ext cx="250545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20"/>
              <a:buFont typeface="Arial"/>
              <a:buNone/>
            </a:pPr>
            <a:r>
              <a:rPr b="0" i="0" lang="en-US" sz="1420" u="none" cap="none" strike="noStrike">
                <a:solidFill>
                  <a:srgbClr val="102333"/>
                </a:solidFill>
                <a:latin typeface="Arial"/>
                <a:ea typeface="Arial"/>
                <a:cs typeface="Arial"/>
                <a:sym typeface="Arial"/>
              </a:rPr>
              <a:t>Server + flow serve</a:t>
            </a:r>
            <a:endParaRPr b="0" i="0" sz="1420" u="none" cap="none" strike="noStrike">
              <a:solidFill>
                <a:schemeClr val="dk1"/>
              </a:solidFill>
              <a:latin typeface="Arial"/>
              <a:ea typeface="Arial"/>
              <a:cs typeface="Arial"/>
              <a:sym typeface="Arial"/>
            </a:endParaRPr>
          </a:p>
        </p:txBody>
      </p:sp>
      <p:sp>
        <p:nvSpPr>
          <p:cNvPr id="351" name="Google Shape;351;p16"/>
          <p:cNvSpPr/>
          <p:nvPr/>
        </p:nvSpPr>
        <p:spPr>
          <a:xfrm>
            <a:off x="8549640" y="3502152"/>
            <a:ext cx="2935224" cy="621792"/>
          </a:xfrm>
          <a:prstGeom prst="rect">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6"/>
          <p:cNvSpPr txBox="1"/>
          <p:nvPr/>
        </p:nvSpPr>
        <p:spPr>
          <a:xfrm>
            <a:off x="8705088" y="3639312"/>
            <a:ext cx="2624328"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20"/>
              <a:buFont typeface="Arial"/>
              <a:buNone/>
            </a:pPr>
            <a:r>
              <a:rPr b="0" i="0" lang="en-US" sz="1420" u="none" cap="none" strike="noStrike">
                <a:solidFill>
                  <a:srgbClr val="102333"/>
                </a:solidFill>
                <a:latin typeface="Arial"/>
                <a:ea typeface="Arial"/>
                <a:cs typeface="Arial"/>
                <a:sym typeface="Arial"/>
              </a:rPr>
              <a:t>Server + Docker runner</a:t>
            </a:r>
            <a:endParaRPr b="0" i="0" sz="1420" u="none" cap="none" strike="noStrike">
              <a:solidFill>
                <a:schemeClr val="dk1"/>
              </a:solidFill>
              <a:latin typeface="Arial"/>
              <a:ea typeface="Arial"/>
              <a:cs typeface="Arial"/>
              <a:sym typeface="Arial"/>
            </a:endParaRPr>
          </a:p>
        </p:txBody>
      </p:sp>
      <p:sp>
        <p:nvSpPr>
          <p:cNvPr id="353" name="Google Shape;353;p16"/>
          <p:cNvSpPr/>
          <p:nvPr/>
        </p:nvSpPr>
        <p:spPr>
          <a:xfrm>
            <a:off x="658368" y="4151376"/>
            <a:ext cx="2075688" cy="621792"/>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6"/>
          <p:cNvSpPr txBox="1"/>
          <p:nvPr/>
        </p:nvSpPr>
        <p:spPr>
          <a:xfrm>
            <a:off x="813816" y="4288536"/>
            <a:ext cx="1764792"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1420"/>
              <a:buFont typeface="Arial"/>
              <a:buNone/>
            </a:pPr>
            <a:r>
              <a:rPr b="1" i="0" lang="en-US" sz="1420" u="none" cap="none" strike="noStrike">
                <a:solidFill>
                  <a:srgbClr val="0C1E2C"/>
                </a:solidFill>
                <a:latin typeface="Arial"/>
                <a:ea typeface="Arial"/>
                <a:cs typeface="Arial"/>
                <a:sym typeface="Arial"/>
              </a:rPr>
              <a:t>UI lokal</a:t>
            </a:r>
            <a:endParaRPr b="0" i="0" sz="1420" u="none" cap="none" strike="noStrike">
              <a:solidFill>
                <a:schemeClr val="dk1"/>
              </a:solidFill>
              <a:latin typeface="Arial"/>
              <a:ea typeface="Arial"/>
              <a:cs typeface="Arial"/>
              <a:sym typeface="Arial"/>
            </a:endParaRPr>
          </a:p>
        </p:txBody>
      </p:sp>
      <p:sp>
        <p:nvSpPr>
          <p:cNvPr id="355" name="Google Shape;355;p16"/>
          <p:cNvSpPr/>
          <p:nvPr/>
        </p:nvSpPr>
        <p:spPr>
          <a:xfrm>
            <a:off x="2788920" y="4151376"/>
            <a:ext cx="2816352" cy="621792"/>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6"/>
          <p:cNvSpPr txBox="1"/>
          <p:nvPr/>
        </p:nvSpPr>
        <p:spPr>
          <a:xfrm>
            <a:off x="2944368" y="4288536"/>
            <a:ext cx="250545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20"/>
              <a:buFont typeface="Arial"/>
              <a:buNone/>
            </a:pPr>
            <a:r>
              <a:rPr b="0" i="0" lang="en-US" sz="1420" u="none" cap="none" strike="noStrike">
                <a:solidFill>
                  <a:srgbClr val="102333"/>
                </a:solidFill>
                <a:latin typeface="Arial"/>
                <a:ea typeface="Arial"/>
                <a:cs typeface="Arial"/>
                <a:sym typeface="Arial"/>
              </a:rPr>
              <a:t>localhost:3000</a:t>
            </a:r>
            <a:endParaRPr b="0" i="0" sz="1420" u="none" cap="none" strike="noStrike">
              <a:solidFill>
                <a:schemeClr val="dk1"/>
              </a:solidFill>
              <a:latin typeface="Arial"/>
              <a:ea typeface="Arial"/>
              <a:cs typeface="Arial"/>
              <a:sym typeface="Arial"/>
            </a:endParaRPr>
          </a:p>
        </p:txBody>
      </p:sp>
      <p:sp>
        <p:nvSpPr>
          <p:cNvPr id="357" name="Google Shape;357;p16"/>
          <p:cNvSpPr/>
          <p:nvPr/>
        </p:nvSpPr>
        <p:spPr>
          <a:xfrm>
            <a:off x="5669280" y="4151376"/>
            <a:ext cx="2816352" cy="621792"/>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6"/>
          <p:cNvSpPr txBox="1"/>
          <p:nvPr/>
        </p:nvSpPr>
        <p:spPr>
          <a:xfrm>
            <a:off x="5824728" y="4288536"/>
            <a:ext cx="250545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20"/>
              <a:buFont typeface="Arial"/>
              <a:buNone/>
            </a:pPr>
            <a:r>
              <a:rPr b="0" i="0" lang="en-US" sz="1420" u="none" cap="none" strike="noStrike">
                <a:solidFill>
                  <a:srgbClr val="102333"/>
                </a:solidFill>
                <a:latin typeface="Arial"/>
                <a:ea typeface="Arial"/>
                <a:cs typeface="Arial"/>
                <a:sym typeface="Arial"/>
              </a:rPr>
              <a:t>localhost:4200</a:t>
            </a:r>
            <a:endParaRPr b="0" i="0" sz="1420" u="none" cap="none" strike="noStrike">
              <a:solidFill>
                <a:schemeClr val="dk1"/>
              </a:solidFill>
              <a:latin typeface="Arial"/>
              <a:ea typeface="Arial"/>
              <a:cs typeface="Arial"/>
              <a:sym typeface="Arial"/>
            </a:endParaRPr>
          </a:p>
        </p:txBody>
      </p:sp>
      <p:sp>
        <p:nvSpPr>
          <p:cNvPr id="359" name="Google Shape;359;p16"/>
          <p:cNvSpPr/>
          <p:nvPr/>
        </p:nvSpPr>
        <p:spPr>
          <a:xfrm>
            <a:off x="8549640" y="4151376"/>
            <a:ext cx="2935224" cy="621792"/>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6"/>
          <p:cNvSpPr txBox="1"/>
          <p:nvPr/>
        </p:nvSpPr>
        <p:spPr>
          <a:xfrm>
            <a:off x="8705088" y="4288536"/>
            <a:ext cx="2624328"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20"/>
              <a:buFont typeface="Arial"/>
              <a:buNone/>
            </a:pPr>
            <a:r>
              <a:rPr b="0" i="0" lang="en-US" sz="1420" u="none" cap="none" strike="noStrike">
                <a:solidFill>
                  <a:srgbClr val="102333"/>
                </a:solidFill>
                <a:latin typeface="Arial"/>
                <a:ea typeface="Arial"/>
                <a:cs typeface="Arial"/>
                <a:sym typeface="Arial"/>
              </a:rPr>
              <a:t>localhost:8080</a:t>
            </a:r>
            <a:endParaRPr b="0" i="0" sz="1420" u="none" cap="none" strike="noStrike">
              <a:solidFill>
                <a:schemeClr val="dk1"/>
              </a:solidFill>
              <a:latin typeface="Arial"/>
              <a:ea typeface="Arial"/>
              <a:cs typeface="Arial"/>
              <a:sym typeface="Arial"/>
            </a:endParaRPr>
          </a:p>
        </p:txBody>
      </p:sp>
      <p:sp>
        <p:nvSpPr>
          <p:cNvPr id="361" name="Google Shape;361;p16"/>
          <p:cNvSpPr/>
          <p:nvPr/>
        </p:nvSpPr>
        <p:spPr>
          <a:xfrm>
            <a:off x="658368" y="4800600"/>
            <a:ext cx="2075688" cy="621792"/>
          </a:xfrm>
          <a:prstGeom prst="rect">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6"/>
          <p:cNvSpPr txBox="1"/>
          <p:nvPr/>
        </p:nvSpPr>
        <p:spPr>
          <a:xfrm>
            <a:off x="813816" y="4937760"/>
            <a:ext cx="1764792"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1420"/>
              <a:buFont typeface="Arial"/>
              <a:buNone/>
            </a:pPr>
            <a:r>
              <a:rPr b="1" i="0" lang="en-US" sz="1420" u="none" cap="none" strike="noStrike">
                <a:solidFill>
                  <a:srgbClr val="0C1E2C"/>
                </a:solidFill>
                <a:latin typeface="Arial"/>
                <a:ea typeface="Arial"/>
                <a:cs typeface="Arial"/>
                <a:sym typeface="Arial"/>
              </a:rPr>
              <a:t>Run manual</a:t>
            </a:r>
            <a:endParaRPr b="0" i="0" sz="1420" u="none" cap="none" strike="noStrike">
              <a:solidFill>
                <a:schemeClr val="dk1"/>
              </a:solidFill>
              <a:latin typeface="Arial"/>
              <a:ea typeface="Arial"/>
              <a:cs typeface="Arial"/>
              <a:sym typeface="Arial"/>
            </a:endParaRPr>
          </a:p>
        </p:txBody>
      </p:sp>
      <p:sp>
        <p:nvSpPr>
          <p:cNvPr id="363" name="Google Shape;363;p16"/>
          <p:cNvSpPr/>
          <p:nvPr/>
        </p:nvSpPr>
        <p:spPr>
          <a:xfrm>
            <a:off x="2788920" y="4800600"/>
            <a:ext cx="2816352" cy="621792"/>
          </a:xfrm>
          <a:prstGeom prst="rect">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6"/>
          <p:cNvSpPr txBox="1"/>
          <p:nvPr/>
        </p:nvSpPr>
        <p:spPr>
          <a:xfrm>
            <a:off x="2944368" y="4937760"/>
            <a:ext cx="250545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20"/>
              <a:buFont typeface="Arial"/>
              <a:buNone/>
            </a:pPr>
            <a:r>
              <a:rPr b="0" i="0" lang="en-US" sz="1420" u="none" cap="none" strike="noStrike">
                <a:solidFill>
                  <a:srgbClr val="102333"/>
                </a:solidFill>
                <a:latin typeface="Arial"/>
                <a:ea typeface="Arial"/>
                <a:cs typeface="Arial"/>
                <a:sym typeface="Arial"/>
              </a:rPr>
              <a:t>Materialize asset</a:t>
            </a:r>
            <a:endParaRPr b="0" i="0" sz="1420" u="none" cap="none" strike="noStrike">
              <a:solidFill>
                <a:schemeClr val="dk1"/>
              </a:solidFill>
              <a:latin typeface="Arial"/>
              <a:ea typeface="Arial"/>
              <a:cs typeface="Arial"/>
              <a:sym typeface="Arial"/>
            </a:endParaRPr>
          </a:p>
        </p:txBody>
      </p:sp>
      <p:sp>
        <p:nvSpPr>
          <p:cNvPr id="365" name="Google Shape;365;p16"/>
          <p:cNvSpPr/>
          <p:nvPr/>
        </p:nvSpPr>
        <p:spPr>
          <a:xfrm>
            <a:off x="5669280" y="4800600"/>
            <a:ext cx="2816352" cy="621792"/>
          </a:xfrm>
          <a:prstGeom prst="rect">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6"/>
          <p:cNvSpPr txBox="1"/>
          <p:nvPr/>
        </p:nvSpPr>
        <p:spPr>
          <a:xfrm>
            <a:off x="5824728" y="4937760"/>
            <a:ext cx="250545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20"/>
              <a:buFont typeface="Arial"/>
              <a:buNone/>
            </a:pPr>
            <a:r>
              <a:rPr b="0" i="0" lang="en-US" sz="1420" u="none" cap="none" strike="noStrike">
                <a:solidFill>
                  <a:srgbClr val="102333"/>
                </a:solidFill>
                <a:latin typeface="Arial"/>
                <a:ea typeface="Arial"/>
                <a:cs typeface="Arial"/>
                <a:sym typeface="Arial"/>
              </a:rPr>
              <a:t>Run deployment</a:t>
            </a:r>
            <a:endParaRPr b="0" i="0" sz="1420" u="none" cap="none" strike="noStrike">
              <a:solidFill>
                <a:schemeClr val="dk1"/>
              </a:solidFill>
              <a:latin typeface="Arial"/>
              <a:ea typeface="Arial"/>
              <a:cs typeface="Arial"/>
              <a:sym typeface="Arial"/>
            </a:endParaRPr>
          </a:p>
        </p:txBody>
      </p:sp>
      <p:sp>
        <p:nvSpPr>
          <p:cNvPr id="367" name="Google Shape;367;p16"/>
          <p:cNvSpPr/>
          <p:nvPr/>
        </p:nvSpPr>
        <p:spPr>
          <a:xfrm>
            <a:off x="8549640" y="4800600"/>
            <a:ext cx="2935224" cy="621792"/>
          </a:xfrm>
          <a:prstGeom prst="rect">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6"/>
          <p:cNvSpPr txBox="1"/>
          <p:nvPr/>
        </p:nvSpPr>
        <p:spPr>
          <a:xfrm>
            <a:off x="8705088" y="4937760"/>
            <a:ext cx="2624328"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420"/>
              <a:buFont typeface="Arial"/>
              <a:buNone/>
            </a:pPr>
            <a:r>
              <a:rPr b="0" i="0" lang="en-US" sz="1420" u="none" cap="none" strike="noStrike">
                <a:solidFill>
                  <a:srgbClr val="102333"/>
                </a:solidFill>
                <a:latin typeface="Arial"/>
                <a:ea typeface="Arial"/>
                <a:cs typeface="Arial"/>
                <a:sym typeface="Arial"/>
              </a:rPr>
              <a:t>Execute flow</a:t>
            </a:r>
            <a:endParaRPr b="0" i="0" sz="1420" u="none" cap="none" strike="noStrike">
              <a:solidFill>
                <a:schemeClr val="dk1"/>
              </a:solidFill>
              <a:latin typeface="Arial"/>
              <a:ea typeface="Arial"/>
              <a:cs typeface="Arial"/>
              <a:sym typeface="Arial"/>
            </a:endParaRPr>
          </a:p>
        </p:txBody>
      </p:sp>
      <p:sp>
        <p:nvSpPr>
          <p:cNvPr id="369" name="Google Shape;369;p16"/>
          <p:cNvSpPr txBox="1"/>
          <p:nvPr/>
        </p:nvSpPr>
        <p:spPr>
          <a:xfrm>
            <a:off x="832104" y="5852160"/>
            <a:ext cx="106070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7A4"/>
              </a:buClr>
              <a:buSzPts val="1700"/>
              <a:buFont typeface="Arial"/>
              <a:buNone/>
            </a:pPr>
            <a:r>
              <a:rPr b="1" i="0" lang="en-US" sz="1700" u="none" cap="none" strike="noStrike">
                <a:solidFill>
                  <a:srgbClr val="00A7A4"/>
                </a:solidFill>
                <a:latin typeface="Arial"/>
                <a:ea typeface="Arial"/>
                <a:cs typeface="Arial"/>
                <a:sym typeface="Arial"/>
              </a:rPr>
              <a:t>Semua memanggil pertemuan-5/run_pipeline.sh dan harus menghasilkan datamart yang sama.</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4" name="Shape 374"/>
        <p:cNvGrpSpPr/>
        <p:nvPr/>
      </p:nvGrpSpPr>
      <p:grpSpPr>
        <a:xfrm>
          <a:off x="0" y="0"/>
          <a:ext cx="0" cy="0"/>
          <a:chOff x="0" y="0"/>
          <a:chExt cx="0" cy="0"/>
        </a:xfrm>
      </p:grpSpPr>
      <p:sp>
        <p:nvSpPr>
          <p:cNvPr id="375" name="Google Shape;375;p17"/>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Demo 1: siapkan pipeline dasar</a:t>
            </a:r>
            <a:endParaRPr b="0" i="0" sz="3000" u="none" cap="none" strike="noStrike">
              <a:solidFill>
                <a:schemeClr val="dk1"/>
              </a:solidFill>
              <a:latin typeface="Arial"/>
              <a:ea typeface="Arial"/>
              <a:cs typeface="Arial"/>
              <a:sym typeface="Arial"/>
            </a:endParaRPr>
          </a:p>
        </p:txBody>
      </p:sp>
      <p:sp>
        <p:nvSpPr>
          <p:cNvPr id="376" name="Google Shape;376;p17"/>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Mulai dari sumber dan target data Pertemuan 5 sebelum membuka orchestrator.</a:t>
            </a:r>
            <a:endParaRPr b="0" i="0" sz="1500" u="none" cap="none" strike="noStrike">
              <a:solidFill>
                <a:schemeClr val="dk1"/>
              </a:solidFill>
              <a:latin typeface="Arial"/>
              <a:ea typeface="Arial"/>
              <a:cs typeface="Arial"/>
              <a:sym typeface="Arial"/>
            </a:endParaRPr>
          </a:p>
        </p:txBody>
      </p:sp>
      <p:sp>
        <p:nvSpPr>
          <p:cNvPr id="377" name="Google Shape;377;p17"/>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378" name="Google Shape;378;p17"/>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14</a:t>
            </a:r>
            <a:endParaRPr b="0" i="0" sz="1000" u="none" cap="none" strike="noStrike">
              <a:solidFill>
                <a:schemeClr val="dk1"/>
              </a:solidFill>
              <a:latin typeface="Arial"/>
              <a:ea typeface="Arial"/>
              <a:cs typeface="Arial"/>
              <a:sym typeface="Arial"/>
            </a:endParaRPr>
          </a:p>
        </p:txBody>
      </p:sp>
      <p:sp>
        <p:nvSpPr>
          <p:cNvPr id="379" name="Google Shape;379;p17"/>
          <p:cNvSpPr/>
          <p:nvPr/>
        </p:nvSpPr>
        <p:spPr>
          <a:xfrm>
            <a:off x="731520" y="1691640"/>
            <a:ext cx="621792" cy="621792"/>
          </a:xfrm>
          <a:prstGeom prst="ellipse">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7"/>
          <p:cNvSpPr txBox="1"/>
          <p:nvPr/>
        </p:nvSpPr>
        <p:spPr>
          <a:xfrm>
            <a:off x="731520" y="1847088"/>
            <a:ext cx="621792"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1</a:t>
            </a:r>
            <a:endParaRPr b="0" i="0" sz="1800" u="none" cap="none" strike="noStrike">
              <a:solidFill>
                <a:schemeClr val="dk1"/>
              </a:solidFill>
              <a:latin typeface="Arial"/>
              <a:ea typeface="Arial"/>
              <a:cs typeface="Arial"/>
              <a:sym typeface="Arial"/>
            </a:endParaRPr>
          </a:p>
        </p:txBody>
      </p:sp>
      <p:sp>
        <p:nvSpPr>
          <p:cNvPr id="381" name="Google Shape;381;p17"/>
          <p:cNvSpPr txBox="1"/>
          <p:nvPr/>
        </p:nvSpPr>
        <p:spPr>
          <a:xfrm>
            <a:off x="1591056" y="1609344"/>
            <a:ext cx="4023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2200"/>
              <a:buFont typeface="Arial"/>
              <a:buNone/>
            </a:pPr>
            <a:r>
              <a:rPr b="1" i="0" lang="en-US" sz="2200" u="none" cap="none" strike="noStrike">
                <a:solidFill>
                  <a:srgbClr val="0C1E2C"/>
                </a:solidFill>
                <a:latin typeface="Arial"/>
                <a:ea typeface="Arial"/>
                <a:cs typeface="Arial"/>
                <a:sym typeface="Arial"/>
              </a:rPr>
              <a:t>Nyalakan database</a:t>
            </a:r>
            <a:endParaRPr b="0" i="0" sz="2200" u="none" cap="none" strike="noStrike">
              <a:solidFill>
                <a:schemeClr val="dk1"/>
              </a:solidFill>
              <a:latin typeface="Arial"/>
              <a:ea typeface="Arial"/>
              <a:cs typeface="Arial"/>
              <a:sym typeface="Arial"/>
            </a:endParaRPr>
          </a:p>
        </p:txBody>
      </p:sp>
      <p:sp>
        <p:nvSpPr>
          <p:cNvPr id="382" name="Google Shape;382;p17"/>
          <p:cNvSpPr/>
          <p:nvPr/>
        </p:nvSpPr>
        <p:spPr>
          <a:xfrm>
            <a:off x="1572768" y="2084832"/>
            <a:ext cx="9802368" cy="512064"/>
          </a:xfrm>
          <a:prstGeom prst="roundRect">
            <a:avLst>
              <a:gd fmla="val 17857" name="adj"/>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7"/>
          <p:cNvSpPr txBox="1"/>
          <p:nvPr/>
        </p:nvSpPr>
        <p:spPr>
          <a:xfrm>
            <a:off x="1810512" y="2194560"/>
            <a:ext cx="932688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600"/>
              <a:buFont typeface="Courier New"/>
              <a:buNone/>
            </a:pPr>
            <a:r>
              <a:rPr b="0" i="0" lang="en-US" sz="1600" u="none" cap="none" strike="noStrike">
                <a:solidFill>
                  <a:srgbClr val="102333"/>
                </a:solidFill>
                <a:latin typeface="Courier New"/>
                <a:ea typeface="Courier New"/>
                <a:cs typeface="Courier New"/>
                <a:sym typeface="Courier New"/>
              </a:rPr>
              <a:t>docker compose -f pertemuan-5/docker-compose.yml up -d</a:t>
            </a:r>
            <a:endParaRPr b="0" i="0" sz="1600" u="none" cap="none" strike="noStrike">
              <a:solidFill>
                <a:schemeClr val="dk1"/>
              </a:solidFill>
              <a:latin typeface="Arial"/>
              <a:ea typeface="Arial"/>
              <a:cs typeface="Arial"/>
              <a:sym typeface="Arial"/>
            </a:endParaRPr>
          </a:p>
        </p:txBody>
      </p:sp>
      <p:sp>
        <p:nvSpPr>
          <p:cNvPr id="384" name="Google Shape;384;p17"/>
          <p:cNvSpPr/>
          <p:nvPr/>
        </p:nvSpPr>
        <p:spPr>
          <a:xfrm>
            <a:off x="731520" y="3026664"/>
            <a:ext cx="621792" cy="621792"/>
          </a:xfrm>
          <a:prstGeom prst="ellipse">
            <a:avLst/>
          </a:prstGeom>
          <a:solidFill>
            <a:srgbClr val="2563A6"/>
          </a:solidFill>
          <a:ln cap="flat" cmpd="sng" w="12700">
            <a:solidFill>
              <a:srgbClr val="2563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7"/>
          <p:cNvSpPr txBox="1"/>
          <p:nvPr/>
        </p:nvSpPr>
        <p:spPr>
          <a:xfrm>
            <a:off x="731520" y="3182112"/>
            <a:ext cx="621792"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2</a:t>
            </a:r>
            <a:endParaRPr b="0" i="0" sz="1800" u="none" cap="none" strike="noStrike">
              <a:solidFill>
                <a:schemeClr val="dk1"/>
              </a:solidFill>
              <a:latin typeface="Arial"/>
              <a:ea typeface="Arial"/>
              <a:cs typeface="Arial"/>
              <a:sym typeface="Arial"/>
            </a:endParaRPr>
          </a:p>
        </p:txBody>
      </p:sp>
      <p:sp>
        <p:nvSpPr>
          <p:cNvPr id="386" name="Google Shape;386;p17"/>
          <p:cNvSpPr txBox="1"/>
          <p:nvPr/>
        </p:nvSpPr>
        <p:spPr>
          <a:xfrm>
            <a:off x="1591056" y="2944368"/>
            <a:ext cx="4023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2200"/>
              <a:buFont typeface="Arial"/>
              <a:buNone/>
            </a:pPr>
            <a:r>
              <a:rPr b="1" i="0" lang="en-US" sz="2200" u="none" cap="none" strike="noStrike">
                <a:solidFill>
                  <a:srgbClr val="0C1E2C"/>
                </a:solidFill>
                <a:latin typeface="Arial"/>
                <a:ea typeface="Arial"/>
                <a:cs typeface="Arial"/>
                <a:sym typeface="Arial"/>
              </a:rPr>
              <a:t>Jalankan pipeline sekali</a:t>
            </a:r>
            <a:endParaRPr b="0" i="0" sz="2200" u="none" cap="none" strike="noStrike">
              <a:solidFill>
                <a:schemeClr val="dk1"/>
              </a:solidFill>
              <a:latin typeface="Arial"/>
              <a:ea typeface="Arial"/>
              <a:cs typeface="Arial"/>
              <a:sym typeface="Arial"/>
            </a:endParaRPr>
          </a:p>
        </p:txBody>
      </p:sp>
      <p:sp>
        <p:nvSpPr>
          <p:cNvPr id="387" name="Google Shape;387;p17"/>
          <p:cNvSpPr/>
          <p:nvPr/>
        </p:nvSpPr>
        <p:spPr>
          <a:xfrm>
            <a:off x="1572768" y="3419856"/>
            <a:ext cx="9802368" cy="512064"/>
          </a:xfrm>
          <a:prstGeom prst="roundRect">
            <a:avLst>
              <a:gd fmla="val 17857" name="adj"/>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7"/>
          <p:cNvSpPr txBox="1"/>
          <p:nvPr/>
        </p:nvSpPr>
        <p:spPr>
          <a:xfrm>
            <a:off x="1810512" y="3529584"/>
            <a:ext cx="932688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600"/>
              <a:buFont typeface="Courier New"/>
              <a:buNone/>
            </a:pPr>
            <a:r>
              <a:rPr b="0" i="0" lang="en-US" sz="1600" u="none" cap="none" strike="noStrike">
                <a:solidFill>
                  <a:srgbClr val="102333"/>
                </a:solidFill>
                <a:latin typeface="Courier New"/>
                <a:ea typeface="Courier New"/>
                <a:cs typeface="Courier New"/>
                <a:sym typeface="Courier New"/>
              </a:rPr>
              <a:t>bash pertemuan-5/run_pipeline.sh</a:t>
            </a:r>
            <a:endParaRPr b="0" i="0" sz="1600" u="none" cap="none" strike="noStrike">
              <a:solidFill>
                <a:schemeClr val="dk1"/>
              </a:solidFill>
              <a:latin typeface="Arial"/>
              <a:ea typeface="Arial"/>
              <a:cs typeface="Arial"/>
              <a:sym typeface="Arial"/>
            </a:endParaRPr>
          </a:p>
        </p:txBody>
      </p:sp>
      <p:sp>
        <p:nvSpPr>
          <p:cNvPr id="389" name="Google Shape;389;p17"/>
          <p:cNvSpPr/>
          <p:nvPr/>
        </p:nvSpPr>
        <p:spPr>
          <a:xfrm>
            <a:off x="731520" y="4361688"/>
            <a:ext cx="621792" cy="621792"/>
          </a:xfrm>
          <a:prstGeom prst="ellipse">
            <a:avLst/>
          </a:prstGeom>
          <a:solidFill>
            <a:srgbClr val="FA6A60"/>
          </a:solidFill>
          <a:ln cap="flat" cmpd="sng" w="12700">
            <a:solidFill>
              <a:srgbClr val="FA6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7"/>
          <p:cNvSpPr txBox="1"/>
          <p:nvPr/>
        </p:nvSpPr>
        <p:spPr>
          <a:xfrm>
            <a:off x="731520" y="4517136"/>
            <a:ext cx="621792"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
        <p:nvSpPr>
          <p:cNvPr id="391" name="Google Shape;391;p17"/>
          <p:cNvSpPr txBox="1"/>
          <p:nvPr/>
        </p:nvSpPr>
        <p:spPr>
          <a:xfrm>
            <a:off x="1591056" y="4279392"/>
            <a:ext cx="4023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2200"/>
              <a:buFont typeface="Arial"/>
              <a:buNone/>
            </a:pPr>
            <a:r>
              <a:rPr b="1" i="0" lang="en-US" sz="2200" u="none" cap="none" strike="noStrike">
                <a:solidFill>
                  <a:srgbClr val="0C1E2C"/>
                </a:solidFill>
                <a:latin typeface="Arial"/>
                <a:ea typeface="Arial"/>
                <a:cs typeface="Arial"/>
                <a:sym typeface="Arial"/>
              </a:rPr>
              <a:t>Cek hasil akhir</a:t>
            </a:r>
            <a:endParaRPr b="0" i="0" sz="2200" u="none" cap="none" strike="noStrike">
              <a:solidFill>
                <a:schemeClr val="dk1"/>
              </a:solidFill>
              <a:latin typeface="Arial"/>
              <a:ea typeface="Arial"/>
              <a:cs typeface="Arial"/>
              <a:sym typeface="Arial"/>
            </a:endParaRPr>
          </a:p>
        </p:txBody>
      </p:sp>
      <p:sp>
        <p:nvSpPr>
          <p:cNvPr id="392" name="Google Shape;392;p17"/>
          <p:cNvSpPr/>
          <p:nvPr/>
        </p:nvSpPr>
        <p:spPr>
          <a:xfrm>
            <a:off x="1572768" y="4754880"/>
            <a:ext cx="9802368" cy="512064"/>
          </a:xfrm>
          <a:prstGeom prst="roundRect">
            <a:avLst>
              <a:gd fmla="val 17857" name="adj"/>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7"/>
          <p:cNvSpPr txBox="1"/>
          <p:nvPr/>
        </p:nvSpPr>
        <p:spPr>
          <a:xfrm>
            <a:off x="1810512" y="4864608"/>
            <a:ext cx="932688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700"/>
              <a:buFont typeface="Courier New"/>
              <a:buNone/>
            </a:pPr>
            <a:r>
              <a:rPr b="0" i="0" lang="en-US" sz="1700" u="none" cap="none" strike="noStrike">
                <a:solidFill>
                  <a:srgbClr val="102333"/>
                </a:solidFill>
                <a:latin typeface="Courier New"/>
                <a:ea typeface="Courier New"/>
                <a:cs typeface="Courier New"/>
                <a:sym typeface="Courier New"/>
              </a:rPr>
              <a:t>SELECT count() FROM datamart.mart_daily_orders</a:t>
            </a:r>
            <a:endParaRPr b="0" i="0" sz="1700" u="none" cap="none" strike="noStrike">
              <a:solidFill>
                <a:schemeClr val="dk1"/>
              </a:solidFill>
              <a:latin typeface="Arial"/>
              <a:ea typeface="Arial"/>
              <a:cs typeface="Arial"/>
              <a:sym typeface="Arial"/>
            </a:endParaRPr>
          </a:p>
        </p:txBody>
      </p:sp>
      <p:sp>
        <p:nvSpPr>
          <p:cNvPr id="394" name="Google Shape;394;p17"/>
          <p:cNvSpPr/>
          <p:nvPr/>
        </p:nvSpPr>
        <p:spPr>
          <a:xfrm>
            <a:off x="3099816" y="5815584"/>
            <a:ext cx="5998464" cy="338328"/>
          </a:xfrm>
          <a:prstGeom prst="roundRect">
            <a:avLst>
              <a:gd fmla="val 40541" name="adj"/>
            </a:avLst>
          </a:prstGeom>
          <a:solidFill>
            <a:srgbClr val="E3F5EA"/>
          </a:solidFill>
          <a:ln cap="flat" cmpd="sng" w="12700">
            <a:solidFill>
              <a:srgbClr val="E3F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7"/>
          <p:cNvSpPr txBox="1"/>
          <p:nvPr/>
        </p:nvSpPr>
        <p:spPr>
          <a:xfrm>
            <a:off x="3191256" y="5865876"/>
            <a:ext cx="581558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865D"/>
              </a:buClr>
              <a:buSzPts val="1500"/>
              <a:buFont typeface="Arial"/>
              <a:buNone/>
            </a:pPr>
            <a:r>
              <a:rPr b="1" i="0" lang="en-US" sz="1500" u="none" cap="none" strike="noStrike">
                <a:solidFill>
                  <a:srgbClr val="17865D"/>
                </a:solidFill>
                <a:latin typeface="Arial"/>
                <a:ea typeface="Arial"/>
                <a:cs typeface="Arial"/>
                <a:sym typeface="Arial"/>
              </a:rPr>
              <a:t>Hasil verifikasi: jumlah baris &gt; 0</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0" name="Shape 400"/>
        <p:cNvGrpSpPr/>
        <p:nvPr/>
      </p:nvGrpSpPr>
      <p:grpSpPr>
        <a:xfrm>
          <a:off x="0" y="0"/>
          <a:ext cx="0" cy="0"/>
          <a:chOff x="0" y="0"/>
          <a:chExt cx="0" cy="0"/>
        </a:xfrm>
      </p:grpSpPr>
      <p:sp>
        <p:nvSpPr>
          <p:cNvPr id="401" name="Google Shape;401;p18"/>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Demo 2: jalankan satu orchestrator</a:t>
            </a:r>
            <a:endParaRPr b="0" i="0" sz="3000" u="none" cap="none" strike="noStrike">
              <a:solidFill>
                <a:schemeClr val="dk1"/>
              </a:solidFill>
              <a:latin typeface="Arial"/>
              <a:ea typeface="Arial"/>
              <a:cs typeface="Arial"/>
              <a:sym typeface="Arial"/>
            </a:endParaRPr>
          </a:p>
        </p:txBody>
      </p:sp>
      <p:sp>
        <p:nvSpPr>
          <p:cNvPr id="402" name="Google Shape;402;p18"/>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Praktikkan satu tool, baca hasilnya, lalu matikan sebelum berpindah ke tool lain.</a:t>
            </a:r>
            <a:endParaRPr b="0" i="0" sz="1500" u="none" cap="none" strike="noStrike">
              <a:solidFill>
                <a:schemeClr val="dk1"/>
              </a:solidFill>
              <a:latin typeface="Arial"/>
              <a:ea typeface="Arial"/>
              <a:cs typeface="Arial"/>
              <a:sym typeface="Arial"/>
            </a:endParaRPr>
          </a:p>
        </p:txBody>
      </p:sp>
      <p:sp>
        <p:nvSpPr>
          <p:cNvPr id="403" name="Google Shape;403;p18"/>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404" name="Google Shape;404;p18"/>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15</a:t>
            </a:r>
            <a:endParaRPr b="0" i="0" sz="1000" u="none" cap="none" strike="noStrike">
              <a:solidFill>
                <a:schemeClr val="dk1"/>
              </a:solidFill>
              <a:latin typeface="Arial"/>
              <a:ea typeface="Arial"/>
              <a:cs typeface="Arial"/>
              <a:sym typeface="Arial"/>
            </a:endParaRPr>
          </a:p>
        </p:txBody>
      </p:sp>
      <p:sp>
        <p:nvSpPr>
          <p:cNvPr id="405" name="Google Shape;405;p18"/>
          <p:cNvSpPr/>
          <p:nvPr/>
        </p:nvSpPr>
        <p:spPr>
          <a:xfrm>
            <a:off x="676656" y="1627632"/>
            <a:ext cx="3474720" cy="3566160"/>
          </a:xfrm>
          <a:prstGeom prst="roundRect">
            <a:avLst>
              <a:gd fmla="val 2632" name="adj"/>
            </a:avLst>
          </a:prstGeom>
          <a:solidFill>
            <a:srgbClr val="DDF5F3"/>
          </a:solidFill>
          <a:ln cap="flat" cmpd="sng" w="12700">
            <a:solidFill>
              <a:srgbClr val="DDF5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8"/>
          <p:cNvSpPr txBox="1"/>
          <p:nvPr/>
        </p:nvSpPr>
        <p:spPr>
          <a:xfrm>
            <a:off x="914400" y="1901952"/>
            <a:ext cx="2999232"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7A4"/>
              </a:buClr>
              <a:buSzPts val="2300"/>
              <a:buFont typeface="Arial"/>
              <a:buNone/>
            </a:pPr>
            <a:r>
              <a:rPr b="1" i="0" lang="en-US" sz="2300" u="none" cap="none" strike="noStrike">
                <a:solidFill>
                  <a:srgbClr val="00A7A4"/>
                </a:solidFill>
                <a:latin typeface="Arial"/>
                <a:ea typeface="Arial"/>
                <a:cs typeface="Arial"/>
                <a:sym typeface="Arial"/>
              </a:rPr>
              <a:t>Dagster</a:t>
            </a:r>
            <a:endParaRPr b="0" i="0" sz="2300" u="none" cap="none" strike="noStrike">
              <a:solidFill>
                <a:schemeClr val="dk1"/>
              </a:solidFill>
              <a:latin typeface="Arial"/>
              <a:ea typeface="Arial"/>
              <a:cs typeface="Arial"/>
              <a:sym typeface="Arial"/>
            </a:endParaRPr>
          </a:p>
        </p:txBody>
      </p:sp>
      <p:sp>
        <p:nvSpPr>
          <p:cNvPr id="407" name="Google Shape;407;p18"/>
          <p:cNvSpPr txBox="1"/>
          <p:nvPr/>
        </p:nvSpPr>
        <p:spPr>
          <a:xfrm>
            <a:off x="914400" y="2487168"/>
            <a:ext cx="299923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500"/>
              <a:buFont typeface="Courier New"/>
              <a:buNone/>
            </a:pPr>
            <a:r>
              <a:rPr b="0" i="0" lang="en-US" sz="1500" u="none" cap="none" strike="noStrike">
                <a:solidFill>
                  <a:srgbClr val="102333"/>
                </a:solidFill>
                <a:latin typeface="Courier New"/>
                <a:ea typeface="Courier New"/>
                <a:cs typeface="Courier New"/>
                <a:sym typeface="Courier New"/>
              </a:rPr>
              <a:t>localhost:3000</a:t>
            </a:r>
            <a:endParaRPr b="0" i="0" sz="1500" u="none" cap="none" strike="noStrike">
              <a:solidFill>
                <a:schemeClr val="dk1"/>
              </a:solidFill>
              <a:latin typeface="Arial"/>
              <a:ea typeface="Arial"/>
              <a:cs typeface="Arial"/>
              <a:sym typeface="Arial"/>
            </a:endParaRPr>
          </a:p>
        </p:txBody>
      </p:sp>
      <p:sp>
        <p:nvSpPr>
          <p:cNvPr id="408" name="Google Shape;408;p18"/>
          <p:cNvSpPr txBox="1"/>
          <p:nvPr/>
        </p:nvSpPr>
        <p:spPr>
          <a:xfrm>
            <a:off x="914400" y="2971800"/>
            <a:ext cx="2999232" cy="5212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C1E2C"/>
              </a:buClr>
              <a:buSzPts val="2000"/>
              <a:buFont typeface="Arial"/>
              <a:buNone/>
            </a:pPr>
            <a:r>
              <a:rPr b="1" i="0" lang="en-US" sz="2000" u="none" cap="none" strike="noStrike">
                <a:solidFill>
                  <a:srgbClr val="0C1E2C"/>
                </a:solidFill>
                <a:latin typeface="Arial"/>
                <a:ea typeface="Arial"/>
                <a:cs typeface="Arial"/>
                <a:sym typeface="Arial"/>
              </a:rPr>
              <a:t>Assets → Materialize</a:t>
            </a:r>
            <a:endParaRPr b="0" i="0" sz="2000" u="none" cap="none" strike="noStrike">
              <a:solidFill>
                <a:schemeClr val="dk1"/>
              </a:solidFill>
              <a:latin typeface="Arial"/>
              <a:ea typeface="Arial"/>
              <a:cs typeface="Arial"/>
              <a:sym typeface="Arial"/>
            </a:endParaRPr>
          </a:p>
        </p:txBody>
      </p:sp>
      <p:sp>
        <p:nvSpPr>
          <p:cNvPr id="409" name="Google Shape;409;p18"/>
          <p:cNvSpPr/>
          <p:nvPr/>
        </p:nvSpPr>
        <p:spPr>
          <a:xfrm>
            <a:off x="877824" y="3941064"/>
            <a:ext cx="3072384" cy="850392"/>
          </a:xfrm>
          <a:prstGeom prst="roundRect">
            <a:avLst>
              <a:gd fmla="val 10753"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8"/>
          <p:cNvSpPr txBox="1"/>
          <p:nvPr/>
        </p:nvSpPr>
        <p:spPr>
          <a:xfrm>
            <a:off x="1024128" y="4114800"/>
            <a:ext cx="2779776" cy="4937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150"/>
              <a:buFont typeface="Courier New"/>
              <a:buNone/>
            </a:pPr>
            <a:r>
              <a:rPr b="0" i="0" lang="en-US" sz="1150" u="none" cap="none" strike="noStrike">
                <a:solidFill>
                  <a:srgbClr val="526B79"/>
                </a:solidFill>
                <a:latin typeface="Courier New"/>
                <a:ea typeface="Courier New"/>
                <a:cs typeface="Courier New"/>
                <a:sym typeface="Courier New"/>
              </a:rPr>
              <a:t>docker compose -f pertemuan-6/dagster/docker-compose.yml up --build -d</a:t>
            </a:r>
            <a:endParaRPr b="0" i="0" sz="1150" u="none" cap="none" strike="noStrike">
              <a:solidFill>
                <a:schemeClr val="dk1"/>
              </a:solidFill>
              <a:latin typeface="Arial"/>
              <a:ea typeface="Arial"/>
              <a:cs typeface="Arial"/>
              <a:sym typeface="Arial"/>
            </a:endParaRPr>
          </a:p>
        </p:txBody>
      </p:sp>
      <p:sp>
        <p:nvSpPr>
          <p:cNvPr id="411" name="Google Shape;411;p18"/>
          <p:cNvSpPr/>
          <p:nvPr/>
        </p:nvSpPr>
        <p:spPr>
          <a:xfrm>
            <a:off x="4343400" y="1627632"/>
            <a:ext cx="3474720" cy="3566160"/>
          </a:xfrm>
          <a:prstGeom prst="roundRect">
            <a:avLst>
              <a:gd fmla="val 2632" name="adj"/>
            </a:avLst>
          </a:prstGeom>
          <a:solidFill>
            <a:srgbClr val="E7F1FA"/>
          </a:solidFill>
          <a:ln cap="flat" cmpd="sng" w="12700">
            <a:solidFill>
              <a:srgbClr val="E7F1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8"/>
          <p:cNvSpPr txBox="1"/>
          <p:nvPr/>
        </p:nvSpPr>
        <p:spPr>
          <a:xfrm>
            <a:off x="4581144" y="1901952"/>
            <a:ext cx="2999232"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A6"/>
              </a:buClr>
              <a:buSzPts val="2300"/>
              <a:buFont typeface="Arial"/>
              <a:buNone/>
            </a:pPr>
            <a:r>
              <a:rPr b="1" i="0" lang="en-US" sz="2300" u="none" cap="none" strike="noStrike">
                <a:solidFill>
                  <a:srgbClr val="2563A6"/>
                </a:solidFill>
                <a:latin typeface="Arial"/>
                <a:ea typeface="Arial"/>
                <a:cs typeface="Arial"/>
                <a:sym typeface="Arial"/>
              </a:rPr>
              <a:t>Prefect</a:t>
            </a:r>
            <a:endParaRPr b="0" i="0" sz="2300" u="none" cap="none" strike="noStrike">
              <a:solidFill>
                <a:schemeClr val="dk1"/>
              </a:solidFill>
              <a:latin typeface="Arial"/>
              <a:ea typeface="Arial"/>
              <a:cs typeface="Arial"/>
              <a:sym typeface="Arial"/>
            </a:endParaRPr>
          </a:p>
        </p:txBody>
      </p:sp>
      <p:sp>
        <p:nvSpPr>
          <p:cNvPr id="413" name="Google Shape;413;p18"/>
          <p:cNvSpPr txBox="1"/>
          <p:nvPr/>
        </p:nvSpPr>
        <p:spPr>
          <a:xfrm>
            <a:off x="4581144" y="2487168"/>
            <a:ext cx="299923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500"/>
              <a:buFont typeface="Courier New"/>
              <a:buNone/>
            </a:pPr>
            <a:r>
              <a:rPr b="0" i="0" lang="en-US" sz="1500" u="none" cap="none" strike="noStrike">
                <a:solidFill>
                  <a:srgbClr val="102333"/>
                </a:solidFill>
                <a:latin typeface="Courier New"/>
                <a:ea typeface="Courier New"/>
                <a:cs typeface="Courier New"/>
                <a:sym typeface="Courier New"/>
              </a:rPr>
              <a:t>localhost:4200</a:t>
            </a:r>
            <a:endParaRPr b="0" i="0" sz="1500" u="none" cap="none" strike="noStrike">
              <a:solidFill>
                <a:schemeClr val="dk1"/>
              </a:solidFill>
              <a:latin typeface="Arial"/>
              <a:ea typeface="Arial"/>
              <a:cs typeface="Arial"/>
              <a:sym typeface="Arial"/>
            </a:endParaRPr>
          </a:p>
        </p:txBody>
      </p:sp>
      <p:sp>
        <p:nvSpPr>
          <p:cNvPr id="414" name="Google Shape;414;p18"/>
          <p:cNvSpPr txBox="1"/>
          <p:nvPr/>
        </p:nvSpPr>
        <p:spPr>
          <a:xfrm>
            <a:off x="4581144" y="2971800"/>
            <a:ext cx="2999232" cy="5212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C1E2C"/>
              </a:buClr>
              <a:buSzPts val="2000"/>
              <a:buFont typeface="Arial"/>
              <a:buNone/>
            </a:pPr>
            <a:r>
              <a:rPr b="1" i="0" lang="en-US" sz="2000" u="none" cap="none" strike="noStrike">
                <a:solidFill>
                  <a:srgbClr val="0C1E2C"/>
                </a:solidFill>
                <a:latin typeface="Arial"/>
                <a:ea typeface="Arial"/>
                <a:cs typeface="Arial"/>
                <a:sym typeface="Arial"/>
              </a:rPr>
              <a:t>Deployment → Run</a:t>
            </a:r>
            <a:endParaRPr b="0" i="0" sz="2000" u="none" cap="none" strike="noStrike">
              <a:solidFill>
                <a:schemeClr val="dk1"/>
              </a:solidFill>
              <a:latin typeface="Arial"/>
              <a:ea typeface="Arial"/>
              <a:cs typeface="Arial"/>
              <a:sym typeface="Arial"/>
            </a:endParaRPr>
          </a:p>
        </p:txBody>
      </p:sp>
      <p:sp>
        <p:nvSpPr>
          <p:cNvPr id="415" name="Google Shape;415;p18"/>
          <p:cNvSpPr/>
          <p:nvPr/>
        </p:nvSpPr>
        <p:spPr>
          <a:xfrm>
            <a:off x="4544568" y="3941064"/>
            <a:ext cx="3072384" cy="850392"/>
          </a:xfrm>
          <a:prstGeom prst="roundRect">
            <a:avLst>
              <a:gd fmla="val 10753"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8"/>
          <p:cNvSpPr txBox="1"/>
          <p:nvPr/>
        </p:nvSpPr>
        <p:spPr>
          <a:xfrm>
            <a:off x="4690872" y="4114800"/>
            <a:ext cx="2779776" cy="4937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150"/>
              <a:buFont typeface="Courier New"/>
              <a:buNone/>
            </a:pPr>
            <a:r>
              <a:rPr b="0" i="0" lang="en-US" sz="1150" u="none" cap="none" strike="noStrike">
                <a:solidFill>
                  <a:srgbClr val="526B79"/>
                </a:solidFill>
                <a:latin typeface="Courier New"/>
                <a:ea typeface="Courier New"/>
                <a:cs typeface="Courier New"/>
                <a:sym typeface="Courier New"/>
              </a:rPr>
              <a:t>docker compose -f pertemuan-6/prefect/docker-compose.yml up --build -d</a:t>
            </a:r>
            <a:endParaRPr b="0" i="0" sz="1150" u="none" cap="none" strike="noStrike">
              <a:solidFill>
                <a:schemeClr val="dk1"/>
              </a:solidFill>
              <a:latin typeface="Arial"/>
              <a:ea typeface="Arial"/>
              <a:cs typeface="Arial"/>
              <a:sym typeface="Arial"/>
            </a:endParaRPr>
          </a:p>
        </p:txBody>
      </p:sp>
      <p:sp>
        <p:nvSpPr>
          <p:cNvPr id="417" name="Google Shape;417;p18"/>
          <p:cNvSpPr/>
          <p:nvPr/>
        </p:nvSpPr>
        <p:spPr>
          <a:xfrm>
            <a:off x="8010144" y="1627632"/>
            <a:ext cx="3474720" cy="3566160"/>
          </a:xfrm>
          <a:prstGeom prst="roundRect">
            <a:avLst>
              <a:gd fmla="val 2632" name="adj"/>
            </a:avLst>
          </a:prstGeom>
          <a:solidFill>
            <a:srgbClr val="FEE8E5"/>
          </a:solidFill>
          <a:ln cap="flat" cmpd="sng" w="12700">
            <a:solidFill>
              <a:srgbClr val="FEE8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8"/>
          <p:cNvSpPr txBox="1"/>
          <p:nvPr/>
        </p:nvSpPr>
        <p:spPr>
          <a:xfrm>
            <a:off x="8247888" y="1901952"/>
            <a:ext cx="2999232"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A6A60"/>
              </a:buClr>
              <a:buSzPts val="2300"/>
              <a:buFont typeface="Arial"/>
              <a:buNone/>
            </a:pPr>
            <a:r>
              <a:rPr b="1" i="0" lang="en-US" sz="2300" u="none" cap="none" strike="noStrike">
                <a:solidFill>
                  <a:srgbClr val="FA6A60"/>
                </a:solidFill>
                <a:latin typeface="Arial"/>
                <a:ea typeface="Arial"/>
                <a:cs typeface="Arial"/>
                <a:sym typeface="Arial"/>
              </a:rPr>
              <a:t>Kestra</a:t>
            </a:r>
            <a:endParaRPr b="0" i="0" sz="2300" u="none" cap="none" strike="noStrike">
              <a:solidFill>
                <a:schemeClr val="dk1"/>
              </a:solidFill>
              <a:latin typeface="Arial"/>
              <a:ea typeface="Arial"/>
              <a:cs typeface="Arial"/>
              <a:sym typeface="Arial"/>
            </a:endParaRPr>
          </a:p>
        </p:txBody>
      </p:sp>
      <p:sp>
        <p:nvSpPr>
          <p:cNvPr id="419" name="Google Shape;419;p18"/>
          <p:cNvSpPr txBox="1"/>
          <p:nvPr/>
        </p:nvSpPr>
        <p:spPr>
          <a:xfrm>
            <a:off x="8247888" y="2487168"/>
            <a:ext cx="2999232"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500"/>
              <a:buFont typeface="Courier New"/>
              <a:buNone/>
            </a:pPr>
            <a:r>
              <a:rPr b="0" i="0" lang="en-US" sz="1500" u="none" cap="none" strike="noStrike">
                <a:solidFill>
                  <a:srgbClr val="102333"/>
                </a:solidFill>
                <a:latin typeface="Courier New"/>
                <a:ea typeface="Courier New"/>
                <a:cs typeface="Courier New"/>
                <a:sym typeface="Courier New"/>
              </a:rPr>
              <a:t>localhost:8080</a:t>
            </a:r>
            <a:endParaRPr b="0" i="0" sz="1500" u="none" cap="none" strike="noStrike">
              <a:solidFill>
                <a:schemeClr val="dk1"/>
              </a:solidFill>
              <a:latin typeface="Arial"/>
              <a:ea typeface="Arial"/>
              <a:cs typeface="Arial"/>
              <a:sym typeface="Arial"/>
            </a:endParaRPr>
          </a:p>
        </p:txBody>
      </p:sp>
      <p:sp>
        <p:nvSpPr>
          <p:cNvPr id="420" name="Google Shape;420;p18"/>
          <p:cNvSpPr txBox="1"/>
          <p:nvPr/>
        </p:nvSpPr>
        <p:spPr>
          <a:xfrm>
            <a:off x="8247888" y="2971800"/>
            <a:ext cx="2999232" cy="5212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C1E2C"/>
              </a:buClr>
              <a:buSzPts val="2000"/>
              <a:buFont typeface="Arial"/>
              <a:buNone/>
            </a:pPr>
            <a:r>
              <a:rPr b="1" i="0" lang="en-US" sz="2000" u="none" cap="none" strike="noStrike">
                <a:solidFill>
                  <a:srgbClr val="0C1E2C"/>
                </a:solidFill>
                <a:latin typeface="Arial"/>
                <a:ea typeface="Arial"/>
                <a:cs typeface="Arial"/>
                <a:sym typeface="Arial"/>
              </a:rPr>
              <a:t>Import YAML → Execute</a:t>
            </a:r>
            <a:endParaRPr b="0" i="0" sz="2000" u="none" cap="none" strike="noStrike">
              <a:solidFill>
                <a:schemeClr val="dk1"/>
              </a:solidFill>
              <a:latin typeface="Arial"/>
              <a:ea typeface="Arial"/>
              <a:cs typeface="Arial"/>
              <a:sym typeface="Arial"/>
            </a:endParaRPr>
          </a:p>
        </p:txBody>
      </p:sp>
      <p:sp>
        <p:nvSpPr>
          <p:cNvPr id="421" name="Google Shape;421;p18"/>
          <p:cNvSpPr/>
          <p:nvPr/>
        </p:nvSpPr>
        <p:spPr>
          <a:xfrm>
            <a:off x="8211312" y="3941064"/>
            <a:ext cx="3072384" cy="850392"/>
          </a:xfrm>
          <a:prstGeom prst="roundRect">
            <a:avLst>
              <a:gd fmla="val 10753"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8"/>
          <p:cNvSpPr txBox="1"/>
          <p:nvPr/>
        </p:nvSpPr>
        <p:spPr>
          <a:xfrm>
            <a:off x="8357616" y="4114800"/>
            <a:ext cx="2779776" cy="4937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150"/>
              <a:buFont typeface="Courier New"/>
              <a:buNone/>
            </a:pPr>
            <a:r>
              <a:rPr b="0" i="0" lang="en-US" sz="1150" u="none" cap="none" strike="noStrike">
                <a:solidFill>
                  <a:srgbClr val="526B79"/>
                </a:solidFill>
                <a:latin typeface="Courier New"/>
                <a:ea typeface="Courier New"/>
                <a:cs typeface="Courier New"/>
                <a:sym typeface="Courier New"/>
              </a:rPr>
              <a:t>docker compose -f pertemuan-6/kestra/docker-compose.yml up -d</a:t>
            </a:r>
            <a:endParaRPr b="0" i="0" sz="1150" u="none" cap="none" strike="noStrike">
              <a:solidFill>
                <a:schemeClr val="dk1"/>
              </a:solidFill>
              <a:latin typeface="Arial"/>
              <a:ea typeface="Arial"/>
              <a:cs typeface="Arial"/>
              <a:sym typeface="Arial"/>
            </a:endParaRPr>
          </a:p>
        </p:txBody>
      </p:sp>
      <p:sp>
        <p:nvSpPr>
          <p:cNvPr id="423" name="Google Shape;423;p18"/>
          <p:cNvSpPr txBox="1"/>
          <p:nvPr/>
        </p:nvSpPr>
        <p:spPr>
          <a:xfrm>
            <a:off x="795528" y="5696712"/>
            <a:ext cx="10789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26B79"/>
              </a:buClr>
              <a:buSzPts val="1600"/>
              <a:buFont typeface="Arial"/>
              <a:buNone/>
            </a:pPr>
            <a:r>
              <a:rPr b="0" i="0" lang="en-US" sz="1600" u="none" cap="none" strike="noStrike">
                <a:solidFill>
                  <a:srgbClr val="526B79"/>
                </a:solidFill>
                <a:latin typeface="Arial"/>
                <a:ea typeface="Arial"/>
                <a:cs typeface="Arial"/>
                <a:sym typeface="Arial"/>
              </a:rPr>
              <a:t>Kestra memerlukan build image runner dan import flow; ikuti README Kestra sebelum Execute.</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8" name="Shape 428"/>
        <p:cNvGrpSpPr/>
        <p:nvPr/>
      </p:nvGrpSpPr>
      <p:grpSpPr>
        <a:xfrm>
          <a:off x="0" y="0"/>
          <a:ext cx="0" cy="0"/>
          <a:chOff x="0" y="0"/>
          <a:chExt cx="0" cy="0"/>
        </a:xfrm>
      </p:grpSpPr>
      <p:sp>
        <p:nvSpPr>
          <p:cNvPr id="429" name="Google Shape;429;p19"/>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Bukti run berhasil</a:t>
            </a:r>
            <a:endParaRPr b="0" i="0" sz="3000" u="none" cap="none" strike="noStrike">
              <a:solidFill>
                <a:schemeClr val="dk1"/>
              </a:solidFill>
              <a:latin typeface="Arial"/>
              <a:ea typeface="Arial"/>
              <a:cs typeface="Arial"/>
              <a:sym typeface="Arial"/>
            </a:endParaRPr>
          </a:p>
        </p:txBody>
      </p:sp>
      <p:sp>
        <p:nvSpPr>
          <p:cNvPr id="430" name="Google Shape;430;p19"/>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Jangan berhenti pada status hijau di UI: cocokkan log dengan data akhir.</a:t>
            </a:r>
            <a:endParaRPr b="0" i="0" sz="1500" u="none" cap="none" strike="noStrike">
              <a:solidFill>
                <a:schemeClr val="dk1"/>
              </a:solidFill>
              <a:latin typeface="Arial"/>
              <a:ea typeface="Arial"/>
              <a:cs typeface="Arial"/>
              <a:sym typeface="Arial"/>
            </a:endParaRPr>
          </a:p>
        </p:txBody>
      </p:sp>
      <p:sp>
        <p:nvSpPr>
          <p:cNvPr id="431" name="Google Shape;431;p19"/>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432" name="Google Shape;432;p19"/>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16</a:t>
            </a:r>
            <a:endParaRPr b="0" i="0" sz="1000" u="none" cap="none" strike="noStrike">
              <a:solidFill>
                <a:schemeClr val="dk1"/>
              </a:solidFill>
              <a:latin typeface="Arial"/>
              <a:ea typeface="Arial"/>
              <a:cs typeface="Arial"/>
              <a:sym typeface="Arial"/>
            </a:endParaRPr>
          </a:p>
        </p:txBody>
      </p:sp>
      <p:sp>
        <p:nvSpPr>
          <p:cNvPr id="433" name="Google Shape;433;p19"/>
          <p:cNvSpPr/>
          <p:nvPr/>
        </p:nvSpPr>
        <p:spPr>
          <a:xfrm>
            <a:off x="694944" y="1609344"/>
            <a:ext cx="3456432" cy="3127248"/>
          </a:xfrm>
          <a:prstGeom prst="roundRect">
            <a:avLst>
              <a:gd fmla="val 2924" name="adj"/>
            </a:avLst>
          </a:prstGeom>
          <a:solidFill>
            <a:srgbClr val="DDF5F3"/>
          </a:solidFill>
          <a:ln cap="flat" cmpd="sng" w="12700">
            <a:solidFill>
              <a:srgbClr val="DDF5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9"/>
          <p:cNvSpPr/>
          <p:nvPr/>
        </p:nvSpPr>
        <p:spPr>
          <a:xfrm>
            <a:off x="914400" y="1828800"/>
            <a:ext cx="347472" cy="347472"/>
          </a:xfrm>
          <a:prstGeom prst="ellipse">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9"/>
          <p:cNvSpPr txBox="1"/>
          <p:nvPr/>
        </p:nvSpPr>
        <p:spPr>
          <a:xfrm>
            <a:off x="1389888" y="1819656"/>
            <a:ext cx="2523744"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900"/>
              <a:buFont typeface="Arial"/>
              <a:buNone/>
            </a:pPr>
            <a:r>
              <a:rPr b="1" i="0" lang="en-US" sz="1900" u="none" cap="none" strike="noStrike">
                <a:solidFill>
                  <a:srgbClr val="102333"/>
                </a:solidFill>
                <a:latin typeface="Arial"/>
                <a:ea typeface="Arial"/>
                <a:cs typeface="Arial"/>
                <a:sym typeface="Arial"/>
              </a:rPr>
              <a:t>Status run</a:t>
            </a:r>
            <a:endParaRPr b="0" i="0" sz="1900" u="none" cap="none" strike="noStrike">
              <a:solidFill>
                <a:schemeClr val="dk1"/>
              </a:solidFill>
              <a:latin typeface="Arial"/>
              <a:ea typeface="Arial"/>
              <a:cs typeface="Arial"/>
              <a:sym typeface="Arial"/>
            </a:endParaRPr>
          </a:p>
        </p:txBody>
      </p:sp>
      <p:sp>
        <p:nvSpPr>
          <p:cNvPr id="436" name="Google Shape;436;p19"/>
          <p:cNvSpPr txBox="1"/>
          <p:nvPr/>
        </p:nvSpPr>
        <p:spPr>
          <a:xfrm>
            <a:off x="950976" y="2377440"/>
            <a:ext cx="2944368"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700"/>
              <a:buFont typeface="Arial"/>
              <a:buNone/>
            </a:pPr>
            <a:r>
              <a:rPr b="0" i="0" lang="en-US" sz="1700" u="none" cap="none" strike="noStrike">
                <a:solidFill>
                  <a:srgbClr val="526B79"/>
                </a:solidFill>
                <a:latin typeface="Arial"/>
                <a:ea typeface="Arial"/>
                <a:cs typeface="Arial"/>
                <a:sym typeface="Arial"/>
              </a:rPr>
              <a:t>UI menunjukkan Succeeded / Completed / Success sesuai tool.</a:t>
            </a:r>
            <a:endParaRPr b="0" i="0" sz="1700" u="none" cap="none" strike="noStrike">
              <a:solidFill>
                <a:schemeClr val="dk1"/>
              </a:solidFill>
              <a:latin typeface="Arial"/>
              <a:ea typeface="Arial"/>
              <a:cs typeface="Arial"/>
              <a:sym typeface="Arial"/>
            </a:endParaRPr>
          </a:p>
        </p:txBody>
      </p:sp>
      <p:sp>
        <p:nvSpPr>
          <p:cNvPr id="437" name="Google Shape;437;p19"/>
          <p:cNvSpPr/>
          <p:nvPr/>
        </p:nvSpPr>
        <p:spPr>
          <a:xfrm>
            <a:off x="4352544" y="1609344"/>
            <a:ext cx="3456432" cy="3127248"/>
          </a:xfrm>
          <a:prstGeom prst="roundRect">
            <a:avLst>
              <a:gd fmla="val 2924" name="adj"/>
            </a:avLst>
          </a:prstGeom>
          <a:solidFill>
            <a:srgbClr val="E7F1FA"/>
          </a:solidFill>
          <a:ln cap="flat" cmpd="sng" w="12700">
            <a:solidFill>
              <a:srgbClr val="E7F1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9"/>
          <p:cNvSpPr/>
          <p:nvPr/>
        </p:nvSpPr>
        <p:spPr>
          <a:xfrm>
            <a:off x="4572000" y="1828800"/>
            <a:ext cx="347472" cy="347472"/>
          </a:xfrm>
          <a:prstGeom prst="ellipse">
            <a:avLst/>
          </a:prstGeom>
          <a:solidFill>
            <a:srgbClr val="2563A6"/>
          </a:solidFill>
          <a:ln cap="flat" cmpd="sng" w="12700">
            <a:solidFill>
              <a:srgbClr val="2563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9"/>
          <p:cNvSpPr txBox="1"/>
          <p:nvPr/>
        </p:nvSpPr>
        <p:spPr>
          <a:xfrm>
            <a:off x="5047488" y="1819656"/>
            <a:ext cx="2523744"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900"/>
              <a:buFont typeface="Arial"/>
              <a:buNone/>
            </a:pPr>
            <a:r>
              <a:rPr b="1" i="0" lang="en-US" sz="1900" u="none" cap="none" strike="noStrike">
                <a:solidFill>
                  <a:srgbClr val="102333"/>
                </a:solidFill>
                <a:latin typeface="Arial"/>
                <a:ea typeface="Arial"/>
                <a:cs typeface="Arial"/>
                <a:sym typeface="Arial"/>
              </a:rPr>
              <a:t>Log pipeline</a:t>
            </a:r>
            <a:endParaRPr b="0" i="0" sz="1900" u="none" cap="none" strike="noStrike">
              <a:solidFill>
                <a:schemeClr val="dk1"/>
              </a:solidFill>
              <a:latin typeface="Arial"/>
              <a:ea typeface="Arial"/>
              <a:cs typeface="Arial"/>
              <a:sym typeface="Arial"/>
            </a:endParaRPr>
          </a:p>
        </p:txBody>
      </p:sp>
      <p:sp>
        <p:nvSpPr>
          <p:cNvPr id="440" name="Google Shape;440;p19"/>
          <p:cNvSpPr txBox="1"/>
          <p:nvPr/>
        </p:nvSpPr>
        <p:spPr>
          <a:xfrm>
            <a:off x="4608576" y="2377440"/>
            <a:ext cx="2944368"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700"/>
              <a:buFont typeface="Arial"/>
              <a:buNone/>
            </a:pPr>
            <a:r>
              <a:rPr b="0" i="0" lang="en-US" sz="1700" u="none" cap="none" strike="noStrike">
                <a:solidFill>
                  <a:srgbClr val="526B79"/>
                </a:solidFill>
                <a:latin typeface="Arial"/>
                <a:ea typeface="Arial"/>
                <a:cs typeface="Arial"/>
                <a:sym typeface="Arial"/>
              </a:rPr>
              <a:t>Terlihat etl_orders.py, dbt run, dbt test, dan VERIFIKASI BERHASIL.</a:t>
            </a:r>
            <a:endParaRPr b="0" i="0" sz="1700" u="none" cap="none" strike="noStrike">
              <a:solidFill>
                <a:schemeClr val="dk1"/>
              </a:solidFill>
              <a:latin typeface="Arial"/>
              <a:ea typeface="Arial"/>
              <a:cs typeface="Arial"/>
              <a:sym typeface="Arial"/>
            </a:endParaRPr>
          </a:p>
        </p:txBody>
      </p:sp>
      <p:sp>
        <p:nvSpPr>
          <p:cNvPr id="441" name="Google Shape;441;p19"/>
          <p:cNvSpPr/>
          <p:nvPr/>
        </p:nvSpPr>
        <p:spPr>
          <a:xfrm>
            <a:off x="8010144" y="1609344"/>
            <a:ext cx="3456432" cy="3127248"/>
          </a:xfrm>
          <a:prstGeom prst="roundRect">
            <a:avLst>
              <a:gd fmla="val 2924" name="adj"/>
            </a:avLst>
          </a:prstGeom>
          <a:solidFill>
            <a:srgbClr val="E3F5EA"/>
          </a:solidFill>
          <a:ln cap="flat" cmpd="sng" w="12700">
            <a:solidFill>
              <a:srgbClr val="E3F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9"/>
          <p:cNvSpPr/>
          <p:nvPr/>
        </p:nvSpPr>
        <p:spPr>
          <a:xfrm>
            <a:off x="8229600" y="1828800"/>
            <a:ext cx="347472" cy="347472"/>
          </a:xfrm>
          <a:prstGeom prst="ellipse">
            <a:avLst/>
          </a:prstGeom>
          <a:solidFill>
            <a:srgbClr val="17865D"/>
          </a:solidFill>
          <a:ln cap="flat" cmpd="sng" w="12700">
            <a:solidFill>
              <a:srgbClr val="178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9"/>
          <p:cNvSpPr txBox="1"/>
          <p:nvPr/>
        </p:nvSpPr>
        <p:spPr>
          <a:xfrm>
            <a:off x="8705088" y="1819656"/>
            <a:ext cx="2523744"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900"/>
              <a:buFont typeface="Arial"/>
              <a:buNone/>
            </a:pPr>
            <a:r>
              <a:rPr b="1" i="0" lang="en-US" sz="1900" u="none" cap="none" strike="noStrike">
                <a:solidFill>
                  <a:srgbClr val="102333"/>
                </a:solidFill>
                <a:latin typeface="Arial"/>
                <a:ea typeface="Arial"/>
                <a:cs typeface="Arial"/>
                <a:sym typeface="Arial"/>
              </a:rPr>
              <a:t>Hasil data</a:t>
            </a:r>
            <a:endParaRPr b="0" i="0" sz="1900" u="none" cap="none" strike="noStrike">
              <a:solidFill>
                <a:schemeClr val="dk1"/>
              </a:solidFill>
              <a:latin typeface="Arial"/>
              <a:ea typeface="Arial"/>
              <a:cs typeface="Arial"/>
              <a:sym typeface="Arial"/>
            </a:endParaRPr>
          </a:p>
        </p:txBody>
      </p:sp>
      <p:sp>
        <p:nvSpPr>
          <p:cNvPr id="444" name="Google Shape;444;p19"/>
          <p:cNvSpPr txBox="1"/>
          <p:nvPr/>
        </p:nvSpPr>
        <p:spPr>
          <a:xfrm>
            <a:off x="8266176" y="2377440"/>
            <a:ext cx="2944368"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700"/>
              <a:buFont typeface="Arial"/>
              <a:buNone/>
            </a:pPr>
            <a:r>
              <a:rPr b="0" i="0" lang="en-US" sz="1700" u="none" cap="none" strike="noStrike">
                <a:solidFill>
                  <a:srgbClr val="526B79"/>
                </a:solidFill>
                <a:latin typeface="Arial"/>
                <a:ea typeface="Arial"/>
                <a:cs typeface="Arial"/>
                <a:sym typeface="Arial"/>
              </a:rPr>
              <a:t>Query datamart.mart_daily_orders menghasilkan count lebih dari nol.</a:t>
            </a:r>
            <a:endParaRPr b="0" i="0" sz="1700" u="none" cap="none" strike="noStrike">
              <a:solidFill>
                <a:schemeClr val="dk1"/>
              </a:solidFill>
              <a:latin typeface="Arial"/>
              <a:ea typeface="Arial"/>
              <a:cs typeface="Arial"/>
              <a:sym typeface="Arial"/>
            </a:endParaRPr>
          </a:p>
        </p:txBody>
      </p:sp>
      <p:sp>
        <p:nvSpPr>
          <p:cNvPr id="445" name="Google Shape;445;p19"/>
          <p:cNvSpPr/>
          <p:nvPr/>
        </p:nvSpPr>
        <p:spPr>
          <a:xfrm>
            <a:off x="1124712" y="5202936"/>
            <a:ext cx="9948672" cy="557784"/>
          </a:xfrm>
          <a:prstGeom prst="roundRect">
            <a:avLst>
              <a:gd fmla="val 16393" name="adj"/>
            </a:avLst>
          </a:prstGeom>
          <a:solidFill>
            <a:srgbClr val="0C1E2C"/>
          </a:solidFill>
          <a:ln cap="flat" cmpd="sng" w="12700">
            <a:solidFill>
              <a:srgbClr val="0C1E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9"/>
          <p:cNvSpPr txBox="1"/>
          <p:nvPr/>
        </p:nvSpPr>
        <p:spPr>
          <a:xfrm>
            <a:off x="1353312" y="5340096"/>
            <a:ext cx="9491472" cy="2834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Bukti akhir = status + log + data</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1" name="Shape 451"/>
        <p:cNvGrpSpPr/>
        <p:nvPr/>
      </p:nvGrpSpPr>
      <p:grpSpPr>
        <a:xfrm>
          <a:off x="0" y="0"/>
          <a:ext cx="0" cy="0"/>
          <a:chOff x="0" y="0"/>
          <a:chExt cx="0" cy="0"/>
        </a:xfrm>
      </p:grpSpPr>
      <p:sp>
        <p:nvSpPr>
          <p:cNvPr id="452" name="Google Shape;452;p20"/>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Jika run gagal, baca dari bawah ke atas</a:t>
            </a:r>
            <a:endParaRPr b="0" i="0" sz="3000" u="none" cap="none" strike="noStrike">
              <a:solidFill>
                <a:schemeClr val="dk1"/>
              </a:solidFill>
              <a:latin typeface="Arial"/>
              <a:ea typeface="Arial"/>
              <a:cs typeface="Arial"/>
              <a:sym typeface="Arial"/>
            </a:endParaRPr>
          </a:p>
        </p:txBody>
      </p:sp>
      <p:sp>
        <p:nvSpPr>
          <p:cNvPr id="453" name="Google Shape;453;p20"/>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Status gagal menunjuk ke langkah pertama yang rusak; cari pesan error pada log.</a:t>
            </a:r>
            <a:endParaRPr b="0" i="0" sz="1500" u="none" cap="none" strike="noStrike">
              <a:solidFill>
                <a:schemeClr val="dk1"/>
              </a:solidFill>
              <a:latin typeface="Arial"/>
              <a:ea typeface="Arial"/>
              <a:cs typeface="Arial"/>
              <a:sym typeface="Arial"/>
            </a:endParaRPr>
          </a:p>
        </p:txBody>
      </p:sp>
      <p:sp>
        <p:nvSpPr>
          <p:cNvPr id="454" name="Google Shape;454;p20"/>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455" name="Google Shape;455;p20"/>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17</a:t>
            </a:r>
            <a:endParaRPr b="0" i="0" sz="1000" u="none" cap="none" strike="noStrike">
              <a:solidFill>
                <a:schemeClr val="dk1"/>
              </a:solidFill>
              <a:latin typeface="Arial"/>
              <a:ea typeface="Arial"/>
              <a:cs typeface="Arial"/>
              <a:sym typeface="Arial"/>
            </a:endParaRPr>
          </a:p>
        </p:txBody>
      </p:sp>
      <p:sp>
        <p:nvSpPr>
          <p:cNvPr id="456" name="Google Shape;456;p20"/>
          <p:cNvSpPr/>
          <p:nvPr/>
        </p:nvSpPr>
        <p:spPr>
          <a:xfrm>
            <a:off x="713232" y="1673352"/>
            <a:ext cx="5266944" cy="1636776"/>
          </a:xfrm>
          <a:prstGeom prst="roundRect">
            <a:avLst>
              <a:gd fmla="val 5587" name="adj"/>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0"/>
          <p:cNvSpPr/>
          <p:nvPr/>
        </p:nvSpPr>
        <p:spPr>
          <a:xfrm>
            <a:off x="932688" y="1901952"/>
            <a:ext cx="530352" cy="530352"/>
          </a:xfrm>
          <a:prstGeom prst="ellipse">
            <a:avLst/>
          </a:prstGeom>
          <a:solidFill>
            <a:srgbClr val="FA6A60"/>
          </a:solidFill>
          <a:ln cap="flat" cmpd="sng" w="12700">
            <a:solidFill>
              <a:srgbClr val="FA6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0"/>
          <p:cNvSpPr txBox="1"/>
          <p:nvPr/>
        </p:nvSpPr>
        <p:spPr>
          <a:xfrm>
            <a:off x="932688" y="2057400"/>
            <a:ext cx="530352"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01</a:t>
            </a:r>
            <a:endParaRPr b="0" i="0" sz="1300" u="none" cap="none" strike="noStrike">
              <a:solidFill>
                <a:schemeClr val="dk1"/>
              </a:solidFill>
              <a:latin typeface="Arial"/>
              <a:ea typeface="Arial"/>
              <a:cs typeface="Arial"/>
              <a:sym typeface="Arial"/>
            </a:endParaRPr>
          </a:p>
        </p:txBody>
      </p:sp>
      <p:sp>
        <p:nvSpPr>
          <p:cNvPr id="459" name="Google Shape;459;p20"/>
          <p:cNvSpPr txBox="1"/>
          <p:nvPr/>
        </p:nvSpPr>
        <p:spPr>
          <a:xfrm>
            <a:off x="1636776" y="1920240"/>
            <a:ext cx="404164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1900"/>
              <a:buFont typeface="Arial"/>
              <a:buNone/>
            </a:pPr>
            <a:r>
              <a:rPr b="1" i="0" lang="en-US" sz="1900" u="none" cap="none" strike="noStrike">
                <a:solidFill>
                  <a:srgbClr val="0C1E2C"/>
                </a:solidFill>
                <a:latin typeface="Arial"/>
                <a:ea typeface="Arial"/>
                <a:cs typeface="Arial"/>
                <a:sym typeface="Arial"/>
              </a:rPr>
              <a:t>Cari task yang gagal</a:t>
            </a:r>
            <a:endParaRPr b="0" i="0" sz="1900" u="none" cap="none" strike="noStrike">
              <a:solidFill>
                <a:schemeClr val="dk1"/>
              </a:solidFill>
              <a:latin typeface="Arial"/>
              <a:ea typeface="Arial"/>
              <a:cs typeface="Arial"/>
              <a:sym typeface="Arial"/>
            </a:endParaRPr>
          </a:p>
        </p:txBody>
      </p:sp>
      <p:sp>
        <p:nvSpPr>
          <p:cNvPr id="460" name="Google Shape;460;p20"/>
          <p:cNvSpPr txBox="1"/>
          <p:nvPr/>
        </p:nvSpPr>
        <p:spPr>
          <a:xfrm>
            <a:off x="1636776" y="2468880"/>
            <a:ext cx="4032504" cy="5212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Apakah koneksi, Python load, dbt run, dbt test, atau verifikasi?</a:t>
            </a:r>
            <a:endParaRPr b="0" i="0" sz="1500" u="none" cap="none" strike="noStrike">
              <a:solidFill>
                <a:schemeClr val="dk1"/>
              </a:solidFill>
              <a:latin typeface="Arial"/>
              <a:ea typeface="Arial"/>
              <a:cs typeface="Arial"/>
              <a:sym typeface="Arial"/>
            </a:endParaRPr>
          </a:p>
        </p:txBody>
      </p:sp>
      <p:sp>
        <p:nvSpPr>
          <p:cNvPr id="461" name="Google Shape;461;p20"/>
          <p:cNvSpPr/>
          <p:nvPr/>
        </p:nvSpPr>
        <p:spPr>
          <a:xfrm>
            <a:off x="6236208" y="1673352"/>
            <a:ext cx="5266944" cy="1636776"/>
          </a:xfrm>
          <a:prstGeom prst="roundRect">
            <a:avLst>
              <a:gd fmla="val 5587" name="adj"/>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0"/>
          <p:cNvSpPr/>
          <p:nvPr/>
        </p:nvSpPr>
        <p:spPr>
          <a:xfrm>
            <a:off x="6455664" y="1901952"/>
            <a:ext cx="530352" cy="530352"/>
          </a:xfrm>
          <a:prstGeom prst="ellipse">
            <a:avLst/>
          </a:prstGeom>
          <a:solidFill>
            <a:srgbClr val="2563A6"/>
          </a:solidFill>
          <a:ln cap="flat" cmpd="sng" w="12700">
            <a:solidFill>
              <a:srgbClr val="2563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0"/>
          <p:cNvSpPr txBox="1"/>
          <p:nvPr/>
        </p:nvSpPr>
        <p:spPr>
          <a:xfrm>
            <a:off x="6455664" y="2057400"/>
            <a:ext cx="530352"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02</a:t>
            </a:r>
            <a:endParaRPr b="0" i="0" sz="1300" u="none" cap="none" strike="noStrike">
              <a:solidFill>
                <a:schemeClr val="dk1"/>
              </a:solidFill>
              <a:latin typeface="Arial"/>
              <a:ea typeface="Arial"/>
              <a:cs typeface="Arial"/>
              <a:sym typeface="Arial"/>
            </a:endParaRPr>
          </a:p>
        </p:txBody>
      </p:sp>
      <p:sp>
        <p:nvSpPr>
          <p:cNvPr id="464" name="Google Shape;464;p20"/>
          <p:cNvSpPr txBox="1"/>
          <p:nvPr/>
        </p:nvSpPr>
        <p:spPr>
          <a:xfrm>
            <a:off x="7159752" y="1920240"/>
            <a:ext cx="404164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1900"/>
              <a:buFont typeface="Arial"/>
              <a:buNone/>
            </a:pPr>
            <a:r>
              <a:rPr b="1" i="0" lang="en-US" sz="1900" u="none" cap="none" strike="noStrike">
                <a:solidFill>
                  <a:srgbClr val="0C1E2C"/>
                </a:solidFill>
                <a:latin typeface="Arial"/>
                <a:ea typeface="Arial"/>
                <a:cs typeface="Arial"/>
                <a:sym typeface="Arial"/>
              </a:rPr>
              <a:t>Baca log terdekat</a:t>
            </a:r>
            <a:endParaRPr b="0" i="0" sz="1900" u="none" cap="none" strike="noStrike">
              <a:solidFill>
                <a:schemeClr val="dk1"/>
              </a:solidFill>
              <a:latin typeface="Arial"/>
              <a:ea typeface="Arial"/>
              <a:cs typeface="Arial"/>
              <a:sym typeface="Arial"/>
            </a:endParaRPr>
          </a:p>
        </p:txBody>
      </p:sp>
      <p:sp>
        <p:nvSpPr>
          <p:cNvPr id="465" name="Google Shape;465;p20"/>
          <p:cNvSpPr txBox="1"/>
          <p:nvPr/>
        </p:nvSpPr>
        <p:spPr>
          <a:xfrm>
            <a:off x="7159752" y="2468880"/>
            <a:ext cx="4032504" cy="5212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Temukan error asli sebelum mencoba menjalankan ulang.</a:t>
            </a:r>
            <a:endParaRPr b="0" i="0" sz="1500" u="none" cap="none" strike="noStrike">
              <a:solidFill>
                <a:schemeClr val="dk1"/>
              </a:solidFill>
              <a:latin typeface="Arial"/>
              <a:ea typeface="Arial"/>
              <a:cs typeface="Arial"/>
              <a:sym typeface="Arial"/>
            </a:endParaRPr>
          </a:p>
        </p:txBody>
      </p:sp>
      <p:sp>
        <p:nvSpPr>
          <p:cNvPr id="466" name="Google Shape;466;p20"/>
          <p:cNvSpPr/>
          <p:nvPr/>
        </p:nvSpPr>
        <p:spPr>
          <a:xfrm>
            <a:off x="713232" y="3712464"/>
            <a:ext cx="5266944" cy="1636776"/>
          </a:xfrm>
          <a:prstGeom prst="roundRect">
            <a:avLst>
              <a:gd fmla="val 5587" name="adj"/>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0"/>
          <p:cNvSpPr/>
          <p:nvPr/>
        </p:nvSpPr>
        <p:spPr>
          <a:xfrm>
            <a:off x="932688" y="3941064"/>
            <a:ext cx="530352" cy="530352"/>
          </a:xfrm>
          <a:prstGeom prst="ellipse">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0"/>
          <p:cNvSpPr txBox="1"/>
          <p:nvPr/>
        </p:nvSpPr>
        <p:spPr>
          <a:xfrm>
            <a:off x="932688" y="4096512"/>
            <a:ext cx="530352"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03</a:t>
            </a:r>
            <a:endParaRPr b="0" i="0" sz="1300" u="none" cap="none" strike="noStrike">
              <a:solidFill>
                <a:schemeClr val="dk1"/>
              </a:solidFill>
              <a:latin typeface="Arial"/>
              <a:ea typeface="Arial"/>
              <a:cs typeface="Arial"/>
              <a:sym typeface="Arial"/>
            </a:endParaRPr>
          </a:p>
        </p:txBody>
      </p:sp>
      <p:sp>
        <p:nvSpPr>
          <p:cNvPr id="469" name="Google Shape;469;p20"/>
          <p:cNvSpPr txBox="1"/>
          <p:nvPr/>
        </p:nvSpPr>
        <p:spPr>
          <a:xfrm>
            <a:off x="1636776" y="3959352"/>
            <a:ext cx="404164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1900"/>
              <a:buFont typeface="Arial"/>
              <a:buNone/>
            </a:pPr>
            <a:r>
              <a:rPr b="1" i="0" lang="en-US" sz="1900" u="none" cap="none" strike="noStrike">
                <a:solidFill>
                  <a:srgbClr val="0C1E2C"/>
                </a:solidFill>
                <a:latin typeface="Arial"/>
                <a:ea typeface="Arial"/>
                <a:cs typeface="Arial"/>
                <a:sym typeface="Arial"/>
              </a:rPr>
              <a:t>Perbaiki penyebab</a:t>
            </a:r>
            <a:endParaRPr b="0" i="0" sz="1900" u="none" cap="none" strike="noStrike">
              <a:solidFill>
                <a:schemeClr val="dk1"/>
              </a:solidFill>
              <a:latin typeface="Arial"/>
              <a:ea typeface="Arial"/>
              <a:cs typeface="Arial"/>
              <a:sym typeface="Arial"/>
            </a:endParaRPr>
          </a:p>
        </p:txBody>
      </p:sp>
      <p:sp>
        <p:nvSpPr>
          <p:cNvPr id="470" name="Google Shape;470;p20"/>
          <p:cNvSpPr txBox="1"/>
          <p:nvPr/>
        </p:nvSpPr>
        <p:spPr>
          <a:xfrm>
            <a:off x="1636776" y="4507992"/>
            <a:ext cx="4032504" cy="5212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Cek service database, host.docker.internal, dan hasil query.</a:t>
            </a:r>
            <a:endParaRPr b="0" i="0" sz="1500" u="none" cap="none" strike="noStrike">
              <a:solidFill>
                <a:schemeClr val="dk1"/>
              </a:solidFill>
              <a:latin typeface="Arial"/>
              <a:ea typeface="Arial"/>
              <a:cs typeface="Arial"/>
              <a:sym typeface="Arial"/>
            </a:endParaRPr>
          </a:p>
        </p:txBody>
      </p:sp>
      <p:sp>
        <p:nvSpPr>
          <p:cNvPr id="471" name="Google Shape;471;p20"/>
          <p:cNvSpPr/>
          <p:nvPr/>
        </p:nvSpPr>
        <p:spPr>
          <a:xfrm>
            <a:off x="6236208" y="3712464"/>
            <a:ext cx="5266944" cy="1636776"/>
          </a:xfrm>
          <a:prstGeom prst="roundRect">
            <a:avLst>
              <a:gd fmla="val 5587" name="adj"/>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0"/>
          <p:cNvSpPr/>
          <p:nvPr/>
        </p:nvSpPr>
        <p:spPr>
          <a:xfrm>
            <a:off x="6455664" y="3941064"/>
            <a:ext cx="530352" cy="530352"/>
          </a:xfrm>
          <a:prstGeom prst="ellipse">
            <a:avLst/>
          </a:prstGeom>
          <a:solidFill>
            <a:srgbClr val="17865D"/>
          </a:solidFill>
          <a:ln cap="flat" cmpd="sng" w="12700">
            <a:solidFill>
              <a:srgbClr val="178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0"/>
          <p:cNvSpPr txBox="1"/>
          <p:nvPr/>
        </p:nvSpPr>
        <p:spPr>
          <a:xfrm>
            <a:off x="6455664" y="4096512"/>
            <a:ext cx="530352"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04</a:t>
            </a:r>
            <a:endParaRPr b="0" i="0" sz="1300" u="none" cap="none" strike="noStrike">
              <a:solidFill>
                <a:schemeClr val="dk1"/>
              </a:solidFill>
              <a:latin typeface="Arial"/>
              <a:ea typeface="Arial"/>
              <a:cs typeface="Arial"/>
              <a:sym typeface="Arial"/>
            </a:endParaRPr>
          </a:p>
        </p:txBody>
      </p:sp>
      <p:sp>
        <p:nvSpPr>
          <p:cNvPr id="474" name="Google Shape;474;p20"/>
          <p:cNvSpPr txBox="1"/>
          <p:nvPr/>
        </p:nvSpPr>
        <p:spPr>
          <a:xfrm>
            <a:off x="7159752" y="3959352"/>
            <a:ext cx="404164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1900"/>
              <a:buFont typeface="Arial"/>
              <a:buNone/>
            </a:pPr>
            <a:r>
              <a:rPr b="1" i="0" lang="en-US" sz="1900" u="none" cap="none" strike="noStrike">
                <a:solidFill>
                  <a:srgbClr val="0C1E2C"/>
                </a:solidFill>
                <a:latin typeface="Arial"/>
                <a:ea typeface="Arial"/>
                <a:cs typeface="Arial"/>
                <a:sym typeface="Arial"/>
              </a:rPr>
              <a:t>Run ulang lalu verifikasi</a:t>
            </a:r>
            <a:endParaRPr b="0" i="0" sz="1900" u="none" cap="none" strike="noStrike">
              <a:solidFill>
                <a:schemeClr val="dk1"/>
              </a:solidFill>
              <a:latin typeface="Arial"/>
              <a:ea typeface="Arial"/>
              <a:cs typeface="Arial"/>
              <a:sym typeface="Arial"/>
            </a:endParaRPr>
          </a:p>
        </p:txBody>
      </p:sp>
      <p:sp>
        <p:nvSpPr>
          <p:cNvPr id="475" name="Google Shape;475;p20"/>
          <p:cNvSpPr txBox="1"/>
          <p:nvPr/>
        </p:nvSpPr>
        <p:spPr>
          <a:xfrm>
            <a:off x="7159752" y="4507992"/>
            <a:ext cx="4032504" cy="5212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Pastikan tabel raw dan datamart tidak terduplikasi.</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0" name="Shape 480"/>
        <p:cNvGrpSpPr/>
        <p:nvPr/>
      </p:nvGrpSpPr>
      <p:grpSpPr>
        <a:xfrm>
          <a:off x="0" y="0"/>
          <a:ext cx="0" cy="0"/>
          <a:chOff x="0" y="0"/>
          <a:chExt cx="0" cy="0"/>
        </a:xfrm>
      </p:grpSpPr>
      <p:sp>
        <p:nvSpPr>
          <p:cNvPr id="481" name="Google Shape;481;p21"/>
          <p:cNvSpPr txBox="1"/>
          <p:nvPr/>
        </p:nvSpPr>
        <p:spPr>
          <a:xfrm>
            <a:off x="612648" y="365760"/>
            <a:ext cx="10972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E2C"/>
              </a:buClr>
              <a:buSzPts val="3000"/>
              <a:buFont typeface="Arial"/>
              <a:buNone/>
            </a:pPr>
            <a:r>
              <a:rPr b="1" i="0" lang="en-US" sz="3000" u="none" cap="none" strike="noStrike">
                <a:solidFill>
                  <a:srgbClr val="0C1E2C"/>
                </a:solidFill>
                <a:latin typeface="Arial"/>
                <a:ea typeface="Arial"/>
                <a:cs typeface="Arial"/>
                <a:sym typeface="Arial"/>
              </a:rPr>
              <a:t>Latihan mandiri dan output peserta</a:t>
            </a:r>
            <a:endParaRPr b="0" i="0" sz="3000" u="none" cap="none" strike="noStrike">
              <a:solidFill>
                <a:schemeClr val="dk1"/>
              </a:solidFill>
              <a:latin typeface="Arial"/>
              <a:ea typeface="Arial"/>
              <a:cs typeface="Arial"/>
              <a:sym typeface="Arial"/>
            </a:endParaRPr>
          </a:p>
        </p:txBody>
      </p:sp>
      <p:sp>
        <p:nvSpPr>
          <p:cNvPr id="482" name="Google Shape;482;p21"/>
          <p:cNvSpPr txBox="1"/>
          <p:nvPr/>
        </p:nvSpPr>
        <p:spPr>
          <a:xfrm>
            <a:off x="640080" y="941832"/>
            <a:ext cx="10881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1500"/>
              <a:buFont typeface="Arial"/>
              <a:buNone/>
            </a:pPr>
            <a:r>
              <a:rPr b="0" i="0" lang="en-US" sz="1500" u="none" cap="none" strike="noStrike">
                <a:solidFill>
                  <a:srgbClr val="526B79"/>
                </a:solidFill>
                <a:latin typeface="Arial"/>
                <a:ea typeface="Arial"/>
                <a:cs typeface="Arial"/>
                <a:sym typeface="Arial"/>
              </a:rPr>
              <a:t>Praktikkan tiga tool secara bergantian; jalankan hanya satu pada satu waktu.</a:t>
            </a:r>
            <a:endParaRPr b="0" i="0" sz="1500" u="none" cap="none" strike="noStrike">
              <a:solidFill>
                <a:schemeClr val="dk1"/>
              </a:solidFill>
              <a:latin typeface="Arial"/>
              <a:ea typeface="Arial"/>
              <a:cs typeface="Arial"/>
              <a:sym typeface="Arial"/>
            </a:endParaRPr>
          </a:p>
        </p:txBody>
      </p:sp>
      <p:sp>
        <p:nvSpPr>
          <p:cNvPr id="483" name="Google Shape;483;p21"/>
          <p:cNvSpPr txBox="1"/>
          <p:nvPr/>
        </p:nvSpPr>
        <p:spPr>
          <a:xfrm>
            <a:off x="640080" y="6565392"/>
            <a:ext cx="5486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26B79"/>
              </a:buClr>
              <a:buSzPts val="900"/>
              <a:buFont typeface="Arial"/>
              <a:buNone/>
            </a:pPr>
            <a:r>
              <a:rPr b="1" i="0" lang="en-US" sz="900" u="none" cap="none" strike="noStrike">
                <a:solidFill>
                  <a:srgbClr val="526B79"/>
                </a:solidFill>
                <a:latin typeface="Arial"/>
                <a:ea typeface="Arial"/>
                <a:cs typeface="Arial"/>
                <a:sym typeface="Arial"/>
              </a:rPr>
              <a:t>PERTEMUAN 6  /  DATA ENGINEERING</a:t>
            </a:r>
            <a:endParaRPr b="0" i="0" sz="900" u="none" cap="none" strike="noStrike">
              <a:solidFill>
                <a:schemeClr val="dk1"/>
              </a:solidFill>
              <a:latin typeface="Arial"/>
              <a:ea typeface="Arial"/>
              <a:cs typeface="Arial"/>
              <a:sym typeface="Arial"/>
            </a:endParaRPr>
          </a:p>
        </p:txBody>
      </p:sp>
      <p:sp>
        <p:nvSpPr>
          <p:cNvPr id="484" name="Google Shape;484;p21"/>
          <p:cNvSpPr txBox="1"/>
          <p:nvPr/>
        </p:nvSpPr>
        <p:spPr>
          <a:xfrm>
            <a:off x="11155680" y="6519672"/>
            <a:ext cx="43891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26B79"/>
              </a:buClr>
              <a:buSzPts val="1000"/>
              <a:buFont typeface="Arial"/>
              <a:buNone/>
            </a:pPr>
            <a:r>
              <a:rPr b="0" i="0" lang="en-US" sz="1000" u="none" cap="none" strike="noStrike">
                <a:solidFill>
                  <a:srgbClr val="526B79"/>
                </a:solidFill>
                <a:latin typeface="Arial"/>
                <a:ea typeface="Arial"/>
                <a:cs typeface="Arial"/>
                <a:sym typeface="Arial"/>
              </a:rPr>
              <a:t>18</a:t>
            </a:r>
            <a:endParaRPr b="0" i="0" sz="1000" u="none" cap="none" strike="noStrike">
              <a:solidFill>
                <a:schemeClr val="dk1"/>
              </a:solidFill>
              <a:latin typeface="Arial"/>
              <a:ea typeface="Arial"/>
              <a:cs typeface="Arial"/>
              <a:sym typeface="Arial"/>
            </a:endParaRPr>
          </a:p>
        </p:txBody>
      </p:sp>
      <p:sp>
        <p:nvSpPr>
          <p:cNvPr id="485" name="Google Shape;485;p21"/>
          <p:cNvSpPr/>
          <p:nvPr/>
        </p:nvSpPr>
        <p:spPr>
          <a:xfrm>
            <a:off x="713232" y="1627632"/>
            <a:ext cx="6400800" cy="4233672"/>
          </a:xfrm>
          <a:prstGeom prst="roundRect">
            <a:avLst>
              <a:gd fmla="val 2160" name="adj"/>
            </a:avLst>
          </a:prstGeom>
          <a:solidFill>
            <a:srgbClr val="F4F8FA"/>
          </a:solidFill>
          <a:ln cap="flat" cmpd="sng" w="12700">
            <a:solidFill>
              <a:srgbClr val="F4F8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1"/>
          <p:cNvSpPr txBox="1"/>
          <p:nvPr/>
        </p:nvSpPr>
        <p:spPr>
          <a:xfrm>
            <a:off x="969264" y="1911096"/>
            <a:ext cx="5870448"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600"/>
              <a:buFont typeface="Arial"/>
              <a:buNone/>
            </a:pPr>
            <a:r>
              <a:rPr b="0" i="0" lang="en-US" sz="1600" u="none" cap="none" strike="noStrike">
                <a:solidFill>
                  <a:srgbClr val="102333"/>
                </a:solidFill>
                <a:latin typeface="Arial"/>
                <a:ea typeface="Arial"/>
                <a:cs typeface="Arial"/>
                <a:sym typeface="Arial"/>
              </a:rPr>
              <a:t>1. Nyalakan database Pertemuan 5.</a:t>
            </a:r>
            <a:endParaRPr b="0" i="0" sz="1600" u="none" cap="none" strike="noStrike">
              <a:solidFill>
                <a:schemeClr val="dk1"/>
              </a:solidFill>
              <a:latin typeface="Arial"/>
              <a:ea typeface="Arial"/>
              <a:cs typeface="Arial"/>
              <a:sym typeface="Arial"/>
            </a:endParaRPr>
          </a:p>
        </p:txBody>
      </p:sp>
      <p:sp>
        <p:nvSpPr>
          <p:cNvPr id="487" name="Google Shape;487;p21"/>
          <p:cNvSpPr txBox="1"/>
          <p:nvPr/>
        </p:nvSpPr>
        <p:spPr>
          <a:xfrm>
            <a:off x="969264" y="2468880"/>
            <a:ext cx="5870448"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600"/>
              <a:buFont typeface="Arial"/>
              <a:buNone/>
            </a:pPr>
            <a:r>
              <a:rPr b="0" i="0" lang="en-US" sz="1600" u="none" cap="none" strike="noStrike">
                <a:solidFill>
                  <a:srgbClr val="102333"/>
                </a:solidFill>
                <a:latin typeface="Arial"/>
                <a:ea typeface="Arial"/>
                <a:cs typeface="Arial"/>
                <a:sym typeface="Arial"/>
              </a:rPr>
              <a:t>2. Jalankan pipeline dasar hingga verifikasi sukses.</a:t>
            </a:r>
            <a:endParaRPr b="0" i="0" sz="1600" u="none" cap="none" strike="noStrike">
              <a:solidFill>
                <a:schemeClr val="dk1"/>
              </a:solidFill>
              <a:latin typeface="Arial"/>
              <a:ea typeface="Arial"/>
              <a:cs typeface="Arial"/>
              <a:sym typeface="Arial"/>
            </a:endParaRPr>
          </a:p>
        </p:txBody>
      </p:sp>
      <p:sp>
        <p:nvSpPr>
          <p:cNvPr id="488" name="Google Shape;488;p21"/>
          <p:cNvSpPr txBox="1"/>
          <p:nvPr/>
        </p:nvSpPr>
        <p:spPr>
          <a:xfrm>
            <a:off x="969264" y="3026664"/>
            <a:ext cx="5870448"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600"/>
              <a:buFont typeface="Arial"/>
              <a:buNone/>
            </a:pPr>
            <a:r>
              <a:rPr b="0" i="0" lang="en-US" sz="1600" u="none" cap="none" strike="noStrike">
                <a:solidFill>
                  <a:srgbClr val="102333"/>
                </a:solidFill>
                <a:latin typeface="Arial"/>
                <a:ea typeface="Arial"/>
                <a:cs typeface="Arial"/>
                <a:sym typeface="Arial"/>
              </a:rPr>
              <a:t>3. Nyalakan orchestrator pertama dan trigger manual run.</a:t>
            </a:r>
            <a:endParaRPr b="0" i="0" sz="1600" u="none" cap="none" strike="noStrike">
              <a:solidFill>
                <a:schemeClr val="dk1"/>
              </a:solidFill>
              <a:latin typeface="Arial"/>
              <a:ea typeface="Arial"/>
              <a:cs typeface="Arial"/>
              <a:sym typeface="Arial"/>
            </a:endParaRPr>
          </a:p>
        </p:txBody>
      </p:sp>
      <p:sp>
        <p:nvSpPr>
          <p:cNvPr id="489" name="Google Shape;489;p21"/>
          <p:cNvSpPr txBox="1"/>
          <p:nvPr/>
        </p:nvSpPr>
        <p:spPr>
          <a:xfrm>
            <a:off x="969264" y="3584448"/>
            <a:ext cx="5870448"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600"/>
              <a:buFont typeface="Arial"/>
              <a:buNone/>
            </a:pPr>
            <a:r>
              <a:rPr b="0" i="0" lang="en-US" sz="1600" u="none" cap="none" strike="noStrike">
                <a:solidFill>
                  <a:srgbClr val="102333"/>
                </a:solidFill>
                <a:latin typeface="Arial"/>
                <a:ea typeface="Arial"/>
                <a:cs typeface="Arial"/>
                <a:sym typeface="Arial"/>
              </a:rPr>
              <a:t>4. Temukan cron dan timezone pada definisi tool.</a:t>
            </a:r>
            <a:endParaRPr b="0" i="0" sz="1600" u="none" cap="none" strike="noStrike">
              <a:solidFill>
                <a:schemeClr val="dk1"/>
              </a:solidFill>
              <a:latin typeface="Arial"/>
              <a:ea typeface="Arial"/>
              <a:cs typeface="Arial"/>
              <a:sym typeface="Arial"/>
            </a:endParaRPr>
          </a:p>
        </p:txBody>
      </p:sp>
      <p:sp>
        <p:nvSpPr>
          <p:cNvPr id="490" name="Google Shape;490;p21"/>
          <p:cNvSpPr txBox="1"/>
          <p:nvPr/>
        </p:nvSpPr>
        <p:spPr>
          <a:xfrm>
            <a:off x="969264" y="4142232"/>
            <a:ext cx="5870448"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600"/>
              <a:buFont typeface="Arial"/>
              <a:buNone/>
            </a:pPr>
            <a:r>
              <a:rPr b="0" i="0" lang="en-US" sz="1600" u="none" cap="none" strike="noStrike">
                <a:solidFill>
                  <a:srgbClr val="102333"/>
                </a:solidFill>
                <a:latin typeface="Arial"/>
                <a:ea typeface="Arial"/>
                <a:cs typeface="Arial"/>
                <a:sym typeface="Arial"/>
              </a:rPr>
              <a:t>5. Cek log dan jumlah baris datamart.</a:t>
            </a:r>
            <a:endParaRPr b="0" i="0" sz="1600" u="none" cap="none" strike="noStrike">
              <a:solidFill>
                <a:schemeClr val="dk1"/>
              </a:solidFill>
              <a:latin typeface="Arial"/>
              <a:ea typeface="Arial"/>
              <a:cs typeface="Arial"/>
              <a:sym typeface="Arial"/>
            </a:endParaRPr>
          </a:p>
        </p:txBody>
      </p:sp>
      <p:sp>
        <p:nvSpPr>
          <p:cNvPr id="491" name="Google Shape;491;p21"/>
          <p:cNvSpPr txBox="1"/>
          <p:nvPr/>
        </p:nvSpPr>
        <p:spPr>
          <a:xfrm>
            <a:off x="969264" y="4700016"/>
            <a:ext cx="5870448"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333"/>
              </a:buClr>
              <a:buSzPts val="1600"/>
              <a:buFont typeface="Arial"/>
              <a:buNone/>
            </a:pPr>
            <a:r>
              <a:rPr b="0" i="0" lang="en-US" sz="1600" u="none" cap="none" strike="noStrike">
                <a:solidFill>
                  <a:srgbClr val="102333"/>
                </a:solidFill>
                <a:latin typeface="Arial"/>
                <a:ea typeface="Arial"/>
                <a:cs typeface="Arial"/>
                <a:sym typeface="Arial"/>
              </a:rPr>
              <a:t>6. Matikan tool, lalu ulangi untuk dua tool lainnya.</a:t>
            </a:r>
            <a:endParaRPr b="0" i="0" sz="1600" u="none" cap="none" strike="noStrike">
              <a:solidFill>
                <a:schemeClr val="dk1"/>
              </a:solidFill>
              <a:latin typeface="Arial"/>
              <a:ea typeface="Arial"/>
              <a:cs typeface="Arial"/>
              <a:sym typeface="Arial"/>
            </a:endParaRPr>
          </a:p>
        </p:txBody>
      </p:sp>
      <p:sp>
        <p:nvSpPr>
          <p:cNvPr id="492" name="Google Shape;492;p21"/>
          <p:cNvSpPr/>
          <p:nvPr/>
        </p:nvSpPr>
        <p:spPr>
          <a:xfrm>
            <a:off x="7388352" y="1627632"/>
            <a:ext cx="4050792" cy="4233672"/>
          </a:xfrm>
          <a:prstGeom prst="roundRect">
            <a:avLst>
              <a:gd fmla="val 2257" name="adj"/>
            </a:avLst>
          </a:prstGeom>
          <a:solidFill>
            <a:srgbClr val="0C1E2C"/>
          </a:solidFill>
          <a:ln cap="flat" cmpd="sng" w="12700">
            <a:solidFill>
              <a:srgbClr val="0C1E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1"/>
          <p:cNvSpPr txBox="1"/>
          <p:nvPr/>
        </p:nvSpPr>
        <p:spPr>
          <a:xfrm>
            <a:off x="7708392" y="1975104"/>
            <a:ext cx="3383280"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Bukti per tool</a:t>
            </a:r>
            <a:endParaRPr b="0" i="0" sz="2200" u="none" cap="none" strike="noStrike">
              <a:solidFill>
                <a:schemeClr val="dk1"/>
              </a:solidFill>
              <a:latin typeface="Arial"/>
              <a:ea typeface="Arial"/>
              <a:cs typeface="Arial"/>
              <a:sym typeface="Arial"/>
            </a:endParaRPr>
          </a:p>
        </p:txBody>
      </p:sp>
      <p:sp>
        <p:nvSpPr>
          <p:cNvPr id="494" name="Google Shape;494;p21"/>
          <p:cNvSpPr/>
          <p:nvPr/>
        </p:nvSpPr>
        <p:spPr>
          <a:xfrm>
            <a:off x="7744968" y="2660904"/>
            <a:ext cx="118872" cy="118872"/>
          </a:xfrm>
          <a:prstGeom prst="ellipse">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1"/>
          <p:cNvSpPr txBox="1"/>
          <p:nvPr/>
        </p:nvSpPr>
        <p:spPr>
          <a:xfrm>
            <a:off x="8028432" y="2615184"/>
            <a:ext cx="3026664"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50"/>
              <a:buFont typeface="Arial"/>
              <a:buNone/>
            </a:pPr>
            <a:r>
              <a:rPr b="0" i="0" lang="en-US" sz="1550" u="none" cap="none" strike="noStrike">
                <a:solidFill>
                  <a:srgbClr val="FFFFFF"/>
                </a:solidFill>
                <a:latin typeface="Arial"/>
                <a:ea typeface="Arial"/>
                <a:cs typeface="Arial"/>
                <a:sym typeface="Arial"/>
              </a:rPr>
              <a:t>Screenshot run sukses</a:t>
            </a:r>
            <a:endParaRPr b="0" i="0" sz="1550" u="none" cap="none" strike="noStrike">
              <a:solidFill>
                <a:schemeClr val="dk1"/>
              </a:solidFill>
              <a:latin typeface="Arial"/>
              <a:ea typeface="Arial"/>
              <a:cs typeface="Arial"/>
              <a:sym typeface="Arial"/>
            </a:endParaRPr>
          </a:p>
        </p:txBody>
      </p:sp>
      <p:sp>
        <p:nvSpPr>
          <p:cNvPr id="496" name="Google Shape;496;p21"/>
          <p:cNvSpPr/>
          <p:nvPr/>
        </p:nvSpPr>
        <p:spPr>
          <a:xfrm>
            <a:off x="7744968" y="3118104"/>
            <a:ext cx="118872" cy="118872"/>
          </a:xfrm>
          <a:prstGeom prst="ellipse">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1"/>
          <p:cNvSpPr txBox="1"/>
          <p:nvPr/>
        </p:nvSpPr>
        <p:spPr>
          <a:xfrm>
            <a:off x="8028432" y="3072384"/>
            <a:ext cx="3026664"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50"/>
              <a:buFont typeface="Arial"/>
              <a:buNone/>
            </a:pPr>
            <a:r>
              <a:rPr b="0" i="0" lang="en-US" sz="1550" u="none" cap="none" strike="noStrike">
                <a:solidFill>
                  <a:srgbClr val="FFFFFF"/>
                </a:solidFill>
                <a:latin typeface="Arial"/>
                <a:ea typeface="Arial"/>
                <a:cs typeface="Arial"/>
                <a:sym typeface="Arial"/>
              </a:rPr>
              <a:t>Potongan log ELT + dbt</a:t>
            </a:r>
            <a:endParaRPr b="0" i="0" sz="1550" u="none" cap="none" strike="noStrike">
              <a:solidFill>
                <a:schemeClr val="dk1"/>
              </a:solidFill>
              <a:latin typeface="Arial"/>
              <a:ea typeface="Arial"/>
              <a:cs typeface="Arial"/>
              <a:sym typeface="Arial"/>
            </a:endParaRPr>
          </a:p>
        </p:txBody>
      </p:sp>
      <p:sp>
        <p:nvSpPr>
          <p:cNvPr id="498" name="Google Shape;498;p21"/>
          <p:cNvSpPr/>
          <p:nvPr/>
        </p:nvSpPr>
        <p:spPr>
          <a:xfrm>
            <a:off x="7744968" y="3575304"/>
            <a:ext cx="118872" cy="118872"/>
          </a:xfrm>
          <a:prstGeom prst="ellipse">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1"/>
          <p:cNvSpPr txBox="1"/>
          <p:nvPr/>
        </p:nvSpPr>
        <p:spPr>
          <a:xfrm>
            <a:off x="8028432" y="3529584"/>
            <a:ext cx="3026664"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50"/>
              <a:buFont typeface="Arial"/>
              <a:buNone/>
            </a:pPr>
            <a:r>
              <a:rPr b="0" i="0" lang="en-US" sz="1550" u="none" cap="none" strike="noStrike">
                <a:solidFill>
                  <a:srgbClr val="FFFFFF"/>
                </a:solidFill>
                <a:latin typeface="Arial"/>
                <a:ea typeface="Arial"/>
                <a:cs typeface="Arial"/>
                <a:sym typeface="Arial"/>
              </a:rPr>
              <a:t>Hasil query datamart</a:t>
            </a:r>
            <a:endParaRPr b="0" i="0" sz="1550" u="none" cap="none" strike="noStrike">
              <a:solidFill>
                <a:schemeClr val="dk1"/>
              </a:solidFill>
              <a:latin typeface="Arial"/>
              <a:ea typeface="Arial"/>
              <a:cs typeface="Arial"/>
              <a:sym typeface="Arial"/>
            </a:endParaRPr>
          </a:p>
        </p:txBody>
      </p:sp>
      <p:sp>
        <p:nvSpPr>
          <p:cNvPr id="500" name="Google Shape;500;p21"/>
          <p:cNvSpPr/>
          <p:nvPr/>
        </p:nvSpPr>
        <p:spPr>
          <a:xfrm>
            <a:off x="7744968" y="4032504"/>
            <a:ext cx="118872" cy="118872"/>
          </a:xfrm>
          <a:prstGeom prst="ellipse">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1"/>
          <p:cNvSpPr txBox="1"/>
          <p:nvPr/>
        </p:nvSpPr>
        <p:spPr>
          <a:xfrm>
            <a:off x="8028432" y="3986784"/>
            <a:ext cx="3026664"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50"/>
              <a:buFont typeface="Arial"/>
              <a:buNone/>
            </a:pPr>
            <a:r>
              <a:rPr b="0" i="0" lang="en-US" sz="1550" u="none" cap="none" strike="noStrike">
                <a:solidFill>
                  <a:srgbClr val="FFFFFF"/>
                </a:solidFill>
                <a:latin typeface="Arial"/>
                <a:ea typeface="Arial"/>
                <a:cs typeface="Arial"/>
                <a:sym typeface="Arial"/>
              </a:rPr>
              <a:t>Cron dan timezone</a:t>
            </a:r>
            <a:endParaRPr b="0" i="0" sz="1550" u="none" cap="none" strike="noStrike">
              <a:solidFill>
                <a:schemeClr val="dk1"/>
              </a:solidFill>
              <a:latin typeface="Arial"/>
              <a:ea typeface="Arial"/>
              <a:cs typeface="Arial"/>
              <a:sym typeface="Arial"/>
            </a:endParaRPr>
          </a:p>
        </p:txBody>
      </p:sp>
      <p:sp>
        <p:nvSpPr>
          <p:cNvPr id="502" name="Google Shape;502;p21"/>
          <p:cNvSpPr/>
          <p:nvPr/>
        </p:nvSpPr>
        <p:spPr>
          <a:xfrm>
            <a:off x="7744968" y="4489704"/>
            <a:ext cx="118872" cy="118872"/>
          </a:xfrm>
          <a:prstGeom prst="ellipse">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1"/>
          <p:cNvSpPr txBox="1"/>
          <p:nvPr/>
        </p:nvSpPr>
        <p:spPr>
          <a:xfrm>
            <a:off x="8028432" y="4443984"/>
            <a:ext cx="3026664"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50"/>
              <a:buFont typeface="Arial"/>
              <a:buNone/>
            </a:pPr>
            <a:r>
              <a:rPr b="0" i="0" lang="en-US" sz="1550" u="none" cap="none" strike="noStrike">
                <a:solidFill>
                  <a:srgbClr val="FFFFFF"/>
                </a:solidFill>
                <a:latin typeface="Arial"/>
                <a:ea typeface="Arial"/>
                <a:cs typeface="Arial"/>
                <a:sym typeface="Arial"/>
              </a:rPr>
              <a:t>Scheduler aktif</a:t>
            </a:r>
            <a:endParaRPr b="0" i="0" sz="1550" u="none" cap="none" strike="noStrike">
              <a:solidFill>
                <a:schemeClr val="dk1"/>
              </a:solidFill>
              <a:latin typeface="Arial"/>
              <a:ea typeface="Arial"/>
              <a:cs typeface="Arial"/>
              <a:sym typeface="Arial"/>
            </a:endParaRPr>
          </a:p>
        </p:txBody>
      </p:sp>
      <p:sp>
        <p:nvSpPr>
          <p:cNvPr id="504" name="Google Shape;504;p21"/>
          <p:cNvSpPr/>
          <p:nvPr/>
        </p:nvSpPr>
        <p:spPr>
          <a:xfrm>
            <a:off x="7744968" y="4946904"/>
            <a:ext cx="118872" cy="118872"/>
          </a:xfrm>
          <a:prstGeom prst="ellipse">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1"/>
          <p:cNvSpPr txBox="1"/>
          <p:nvPr/>
        </p:nvSpPr>
        <p:spPr>
          <a:xfrm>
            <a:off x="8028432" y="4901184"/>
            <a:ext cx="3026664"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50"/>
              <a:buFont typeface="Arial"/>
              <a:buNone/>
            </a:pPr>
            <a:r>
              <a:rPr b="0" i="0" lang="en-US" sz="1550" u="none" cap="none" strike="noStrike">
                <a:solidFill>
                  <a:srgbClr val="FFFFFF"/>
                </a:solidFill>
                <a:latin typeface="Arial"/>
                <a:ea typeface="Arial"/>
                <a:cs typeface="Arial"/>
                <a:sym typeface="Arial"/>
              </a:rPr>
              <a:t>Catatan kendala &amp; solusi</a:t>
            </a:r>
            <a:endParaRPr b="0" i="0" sz="155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1E2C"/>
        </a:solidFill>
      </p:bgPr>
    </p:bg>
    <p:spTree>
      <p:nvGrpSpPr>
        <p:cNvPr id="510" name="Shape 510"/>
        <p:cNvGrpSpPr/>
        <p:nvPr/>
      </p:nvGrpSpPr>
      <p:grpSpPr>
        <a:xfrm>
          <a:off x="0" y="0"/>
          <a:ext cx="0" cy="0"/>
          <a:chOff x="0" y="0"/>
          <a:chExt cx="0" cy="0"/>
        </a:xfrm>
      </p:grpSpPr>
      <p:sp>
        <p:nvSpPr>
          <p:cNvPr id="511" name="Google Shape;511;p22"/>
          <p:cNvSpPr txBox="1"/>
          <p:nvPr/>
        </p:nvSpPr>
        <p:spPr>
          <a:xfrm>
            <a:off x="694944" y="548640"/>
            <a:ext cx="99669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300"/>
              <a:buFont typeface="Arial"/>
              <a:buNone/>
            </a:pPr>
            <a:r>
              <a:rPr b="1" i="0" lang="en-US" sz="3300" u="none" cap="none" strike="noStrike">
                <a:solidFill>
                  <a:srgbClr val="FFFFFF"/>
                </a:solidFill>
                <a:latin typeface="Arial"/>
                <a:ea typeface="Arial"/>
                <a:cs typeface="Arial"/>
                <a:sym typeface="Arial"/>
              </a:rPr>
              <a:t>Ringkasan Pertemuan 6</a:t>
            </a:r>
            <a:endParaRPr b="0" i="0" sz="3300" u="none" cap="none" strike="noStrike">
              <a:solidFill>
                <a:schemeClr val="dk1"/>
              </a:solidFill>
              <a:latin typeface="Arial"/>
              <a:ea typeface="Arial"/>
              <a:cs typeface="Arial"/>
              <a:sym typeface="Arial"/>
            </a:endParaRPr>
          </a:p>
        </p:txBody>
      </p:sp>
      <p:sp>
        <p:nvSpPr>
          <p:cNvPr id="512" name="Google Shape;512;p22"/>
          <p:cNvSpPr/>
          <p:nvPr/>
        </p:nvSpPr>
        <p:spPr>
          <a:xfrm>
            <a:off x="841248" y="1664208"/>
            <a:ext cx="502920" cy="502920"/>
          </a:xfrm>
          <a:prstGeom prst="ellipse">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2"/>
          <p:cNvSpPr txBox="1"/>
          <p:nvPr/>
        </p:nvSpPr>
        <p:spPr>
          <a:xfrm>
            <a:off x="1572768" y="1645920"/>
            <a:ext cx="232257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Automation</a:t>
            </a:r>
            <a:endParaRPr b="0" i="0" sz="2200" u="none" cap="none" strike="noStrike">
              <a:solidFill>
                <a:schemeClr val="dk1"/>
              </a:solidFill>
              <a:latin typeface="Arial"/>
              <a:ea typeface="Arial"/>
              <a:cs typeface="Arial"/>
              <a:sym typeface="Arial"/>
            </a:endParaRPr>
          </a:p>
        </p:txBody>
      </p:sp>
      <p:sp>
        <p:nvSpPr>
          <p:cNvPr id="514" name="Google Shape;514;p22"/>
          <p:cNvSpPr txBox="1"/>
          <p:nvPr/>
        </p:nvSpPr>
        <p:spPr>
          <a:xfrm>
            <a:off x="3941064" y="1700784"/>
            <a:ext cx="68854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9E3"/>
              </a:buClr>
              <a:buSzPts val="1700"/>
              <a:buFont typeface="Arial"/>
              <a:buNone/>
            </a:pPr>
            <a:r>
              <a:rPr b="0" i="0" lang="en-US" sz="1700" u="none" cap="none" strike="noStrike">
                <a:solidFill>
                  <a:srgbClr val="C9D9E3"/>
                </a:solidFill>
                <a:latin typeface="Arial"/>
                <a:ea typeface="Arial"/>
                <a:cs typeface="Arial"/>
                <a:sym typeface="Arial"/>
              </a:rPr>
              <a:t>menjalankan aksi berulang secara otomatis</a:t>
            </a:r>
            <a:endParaRPr b="0" i="0" sz="1700" u="none" cap="none" strike="noStrike">
              <a:solidFill>
                <a:schemeClr val="dk1"/>
              </a:solidFill>
              <a:latin typeface="Arial"/>
              <a:ea typeface="Arial"/>
              <a:cs typeface="Arial"/>
              <a:sym typeface="Arial"/>
            </a:endParaRPr>
          </a:p>
        </p:txBody>
      </p:sp>
      <p:sp>
        <p:nvSpPr>
          <p:cNvPr id="515" name="Google Shape;515;p22"/>
          <p:cNvSpPr/>
          <p:nvPr/>
        </p:nvSpPr>
        <p:spPr>
          <a:xfrm>
            <a:off x="841248" y="2798064"/>
            <a:ext cx="502920" cy="502920"/>
          </a:xfrm>
          <a:prstGeom prst="ellipse">
            <a:avLst/>
          </a:prstGeom>
          <a:solidFill>
            <a:srgbClr val="2563A6"/>
          </a:solidFill>
          <a:ln cap="flat" cmpd="sng" w="12700">
            <a:solidFill>
              <a:srgbClr val="2563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2"/>
          <p:cNvSpPr txBox="1"/>
          <p:nvPr/>
        </p:nvSpPr>
        <p:spPr>
          <a:xfrm>
            <a:off x="1572768" y="2779776"/>
            <a:ext cx="232257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Scheduling</a:t>
            </a:r>
            <a:endParaRPr b="0" i="0" sz="2200" u="none" cap="none" strike="noStrike">
              <a:solidFill>
                <a:schemeClr val="dk1"/>
              </a:solidFill>
              <a:latin typeface="Arial"/>
              <a:ea typeface="Arial"/>
              <a:cs typeface="Arial"/>
              <a:sym typeface="Arial"/>
            </a:endParaRPr>
          </a:p>
        </p:txBody>
      </p:sp>
      <p:sp>
        <p:nvSpPr>
          <p:cNvPr id="517" name="Google Shape;517;p22"/>
          <p:cNvSpPr txBox="1"/>
          <p:nvPr/>
        </p:nvSpPr>
        <p:spPr>
          <a:xfrm>
            <a:off x="3941064" y="2834640"/>
            <a:ext cx="68854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9E3"/>
              </a:buClr>
              <a:buSzPts val="1700"/>
              <a:buFont typeface="Arial"/>
              <a:buNone/>
            </a:pPr>
            <a:r>
              <a:rPr b="0" i="0" lang="en-US" sz="1700" u="none" cap="none" strike="noStrike">
                <a:solidFill>
                  <a:srgbClr val="C9D9E3"/>
                </a:solidFill>
                <a:latin typeface="Arial"/>
                <a:ea typeface="Arial"/>
                <a:cs typeface="Arial"/>
                <a:sym typeface="Arial"/>
              </a:rPr>
              <a:t>menentukan waktu run melalui cron dan timezone</a:t>
            </a:r>
            <a:endParaRPr b="0" i="0" sz="1700" u="none" cap="none" strike="noStrike">
              <a:solidFill>
                <a:schemeClr val="dk1"/>
              </a:solidFill>
              <a:latin typeface="Arial"/>
              <a:ea typeface="Arial"/>
              <a:cs typeface="Arial"/>
              <a:sym typeface="Arial"/>
            </a:endParaRPr>
          </a:p>
        </p:txBody>
      </p:sp>
      <p:sp>
        <p:nvSpPr>
          <p:cNvPr id="518" name="Google Shape;518;p22"/>
          <p:cNvSpPr/>
          <p:nvPr/>
        </p:nvSpPr>
        <p:spPr>
          <a:xfrm>
            <a:off x="841248" y="3931920"/>
            <a:ext cx="502920" cy="502920"/>
          </a:xfrm>
          <a:prstGeom prst="ellipse">
            <a:avLst/>
          </a:prstGeom>
          <a:solidFill>
            <a:srgbClr val="FA6A60"/>
          </a:solidFill>
          <a:ln cap="flat" cmpd="sng" w="12700">
            <a:solidFill>
              <a:srgbClr val="FA6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2"/>
          <p:cNvSpPr txBox="1"/>
          <p:nvPr/>
        </p:nvSpPr>
        <p:spPr>
          <a:xfrm>
            <a:off x="1572768" y="3913632"/>
            <a:ext cx="232257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Orchestration</a:t>
            </a:r>
            <a:endParaRPr b="0" i="0" sz="2200" u="none" cap="none" strike="noStrike">
              <a:solidFill>
                <a:schemeClr val="dk1"/>
              </a:solidFill>
              <a:latin typeface="Arial"/>
              <a:ea typeface="Arial"/>
              <a:cs typeface="Arial"/>
              <a:sym typeface="Arial"/>
            </a:endParaRPr>
          </a:p>
        </p:txBody>
      </p:sp>
      <p:sp>
        <p:nvSpPr>
          <p:cNvPr id="520" name="Google Shape;520;p22"/>
          <p:cNvSpPr txBox="1"/>
          <p:nvPr/>
        </p:nvSpPr>
        <p:spPr>
          <a:xfrm>
            <a:off x="3941064" y="3968496"/>
            <a:ext cx="68854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9E3"/>
              </a:buClr>
              <a:buSzPts val="1700"/>
              <a:buFont typeface="Arial"/>
              <a:buNone/>
            </a:pPr>
            <a:r>
              <a:rPr b="0" i="0" lang="en-US" sz="1700" u="none" cap="none" strike="noStrike">
                <a:solidFill>
                  <a:srgbClr val="C9D9E3"/>
                </a:solidFill>
                <a:latin typeface="Arial"/>
                <a:ea typeface="Arial"/>
                <a:cs typeface="Arial"/>
                <a:sym typeface="Arial"/>
              </a:rPr>
              <a:t>mengatur urutan, status, retry, log, dan monitoring</a:t>
            </a:r>
            <a:endParaRPr b="0" i="0" sz="1700" u="none" cap="none" strike="noStrike">
              <a:solidFill>
                <a:schemeClr val="dk1"/>
              </a:solidFill>
              <a:latin typeface="Arial"/>
              <a:ea typeface="Arial"/>
              <a:cs typeface="Arial"/>
              <a:sym typeface="Arial"/>
            </a:endParaRPr>
          </a:p>
        </p:txBody>
      </p:sp>
      <p:sp>
        <p:nvSpPr>
          <p:cNvPr id="521" name="Google Shape;521;p22"/>
          <p:cNvSpPr/>
          <p:nvPr/>
        </p:nvSpPr>
        <p:spPr>
          <a:xfrm>
            <a:off x="777240" y="5413248"/>
            <a:ext cx="10634472" cy="548640"/>
          </a:xfrm>
          <a:prstGeom prst="roundRect">
            <a:avLst>
              <a:gd fmla="val 16667" name="adj"/>
            </a:avLst>
          </a:prstGeom>
          <a:solidFill>
            <a:srgbClr val="00A7A4"/>
          </a:solidFill>
          <a:ln cap="flat" cmpd="sng" w="12700">
            <a:solidFill>
              <a:srgbClr val="00A7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2"/>
          <p:cNvSpPr txBox="1"/>
          <p:nvPr/>
        </p:nvSpPr>
        <p:spPr>
          <a:xfrm>
            <a:off x="1005840" y="5541264"/>
            <a:ext cx="1018641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Dagster, Prefect, dan Kestra → script ELT yang sama → data mart yang terverifikasi</a:t>
            </a:r>
            <a:endParaRPr b="0" i="0" sz="1800" u="none" cap="none" strike="noStrike">
              <a:solidFill>
                <a:schemeClr val="dk1"/>
              </a:solidFill>
              <a:latin typeface="Arial"/>
              <a:ea typeface="Arial"/>
              <a:cs typeface="Arial"/>
              <a:sym typeface="Arial"/>
            </a:endParaRPr>
          </a:p>
        </p:txBody>
      </p:sp>
      <p:sp>
        <p:nvSpPr>
          <p:cNvPr id="523" name="Google Shape;523;p22"/>
          <p:cNvSpPr txBox="1"/>
          <p:nvPr/>
        </p:nvSpPr>
        <p:spPr>
          <a:xfrm>
            <a:off x="694944" y="6364224"/>
            <a:ext cx="20116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Nusacodes</a:t>
            </a:r>
            <a:endParaRPr b="0" i="0" sz="1200" u="none" cap="none" strike="noStrike">
              <a:solidFill>
                <a:schemeClr val="dk1"/>
              </a:solidFill>
              <a:latin typeface="Arial"/>
              <a:ea typeface="Arial"/>
              <a:cs typeface="Arial"/>
              <a:sym typeface="Arial"/>
            </a:endParaRPr>
          </a:p>
        </p:txBody>
      </p:sp>
      <p:sp>
        <p:nvSpPr>
          <p:cNvPr id="524" name="Google Shape;524;p22"/>
          <p:cNvSpPr txBox="1"/>
          <p:nvPr/>
        </p:nvSpPr>
        <p:spPr>
          <a:xfrm>
            <a:off x="11082528" y="6355080"/>
            <a:ext cx="393192"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7C8D1"/>
              </a:buClr>
              <a:buSzPts val="1000"/>
              <a:buFont typeface="Arial"/>
              <a:buNone/>
            </a:pPr>
            <a:r>
              <a:rPr b="0" i="0" lang="en-US" sz="1000" u="none" cap="none" strike="noStrike">
                <a:solidFill>
                  <a:srgbClr val="B7C8D1"/>
                </a:solidFill>
                <a:latin typeface="Arial"/>
                <a:ea typeface="Arial"/>
                <a:cs typeface="Arial"/>
                <a:sym typeface="Arial"/>
              </a:rPr>
              <a:t>19</a:t>
            </a:r>
            <a:endParaRPr b="0" i="0" sz="10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528" name="Shape 528"/>
        <p:cNvGrpSpPr/>
        <p:nvPr/>
      </p:nvGrpSpPr>
      <p:grpSpPr>
        <a:xfrm>
          <a:off x="0" y="0"/>
          <a:ext cx="0" cy="0"/>
          <a:chOff x="0" y="0"/>
          <a:chExt cx="0" cy="0"/>
        </a:xfrm>
      </p:grpSpPr>
      <p:pic>
        <p:nvPicPr>
          <p:cNvPr descr="image.png" id="529" name="Google Shape;529;p23"/>
          <p:cNvPicPr preferRelativeResize="0"/>
          <p:nvPr/>
        </p:nvPicPr>
        <p:blipFill rotWithShape="1">
          <a:blip r:embed="rId3">
            <a:alphaModFix/>
          </a:blip>
          <a:srcRect b="0" l="0" r="0" t="0"/>
          <a:stretch/>
        </p:blipFill>
        <p:spPr>
          <a:xfrm>
            <a:off x="0" y="55300"/>
            <a:ext cx="12192000" cy="6858000"/>
          </a:xfrm>
          <a:prstGeom prst="rect">
            <a:avLst/>
          </a:prstGeom>
          <a:noFill/>
          <a:ln>
            <a:noFill/>
          </a:ln>
        </p:spPr>
      </p:pic>
      <p:pic>
        <p:nvPicPr>
          <p:cNvPr descr="image.png" id="530" name="Google Shape;530;p23"/>
          <p:cNvPicPr preferRelativeResize="0"/>
          <p:nvPr/>
        </p:nvPicPr>
        <p:blipFill rotWithShape="1">
          <a:blip r:embed="rId4">
            <a:alphaModFix/>
          </a:blip>
          <a:srcRect b="0" l="0" r="0" t="0"/>
          <a:stretch/>
        </p:blipFill>
        <p:spPr>
          <a:xfrm>
            <a:off x="1311996" y="236201"/>
            <a:ext cx="9567811" cy="660989"/>
          </a:xfrm>
          <a:prstGeom prst="rect">
            <a:avLst/>
          </a:prstGeom>
          <a:noFill/>
          <a:ln>
            <a:noFill/>
          </a:ln>
        </p:spPr>
      </p:pic>
      <p:sp>
        <p:nvSpPr>
          <p:cNvPr id="531" name="Google Shape;531;p23"/>
          <p:cNvSpPr txBox="1"/>
          <p:nvPr/>
        </p:nvSpPr>
        <p:spPr>
          <a:xfrm>
            <a:off x="1072800" y="1103749"/>
            <a:ext cx="10046400" cy="7209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lang="en-US" sz="4684">
                <a:solidFill>
                  <a:srgbClr val="F8FAFC"/>
                </a:solidFill>
                <a:latin typeface="Space Grotesk"/>
                <a:ea typeface="Space Grotesk"/>
                <a:cs typeface="Space Grotesk"/>
                <a:sym typeface="Space Grotesk"/>
              </a:rPr>
              <a:t>Final Project !</a:t>
            </a:r>
            <a:endParaRPr sz="1214"/>
          </a:p>
        </p:txBody>
      </p:sp>
      <p:sp>
        <p:nvSpPr>
          <p:cNvPr id="532" name="Google Shape;532;p23"/>
          <p:cNvSpPr txBox="1"/>
          <p:nvPr/>
        </p:nvSpPr>
        <p:spPr>
          <a:xfrm>
            <a:off x="1862275" y="5780099"/>
            <a:ext cx="8572500" cy="6585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lang="en-US" sz="1800">
                <a:solidFill>
                  <a:srgbClr val="CBD5E1"/>
                </a:solidFill>
                <a:latin typeface="Urbanist"/>
                <a:ea typeface="Urbanist"/>
                <a:cs typeface="Urbanist"/>
                <a:sym typeface="Urbanist"/>
              </a:rPr>
              <a:t>Contoh  ETL / ELT Flow. </a:t>
            </a:r>
            <a:endParaRPr sz="1800">
              <a:solidFill>
                <a:srgbClr val="CBD5E1"/>
              </a:solidFill>
              <a:latin typeface="Urbanist"/>
              <a:ea typeface="Urbanist"/>
              <a:cs typeface="Urbanist"/>
              <a:sym typeface="Urbanist"/>
            </a:endParaRPr>
          </a:p>
          <a:p>
            <a:pPr indent="0" lvl="0" marL="457200" rtl="0" algn="l">
              <a:lnSpc>
                <a:spcPct val="159944"/>
              </a:lnSpc>
              <a:spcBef>
                <a:spcPts val="0"/>
              </a:spcBef>
              <a:spcAft>
                <a:spcPts val="0"/>
              </a:spcAft>
              <a:buNone/>
            </a:pPr>
            <a:r>
              <a:t/>
            </a:r>
            <a:endParaRPr>
              <a:solidFill>
                <a:srgbClr val="CBD5E1"/>
              </a:solidFill>
              <a:latin typeface="Urbanist"/>
              <a:ea typeface="Urbanist"/>
              <a:cs typeface="Urbanist"/>
              <a:sym typeface="Urbanist"/>
            </a:endParaRPr>
          </a:p>
        </p:txBody>
      </p:sp>
      <p:pic>
        <p:nvPicPr>
          <p:cNvPr id="533" name="Google Shape;533;p23"/>
          <p:cNvPicPr preferRelativeResize="0"/>
          <p:nvPr/>
        </p:nvPicPr>
        <p:blipFill>
          <a:blip r:embed="rId5">
            <a:alphaModFix/>
          </a:blip>
          <a:stretch>
            <a:fillRect/>
          </a:stretch>
        </p:blipFill>
        <p:spPr>
          <a:xfrm>
            <a:off x="332475" y="2363649"/>
            <a:ext cx="5673751" cy="2631100"/>
          </a:xfrm>
          <a:prstGeom prst="rect">
            <a:avLst/>
          </a:prstGeom>
          <a:noFill/>
          <a:ln>
            <a:noFill/>
          </a:ln>
        </p:spPr>
      </p:pic>
      <p:pic>
        <p:nvPicPr>
          <p:cNvPr id="534" name="Google Shape;534;p23"/>
          <p:cNvPicPr preferRelativeResize="0"/>
          <p:nvPr/>
        </p:nvPicPr>
        <p:blipFill>
          <a:blip r:embed="rId6">
            <a:alphaModFix/>
          </a:blip>
          <a:stretch>
            <a:fillRect/>
          </a:stretch>
        </p:blipFill>
        <p:spPr>
          <a:xfrm>
            <a:off x="6065301" y="2610000"/>
            <a:ext cx="6479851" cy="2384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38" name="Shape 538"/>
        <p:cNvGrpSpPr/>
        <p:nvPr/>
      </p:nvGrpSpPr>
      <p:grpSpPr>
        <a:xfrm>
          <a:off x="0" y="0"/>
          <a:ext cx="0" cy="0"/>
          <a:chOff x="0" y="0"/>
          <a:chExt cx="0" cy="0"/>
        </a:xfrm>
      </p:grpSpPr>
      <p:sp>
        <p:nvSpPr>
          <p:cNvPr id="539" name="Google Shape;539;p24"/>
          <p:cNvSpPr/>
          <p:nvPr/>
        </p:nvSpPr>
        <p:spPr>
          <a:xfrm>
            <a:off x="762000" y="4851945"/>
            <a:ext cx="685800" cy="47700"/>
          </a:xfrm>
          <a:prstGeom prst="rect">
            <a:avLst/>
          </a:prstGeom>
          <a:solidFill>
            <a:srgbClr val="E11D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0" name="Google Shape;540;p24"/>
          <p:cNvSpPr txBox="1"/>
          <p:nvPr/>
        </p:nvSpPr>
        <p:spPr>
          <a:xfrm>
            <a:off x="762000" y="1958429"/>
            <a:ext cx="114300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2DD4BF"/>
                </a:solidFill>
                <a:latin typeface="JetBrains Mono"/>
                <a:ea typeface="JetBrains Mono"/>
                <a:cs typeface="JetBrains Mono"/>
                <a:sym typeface="JetBrains Mono"/>
              </a:rPr>
              <a:t>PANDUAN REKAYASA DATA</a:t>
            </a:r>
            <a:endParaRPr/>
          </a:p>
        </p:txBody>
      </p:sp>
      <p:sp>
        <p:nvSpPr>
          <p:cNvPr id="541" name="Google Shape;541;p24"/>
          <p:cNvSpPr txBox="1"/>
          <p:nvPr/>
        </p:nvSpPr>
        <p:spPr>
          <a:xfrm>
            <a:off x="762000" y="2348954"/>
            <a:ext cx="9101100" cy="155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800" u="none" cap="none" strike="noStrike">
                <a:solidFill>
                  <a:srgbClr val="F8FAFC"/>
                </a:solidFill>
                <a:latin typeface="DM Sans"/>
                <a:ea typeface="DM Sans"/>
                <a:cs typeface="DM Sans"/>
                <a:sym typeface="DM Sans"/>
              </a:rPr>
              <a:t>Kategori Sumber Data &amp; Referensi Dataset</a:t>
            </a:r>
            <a:endParaRPr/>
          </a:p>
        </p:txBody>
      </p:sp>
      <p:sp>
        <p:nvSpPr>
          <p:cNvPr id="542" name="Google Shape;542;p24"/>
          <p:cNvSpPr txBox="1"/>
          <p:nvPr/>
        </p:nvSpPr>
        <p:spPr>
          <a:xfrm>
            <a:off x="762000" y="3918495"/>
            <a:ext cx="69534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94A3B8"/>
                </a:solidFill>
                <a:latin typeface="DM Sans"/>
                <a:ea typeface="DM Sans"/>
                <a:cs typeface="DM Sans"/>
                <a:sym typeface="DM Sans"/>
              </a:rPr>
              <a:t>Klasifikasi aksesibilitas, tingkat kebersihan data, serta daftar repositori latihan pemrosesan data.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46" name="Shape 546"/>
        <p:cNvGrpSpPr/>
        <p:nvPr/>
      </p:nvGrpSpPr>
      <p:grpSpPr>
        <a:xfrm>
          <a:off x="0" y="0"/>
          <a:ext cx="0" cy="0"/>
          <a:chOff x="0" y="0"/>
          <a:chExt cx="0" cy="0"/>
        </a:xfrm>
      </p:grpSpPr>
      <p:sp>
        <p:nvSpPr>
          <p:cNvPr id="547" name="Google Shape;547;p25"/>
          <p:cNvSpPr/>
          <p:nvPr/>
        </p:nvSpPr>
        <p:spPr>
          <a:xfrm>
            <a:off x="609600" y="2128837"/>
            <a:ext cx="5372100" cy="1647900"/>
          </a:xfrm>
          <a:prstGeom prst="roundRect">
            <a:avLst>
              <a:gd fmla="val 6936"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8" name="Google Shape;548;p25"/>
          <p:cNvSpPr/>
          <p:nvPr/>
        </p:nvSpPr>
        <p:spPr>
          <a:xfrm>
            <a:off x="6210300" y="2128837"/>
            <a:ext cx="5372100" cy="1647900"/>
          </a:xfrm>
          <a:prstGeom prst="roundRect">
            <a:avLst>
              <a:gd fmla="val 6936"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9" name="Google Shape;549;p25"/>
          <p:cNvSpPr/>
          <p:nvPr/>
        </p:nvSpPr>
        <p:spPr>
          <a:xfrm>
            <a:off x="609600" y="4005262"/>
            <a:ext cx="5372100" cy="1647900"/>
          </a:xfrm>
          <a:prstGeom prst="roundRect">
            <a:avLst>
              <a:gd fmla="val 6936"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0" name="Google Shape;550;p25"/>
          <p:cNvSpPr/>
          <p:nvPr/>
        </p:nvSpPr>
        <p:spPr>
          <a:xfrm>
            <a:off x="6210300" y="4005262"/>
            <a:ext cx="5372100" cy="1647900"/>
          </a:xfrm>
          <a:prstGeom prst="roundRect">
            <a:avLst>
              <a:gd fmla="val 6936"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551" name="Google Shape;551;p25"/>
          <p:cNvPicPr preferRelativeResize="0"/>
          <p:nvPr/>
        </p:nvPicPr>
        <p:blipFill rotWithShape="1">
          <a:blip r:embed="rId3">
            <a:alphaModFix/>
          </a:blip>
          <a:srcRect b="0" l="0" r="0" t="0"/>
          <a:stretch/>
        </p:blipFill>
        <p:spPr>
          <a:xfrm>
            <a:off x="923925" y="2443162"/>
            <a:ext cx="266700" cy="266700"/>
          </a:xfrm>
          <a:prstGeom prst="rect">
            <a:avLst/>
          </a:prstGeom>
          <a:noFill/>
          <a:ln>
            <a:noFill/>
          </a:ln>
        </p:spPr>
      </p:pic>
      <p:pic>
        <p:nvPicPr>
          <p:cNvPr descr="image.png" id="552" name="Google Shape;552;p25"/>
          <p:cNvPicPr preferRelativeResize="0"/>
          <p:nvPr/>
        </p:nvPicPr>
        <p:blipFill rotWithShape="1">
          <a:blip r:embed="rId4">
            <a:alphaModFix/>
          </a:blip>
          <a:srcRect b="0" l="0" r="0" t="0"/>
          <a:stretch/>
        </p:blipFill>
        <p:spPr>
          <a:xfrm>
            <a:off x="6524625" y="2443162"/>
            <a:ext cx="304800" cy="266700"/>
          </a:xfrm>
          <a:prstGeom prst="rect">
            <a:avLst/>
          </a:prstGeom>
          <a:noFill/>
          <a:ln>
            <a:noFill/>
          </a:ln>
        </p:spPr>
      </p:pic>
      <p:pic>
        <p:nvPicPr>
          <p:cNvPr descr="image.png" id="553" name="Google Shape;553;p25"/>
          <p:cNvPicPr preferRelativeResize="0"/>
          <p:nvPr/>
        </p:nvPicPr>
        <p:blipFill rotWithShape="1">
          <a:blip r:embed="rId5">
            <a:alphaModFix/>
          </a:blip>
          <a:srcRect b="0" l="0" r="0" t="0"/>
          <a:stretch/>
        </p:blipFill>
        <p:spPr>
          <a:xfrm>
            <a:off x="923925" y="4319587"/>
            <a:ext cx="266700" cy="266700"/>
          </a:xfrm>
          <a:prstGeom prst="rect">
            <a:avLst/>
          </a:prstGeom>
          <a:noFill/>
          <a:ln>
            <a:noFill/>
          </a:ln>
        </p:spPr>
      </p:pic>
      <p:pic>
        <p:nvPicPr>
          <p:cNvPr descr="image.png" id="554" name="Google Shape;554;p25"/>
          <p:cNvPicPr preferRelativeResize="0"/>
          <p:nvPr/>
        </p:nvPicPr>
        <p:blipFill rotWithShape="1">
          <a:blip r:embed="rId6">
            <a:alphaModFix/>
          </a:blip>
          <a:srcRect b="0" l="0" r="0" t="0"/>
          <a:stretch/>
        </p:blipFill>
        <p:spPr>
          <a:xfrm>
            <a:off x="6524625" y="4319587"/>
            <a:ext cx="304800" cy="266700"/>
          </a:xfrm>
          <a:prstGeom prst="rect">
            <a:avLst/>
          </a:prstGeom>
          <a:noFill/>
          <a:ln>
            <a:noFill/>
          </a:ln>
        </p:spPr>
      </p:pic>
      <p:sp>
        <p:nvSpPr>
          <p:cNvPr id="555" name="Google Shape;555;p25"/>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JetBrains Mono"/>
                <a:ea typeface="JetBrains Mono"/>
                <a:cs typeface="JetBrains Mono"/>
                <a:sym typeface="JetBrains Mono"/>
              </a:rPr>
              <a:t>01 / KLASIFIKASI UTAMA</a:t>
            </a:r>
            <a:endParaRPr/>
          </a:p>
        </p:txBody>
      </p:sp>
      <p:sp>
        <p:nvSpPr>
          <p:cNvPr id="556" name="Google Shape;556;p25"/>
          <p:cNvSpPr txBox="1"/>
          <p:nvPr/>
        </p:nvSpPr>
        <p:spPr>
          <a:xfrm>
            <a:off x="609600" y="704850"/>
            <a:ext cx="115824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DM Sans"/>
                <a:ea typeface="DM Sans"/>
                <a:cs typeface="DM Sans"/>
                <a:sym typeface="DM Sans"/>
              </a:rPr>
              <a:t>Empat Kategori Sumber Data</a:t>
            </a:r>
            <a:endParaRPr/>
          </a:p>
        </p:txBody>
      </p:sp>
      <p:sp>
        <p:nvSpPr>
          <p:cNvPr id="557" name="Google Shape;557;p25"/>
          <p:cNvSpPr txBox="1"/>
          <p:nvPr/>
        </p:nvSpPr>
        <p:spPr>
          <a:xfrm>
            <a:off x="923925" y="2862262"/>
            <a:ext cx="62259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DM Sans"/>
                <a:ea typeface="DM Sans"/>
                <a:cs typeface="DM Sans"/>
                <a:sym typeface="DM Sans"/>
              </a:rPr>
              <a:t>Data Public</a:t>
            </a:r>
            <a:endParaRPr/>
          </a:p>
        </p:txBody>
      </p:sp>
      <p:sp>
        <p:nvSpPr>
          <p:cNvPr id="558" name="Google Shape;558;p25"/>
          <p:cNvSpPr txBox="1"/>
          <p:nvPr/>
        </p:nvSpPr>
        <p:spPr>
          <a:xfrm>
            <a:off x="923925" y="3233737"/>
            <a:ext cx="59292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DM Sans"/>
                <a:ea typeface="DM Sans"/>
                <a:cs typeface="DM Sans"/>
                <a:sym typeface="DM Sans"/>
              </a:rPr>
              <a:t>Tersedia bebas dari portal terbuka.</a:t>
            </a:r>
            <a:endParaRPr/>
          </a:p>
        </p:txBody>
      </p:sp>
      <p:sp>
        <p:nvSpPr>
          <p:cNvPr id="559" name="Google Shape;559;p25"/>
          <p:cNvSpPr txBox="1"/>
          <p:nvPr/>
        </p:nvSpPr>
        <p:spPr>
          <a:xfrm>
            <a:off x="6524625" y="2862262"/>
            <a:ext cx="56673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DM Sans"/>
                <a:ea typeface="DM Sans"/>
                <a:cs typeface="DM Sans"/>
                <a:sym typeface="DM Sans"/>
              </a:rPr>
              <a:t>Data Internal</a:t>
            </a:r>
            <a:endParaRPr/>
          </a:p>
        </p:txBody>
      </p:sp>
      <p:sp>
        <p:nvSpPr>
          <p:cNvPr id="560" name="Google Shape;560;p25"/>
          <p:cNvSpPr txBox="1"/>
          <p:nvPr/>
        </p:nvSpPr>
        <p:spPr>
          <a:xfrm>
            <a:off x="6524625" y="3233737"/>
            <a:ext cx="56673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DM Sans"/>
                <a:ea typeface="DM Sans"/>
                <a:cs typeface="DM Sans"/>
                <a:sym typeface="DM Sans"/>
              </a:rPr>
              <a:t>Berasal dari operasional privat organisasi.</a:t>
            </a:r>
            <a:endParaRPr/>
          </a:p>
        </p:txBody>
      </p:sp>
      <p:sp>
        <p:nvSpPr>
          <p:cNvPr id="561" name="Google Shape;561;p25"/>
          <p:cNvSpPr txBox="1"/>
          <p:nvPr/>
        </p:nvSpPr>
        <p:spPr>
          <a:xfrm>
            <a:off x="923925" y="4738687"/>
            <a:ext cx="62259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DM Sans"/>
                <a:ea typeface="DM Sans"/>
                <a:cs typeface="DM Sans"/>
                <a:sym typeface="DM Sans"/>
              </a:rPr>
              <a:t>Data yang Sudah Rapi</a:t>
            </a:r>
            <a:endParaRPr/>
          </a:p>
        </p:txBody>
      </p:sp>
      <p:sp>
        <p:nvSpPr>
          <p:cNvPr id="562" name="Google Shape;562;p25"/>
          <p:cNvSpPr txBox="1"/>
          <p:nvPr/>
        </p:nvSpPr>
        <p:spPr>
          <a:xfrm>
            <a:off x="923925" y="5110162"/>
            <a:ext cx="59292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DM Sans"/>
                <a:ea typeface="DM Sans"/>
                <a:cs typeface="DM Sans"/>
                <a:sym typeface="DM Sans"/>
              </a:rPr>
              <a:t>Terstruktur konsisten siap analisis langsung.</a:t>
            </a:r>
            <a:endParaRPr/>
          </a:p>
        </p:txBody>
      </p:sp>
      <p:sp>
        <p:nvSpPr>
          <p:cNvPr id="563" name="Google Shape;563;p25"/>
          <p:cNvSpPr txBox="1"/>
          <p:nvPr/>
        </p:nvSpPr>
        <p:spPr>
          <a:xfrm>
            <a:off x="6524625" y="4738687"/>
            <a:ext cx="56673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DM Sans"/>
                <a:ea typeface="DM Sans"/>
                <a:cs typeface="DM Sans"/>
                <a:sym typeface="DM Sans"/>
              </a:rPr>
              <a:t>Data yang Belum Rapi</a:t>
            </a:r>
            <a:endParaRPr/>
          </a:p>
        </p:txBody>
      </p:sp>
      <p:sp>
        <p:nvSpPr>
          <p:cNvPr id="564" name="Google Shape;564;p25"/>
          <p:cNvSpPr txBox="1"/>
          <p:nvPr/>
        </p:nvSpPr>
        <p:spPr>
          <a:xfrm>
            <a:off x="6524625" y="5110162"/>
            <a:ext cx="56673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DM Sans"/>
                <a:ea typeface="DM Sans"/>
                <a:cs typeface="DM Sans"/>
                <a:sym typeface="DM Sans"/>
              </a:rPr>
              <a:t>Data mentah membutuhkan tahap pembersihan.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8" name="Shape 568"/>
        <p:cNvGrpSpPr/>
        <p:nvPr/>
      </p:nvGrpSpPr>
      <p:grpSpPr>
        <a:xfrm>
          <a:off x="0" y="0"/>
          <a:ext cx="0" cy="0"/>
          <a:chOff x="0" y="0"/>
          <a:chExt cx="0" cy="0"/>
        </a:xfrm>
      </p:grpSpPr>
      <p:graphicFrame>
        <p:nvGraphicFramePr>
          <p:cNvPr id="569" name="Google Shape;569;p26"/>
          <p:cNvGraphicFramePr/>
          <p:nvPr/>
        </p:nvGraphicFramePr>
        <p:xfrm>
          <a:off x="609600" y="2147887"/>
          <a:ext cx="3000000" cy="3000000"/>
        </p:xfrm>
        <a:graphic>
          <a:graphicData uri="http://schemas.openxmlformats.org/drawingml/2006/table">
            <a:tbl>
              <a:tblPr>
                <a:noFill/>
                <a:tableStyleId>{938E6CE7-FCC6-4221-AED0-C249BFB50FE1}</a:tableStyleId>
              </a:tblPr>
              <a:tblGrid>
                <a:gridCol w="2633375"/>
                <a:gridCol w="2414000"/>
                <a:gridCol w="5925450"/>
              </a:tblGrid>
              <a:tr h="697225">
                <a:tc>
                  <a:txBody>
                    <a:bodyPr/>
                    <a:lstStyle/>
                    <a:p>
                      <a:pPr indent="0" lvl="0" marL="0" marR="0" rtl="0" algn="l">
                        <a:spcBef>
                          <a:spcPts val="0"/>
                        </a:spcBef>
                        <a:spcAft>
                          <a:spcPts val="0"/>
                        </a:spcAft>
                        <a:buNone/>
                      </a:pPr>
                      <a:r>
                        <a:rPr b="1" i="0" lang="en-US" sz="1350" u="none" cap="none" strike="noStrike">
                          <a:solidFill>
                            <a:srgbClr val="0F172A"/>
                          </a:solidFill>
                          <a:latin typeface="DM Sans"/>
                          <a:ea typeface="DM Sans"/>
                          <a:cs typeface="DM Sans"/>
                          <a:sym typeface="DM Sans"/>
                        </a:rPr>
                        <a:t>Nama Dataset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1350" u="none" cap="none" strike="noStrike">
                          <a:solidFill>
                            <a:srgbClr val="0F172A"/>
                          </a:solidFill>
                          <a:latin typeface="DM Sans"/>
                          <a:ea typeface="DM Sans"/>
                          <a:cs typeface="DM Sans"/>
                          <a:sym typeface="DM Sans"/>
                        </a:rPr>
                        <a:t>Kategori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1350" u="none" cap="none" strike="noStrike">
                          <a:solidFill>
                            <a:srgbClr val="0F172A"/>
                          </a:solidFill>
                          <a:latin typeface="DM Sans"/>
                          <a:ea typeface="DM Sans"/>
                          <a:cs typeface="DM Sans"/>
                          <a:sym typeface="DM Sans"/>
                        </a:rPr>
                        <a:t>Tautan Sumber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697225">
                <a:tc>
                  <a:txBody>
                    <a:bodyPr/>
                    <a:lstStyle/>
                    <a:p>
                      <a:pPr indent="0" lvl="0" marL="0" marR="0" rtl="0" algn="l">
                        <a:spcBef>
                          <a:spcPts val="0"/>
                        </a:spcBef>
                        <a:spcAft>
                          <a:spcPts val="0"/>
                        </a:spcAft>
                        <a:buNone/>
                      </a:pPr>
                      <a:r>
                        <a:rPr b="1" i="0" lang="en-US" sz="1350" u="none" cap="none" strike="noStrike">
                          <a:solidFill>
                            <a:srgbClr val="0F172A"/>
                          </a:solidFill>
                          <a:latin typeface="DM Sans"/>
                          <a:ea typeface="DM Sans"/>
                          <a:cs typeface="DM Sans"/>
                          <a:sym typeface="DM Sans"/>
                        </a:rPr>
                        <a:t>2023 Yellow Taxi Trip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350" u="none" cap="none" strike="noStrike">
                          <a:solidFill>
                            <a:srgbClr val="0D9488"/>
                          </a:solidFill>
                          <a:latin typeface="DM Sans"/>
                          <a:ea typeface="DM Sans"/>
                          <a:cs typeface="DM Sans"/>
                          <a:sym typeface="DM Sans"/>
                        </a:rPr>
                        <a:t>Public &amp; Sudah Rapi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JetBrains Mono"/>
                          <a:ea typeface="JetBrains Mono"/>
                          <a:cs typeface="JetBrains Mono"/>
                          <a:sym typeface="JetBrains Mono"/>
                        </a:rPr>
                        <a:t>https://catalog.data.gov/dataset/2023-yellow-taxi-trip-data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697225">
                <a:tc>
                  <a:txBody>
                    <a:bodyPr/>
                    <a:lstStyle/>
                    <a:p>
                      <a:pPr indent="0" lvl="0" marL="0" marR="0" rtl="0" algn="l">
                        <a:spcBef>
                          <a:spcPts val="0"/>
                        </a:spcBef>
                        <a:spcAft>
                          <a:spcPts val="0"/>
                        </a:spcAft>
                        <a:buNone/>
                      </a:pPr>
                      <a:r>
                        <a:rPr b="1" i="0" lang="en-US" sz="1350" u="none" cap="none" strike="noStrike">
                          <a:solidFill>
                            <a:srgbClr val="0F172A"/>
                          </a:solidFill>
                          <a:latin typeface="DM Sans"/>
                          <a:ea typeface="DM Sans"/>
                          <a:cs typeface="DM Sans"/>
                          <a:sym typeface="DM Sans"/>
                        </a:rPr>
                        <a:t>Dirty Dataset Practice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350" u="none" cap="none" strike="noStrike">
                          <a:solidFill>
                            <a:srgbClr val="E11D48"/>
                          </a:solidFill>
                          <a:latin typeface="DM Sans"/>
                          <a:ea typeface="DM Sans"/>
                          <a:cs typeface="DM Sans"/>
                          <a:sym typeface="DM Sans"/>
                        </a:rPr>
                        <a:t>Public &amp; Belum Rapi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JetBrains Mono"/>
                          <a:ea typeface="JetBrains Mono"/>
                          <a:cs typeface="JetBrains Mono"/>
                          <a:sym typeface="JetBrains Mono"/>
                        </a:rPr>
                        <a:t>https://www.kaggle.com/datasets/amruthayenikonda/dirty-dataset-to-practice-data-cleaning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697225">
                <a:tc>
                  <a:txBody>
                    <a:bodyPr/>
                    <a:lstStyle/>
                    <a:p>
                      <a:pPr indent="0" lvl="0" marL="0" marR="0" rtl="0" algn="l">
                        <a:spcBef>
                          <a:spcPts val="0"/>
                        </a:spcBef>
                        <a:spcAft>
                          <a:spcPts val="0"/>
                        </a:spcAft>
                        <a:buNone/>
                      </a:pPr>
                      <a:r>
                        <a:rPr b="1" i="0" lang="en-US" sz="1350" u="none" cap="none" strike="noStrike">
                          <a:solidFill>
                            <a:srgbClr val="0F172A"/>
                          </a:solidFill>
                          <a:latin typeface="DM Sans"/>
                          <a:ea typeface="DM Sans"/>
                          <a:cs typeface="DM Sans"/>
                          <a:sym typeface="DM Sans"/>
                        </a:rPr>
                        <a:t>Dirty Iris Dataset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350" u="none" cap="none" strike="noStrike">
                          <a:solidFill>
                            <a:srgbClr val="E11D48"/>
                          </a:solidFill>
                          <a:latin typeface="DM Sans"/>
                          <a:ea typeface="DM Sans"/>
                          <a:cs typeface="DM Sans"/>
                          <a:sym typeface="DM Sans"/>
                        </a:rPr>
                        <a:t>Public &amp; Belum Rapi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JetBrains Mono"/>
                          <a:ea typeface="JetBrains Mono"/>
                          <a:cs typeface="JetBrains Mono"/>
                          <a:sym typeface="JetBrains Mono"/>
                        </a:rPr>
                        <a:t>https://www.kaggle.com/datasets/pradeepisawasan/dirty-iris-dataset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697225">
                <a:tc>
                  <a:txBody>
                    <a:bodyPr/>
                    <a:lstStyle/>
                    <a:p>
                      <a:pPr indent="0" lvl="0" marL="0" marR="0" rtl="0" algn="l">
                        <a:spcBef>
                          <a:spcPts val="0"/>
                        </a:spcBef>
                        <a:spcAft>
                          <a:spcPts val="0"/>
                        </a:spcAft>
                        <a:buNone/>
                      </a:pPr>
                      <a:r>
                        <a:rPr b="1" i="0" lang="en-US" sz="1350" u="none" cap="none" strike="noStrike">
                          <a:solidFill>
                            <a:srgbClr val="0F172A"/>
                          </a:solidFill>
                          <a:latin typeface="DM Sans"/>
                          <a:ea typeface="DM Sans"/>
                          <a:cs typeface="DM Sans"/>
                          <a:sym typeface="DM Sans"/>
                        </a:rPr>
                        <a:t>Sales Database Source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350" u="none" cap="none" strike="noStrike">
                          <a:solidFill>
                            <a:srgbClr val="0D9488"/>
                          </a:solidFill>
                          <a:latin typeface="DM Sans"/>
                          <a:ea typeface="DM Sans"/>
                          <a:cs typeface="DM Sans"/>
                          <a:sym typeface="DM Sans"/>
                        </a:rPr>
                        <a:t>Simulasi Data Internal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JetBrains Mono"/>
                          <a:ea typeface="JetBrains Mono"/>
                          <a:cs typeface="JetBrains Mono"/>
                          <a:sym typeface="JetBrains Mono"/>
                        </a:rPr>
                        <a:t>https://github.com/raffiainuls/datapipeline_sales/tree/main/database-source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570" name="Google Shape;570;p26"/>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JetBrains Mono"/>
                <a:ea typeface="JetBrains Mono"/>
                <a:cs typeface="JetBrains Mono"/>
                <a:sym typeface="JetBrains Mono"/>
              </a:rPr>
              <a:t>02 / DAFTAR REPOSITORI</a:t>
            </a:r>
            <a:endParaRPr/>
          </a:p>
        </p:txBody>
      </p:sp>
      <p:sp>
        <p:nvSpPr>
          <p:cNvPr id="571" name="Google Shape;571;p26"/>
          <p:cNvSpPr txBox="1"/>
          <p:nvPr/>
        </p:nvSpPr>
        <p:spPr>
          <a:xfrm>
            <a:off x="609600" y="704850"/>
            <a:ext cx="115824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DM Sans"/>
                <a:ea typeface="DM Sans"/>
                <a:cs typeface="DM Sans"/>
                <a:sym typeface="DM Sans"/>
              </a:rPr>
              <a:t>Contoh Dataset yang Bisa Digunakan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5" name="Shape 575"/>
        <p:cNvGrpSpPr/>
        <p:nvPr/>
      </p:nvGrpSpPr>
      <p:grpSpPr>
        <a:xfrm>
          <a:off x="0" y="0"/>
          <a:ext cx="0" cy="0"/>
          <a:chOff x="0" y="0"/>
          <a:chExt cx="0" cy="0"/>
        </a:xfrm>
      </p:grpSpPr>
      <p:sp>
        <p:nvSpPr>
          <p:cNvPr id="576" name="Google Shape;576;p27"/>
          <p:cNvSpPr/>
          <p:nvPr/>
        </p:nvSpPr>
        <p:spPr>
          <a:xfrm>
            <a:off x="609600" y="2995612"/>
            <a:ext cx="2571900" cy="1790700"/>
          </a:xfrm>
          <a:prstGeom prst="roundRect">
            <a:avLst>
              <a:gd fmla="val 638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7" name="Google Shape;577;p27"/>
          <p:cNvSpPr/>
          <p:nvPr/>
        </p:nvSpPr>
        <p:spPr>
          <a:xfrm>
            <a:off x="3409950" y="2995612"/>
            <a:ext cx="2571900" cy="1790700"/>
          </a:xfrm>
          <a:prstGeom prst="roundRect">
            <a:avLst>
              <a:gd fmla="val 638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8" name="Google Shape;578;p27"/>
          <p:cNvSpPr/>
          <p:nvPr/>
        </p:nvSpPr>
        <p:spPr>
          <a:xfrm>
            <a:off x="6210300" y="2881312"/>
            <a:ext cx="2571900" cy="2019300"/>
          </a:xfrm>
          <a:prstGeom prst="roundRect">
            <a:avLst>
              <a:gd fmla="val 5660"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9" name="Google Shape;579;p27"/>
          <p:cNvSpPr/>
          <p:nvPr/>
        </p:nvSpPr>
        <p:spPr>
          <a:xfrm>
            <a:off x="9010650" y="2871787"/>
            <a:ext cx="2571900" cy="2038500"/>
          </a:xfrm>
          <a:prstGeom prst="roundRect">
            <a:avLst>
              <a:gd fmla="val 5607"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580" name="Google Shape;580;p27"/>
          <p:cNvPicPr preferRelativeResize="0"/>
          <p:nvPr/>
        </p:nvPicPr>
        <p:blipFill rotWithShape="1">
          <a:blip r:embed="rId3">
            <a:alphaModFix/>
          </a:blip>
          <a:srcRect b="0" l="0" r="0" t="0"/>
          <a:stretch/>
        </p:blipFill>
        <p:spPr>
          <a:xfrm>
            <a:off x="838200" y="3262312"/>
            <a:ext cx="304800" cy="304800"/>
          </a:xfrm>
          <a:prstGeom prst="rect">
            <a:avLst/>
          </a:prstGeom>
          <a:noFill/>
          <a:ln>
            <a:noFill/>
          </a:ln>
        </p:spPr>
      </p:pic>
      <p:pic>
        <p:nvPicPr>
          <p:cNvPr descr="image.png" id="581" name="Google Shape;581;p27"/>
          <p:cNvPicPr preferRelativeResize="0"/>
          <p:nvPr/>
        </p:nvPicPr>
        <p:blipFill rotWithShape="1">
          <a:blip r:embed="rId4">
            <a:alphaModFix/>
          </a:blip>
          <a:srcRect b="0" l="0" r="0" t="0"/>
          <a:stretch/>
        </p:blipFill>
        <p:spPr>
          <a:xfrm>
            <a:off x="3638550" y="3262312"/>
            <a:ext cx="304800" cy="304800"/>
          </a:xfrm>
          <a:prstGeom prst="rect">
            <a:avLst/>
          </a:prstGeom>
          <a:noFill/>
          <a:ln>
            <a:noFill/>
          </a:ln>
        </p:spPr>
      </p:pic>
      <p:pic>
        <p:nvPicPr>
          <p:cNvPr descr="image.png" id="582" name="Google Shape;582;p27"/>
          <p:cNvPicPr preferRelativeResize="0"/>
          <p:nvPr/>
        </p:nvPicPr>
        <p:blipFill rotWithShape="1">
          <a:blip r:embed="rId5">
            <a:alphaModFix/>
          </a:blip>
          <a:srcRect b="0" l="0" r="0" t="0"/>
          <a:stretch/>
        </p:blipFill>
        <p:spPr>
          <a:xfrm>
            <a:off x="6438900" y="3148012"/>
            <a:ext cx="304800" cy="304800"/>
          </a:xfrm>
          <a:prstGeom prst="rect">
            <a:avLst/>
          </a:prstGeom>
          <a:noFill/>
          <a:ln>
            <a:noFill/>
          </a:ln>
        </p:spPr>
      </p:pic>
      <p:pic>
        <p:nvPicPr>
          <p:cNvPr descr="image.png" id="583" name="Google Shape;583;p27"/>
          <p:cNvPicPr preferRelativeResize="0"/>
          <p:nvPr/>
        </p:nvPicPr>
        <p:blipFill rotWithShape="1">
          <a:blip r:embed="rId6">
            <a:alphaModFix/>
          </a:blip>
          <a:srcRect b="0" l="0" r="0" t="0"/>
          <a:stretch/>
        </p:blipFill>
        <p:spPr>
          <a:xfrm>
            <a:off x="9239250" y="3138487"/>
            <a:ext cx="266700" cy="304800"/>
          </a:xfrm>
          <a:prstGeom prst="rect">
            <a:avLst/>
          </a:prstGeom>
          <a:noFill/>
          <a:ln>
            <a:noFill/>
          </a:ln>
        </p:spPr>
      </p:pic>
      <p:sp>
        <p:nvSpPr>
          <p:cNvPr id="584" name="Google Shape;584;p27"/>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JetBrains Mono"/>
                <a:ea typeface="JetBrains Mono"/>
                <a:cs typeface="JetBrains Mono"/>
                <a:sym typeface="JetBrains Mono"/>
              </a:rPr>
              <a:t>FOKUS PEMBELAJARAN</a:t>
            </a:r>
            <a:endParaRPr/>
          </a:p>
        </p:txBody>
      </p:sp>
      <p:sp>
        <p:nvSpPr>
          <p:cNvPr id="585" name="Google Shape;585;p27"/>
          <p:cNvSpPr txBox="1"/>
          <p:nvPr/>
        </p:nvSpPr>
        <p:spPr>
          <a:xfrm>
            <a:off x="609600" y="704850"/>
            <a:ext cx="115824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DM Sans"/>
                <a:ea typeface="DM Sans"/>
                <a:cs typeface="DM Sans"/>
                <a:sym typeface="DM Sans"/>
              </a:rPr>
              <a:t>Kegunaan Empat Dataset Referensi</a:t>
            </a:r>
            <a:endParaRPr/>
          </a:p>
        </p:txBody>
      </p:sp>
      <p:sp>
        <p:nvSpPr>
          <p:cNvPr id="586" name="Google Shape;586;p27"/>
          <p:cNvSpPr txBox="1"/>
          <p:nvPr/>
        </p:nvSpPr>
        <p:spPr>
          <a:xfrm>
            <a:off x="838200" y="3719512"/>
            <a:ext cx="27753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DM Sans"/>
                <a:ea typeface="DM Sans"/>
                <a:cs typeface="DM Sans"/>
                <a:sym typeface="DM Sans"/>
              </a:rPr>
              <a:t>NYC Yellow Taxi 2023</a:t>
            </a:r>
            <a:endParaRPr/>
          </a:p>
        </p:txBody>
      </p:sp>
      <p:sp>
        <p:nvSpPr>
          <p:cNvPr id="587" name="Google Shape;587;p27"/>
          <p:cNvSpPr txBox="1"/>
          <p:nvPr/>
        </p:nvSpPr>
        <p:spPr>
          <a:xfrm>
            <a:off x="838200" y="4062412"/>
            <a:ext cx="22098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DM Sans"/>
                <a:ea typeface="DM Sans"/>
                <a:cs typeface="DM Sans"/>
                <a:sym typeface="DM Sans"/>
              </a:rPr>
              <a:t>Latihan agregasi jutaan baris data perjalanan.</a:t>
            </a:r>
            <a:endParaRPr/>
          </a:p>
        </p:txBody>
      </p:sp>
      <p:sp>
        <p:nvSpPr>
          <p:cNvPr id="588" name="Google Shape;588;p27"/>
          <p:cNvSpPr txBox="1"/>
          <p:nvPr/>
        </p:nvSpPr>
        <p:spPr>
          <a:xfrm>
            <a:off x="3638550" y="3719512"/>
            <a:ext cx="27753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DM Sans"/>
                <a:ea typeface="DM Sans"/>
                <a:cs typeface="DM Sans"/>
                <a:sym typeface="DM Sans"/>
              </a:rPr>
              <a:t>Dirty Dataset Practice</a:t>
            </a:r>
            <a:endParaRPr/>
          </a:p>
        </p:txBody>
      </p:sp>
      <p:sp>
        <p:nvSpPr>
          <p:cNvPr id="589" name="Google Shape;589;p27"/>
          <p:cNvSpPr txBox="1"/>
          <p:nvPr/>
        </p:nvSpPr>
        <p:spPr>
          <a:xfrm>
            <a:off x="3638550" y="4062412"/>
            <a:ext cx="22098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DM Sans"/>
                <a:ea typeface="DM Sans"/>
                <a:cs typeface="DM Sans"/>
                <a:sym typeface="DM Sans"/>
              </a:rPr>
              <a:t>Praktik standarisasi teks dan penghapusan duplikat.</a:t>
            </a:r>
            <a:endParaRPr/>
          </a:p>
        </p:txBody>
      </p:sp>
      <p:sp>
        <p:nvSpPr>
          <p:cNvPr id="590" name="Google Shape;590;p27"/>
          <p:cNvSpPr txBox="1"/>
          <p:nvPr/>
        </p:nvSpPr>
        <p:spPr>
          <a:xfrm>
            <a:off x="6438900" y="3605212"/>
            <a:ext cx="27753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DM Sans"/>
                <a:ea typeface="DM Sans"/>
                <a:cs typeface="DM Sans"/>
                <a:sym typeface="DM Sans"/>
              </a:rPr>
              <a:t>Dirty Iris Dataset</a:t>
            </a:r>
            <a:endParaRPr/>
          </a:p>
        </p:txBody>
      </p:sp>
      <p:sp>
        <p:nvSpPr>
          <p:cNvPr id="591" name="Google Shape;591;p27"/>
          <p:cNvSpPr txBox="1"/>
          <p:nvPr/>
        </p:nvSpPr>
        <p:spPr>
          <a:xfrm>
            <a:off x="6438900" y="3948112"/>
            <a:ext cx="22098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DM Sans"/>
                <a:ea typeface="DM Sans"/>
                <a:cs typeface="DM Sans"/>
                <a:sym typeface="DM Sans"/>
              </a:rPr>
              <a:t>Penanganan nilai hilang dan deteksi anomali numerik.</a:t>
            </a:r>
            <a:endParaRPr/>
          </a:p>
        </p:txBody>
      </p:sp>
      <p:sp>
        <p:nvSpPr>
          <p:cNvPr id="592" name="Google Shape;592;p27"/>
          <p:cNvSpPr txBox="1"/>
          <p:nvPr/>
        </p:nvSpPr>
        <p:spPr>
          <a:xfrm>
            <a:off x="9239250" y="3595687"/>
            <a:ext cx="23202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DM Sans"/>
                <a:ea typeface="DM Sans"/>
                <a:cs typeface="DM Sans"/>
                <a:sym typeface="DM Sans"/>
              </a:rPr>
              <a:t>Sales Database Source</a:t>
            </a:r>
            <a:endParaRPr/>
          </a:p>
        </p:txBody>
      </p:sp>
      <p:sp>
        <p:nvSpPr>
          <p:cNvPr id="593" name="Google Shape;593;p27"/>
          <p:cNvSpPr txBox="1"/>
          <p:nvPr/>
        </p:nvSpPr>
        <p:spPr>
          <a:xfrm>
            <a:off x="9239250" y="4186237"/>
            <a:ext cx="22098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DM Sans"/>
                <a:ea typeface="DM Sans"/>
                <a:cs typeface="DM Sans"/>
                <a:sym typeface="DM Sans"/>
              </a:rPr>
              <a:t>Simulasi ekstraksi pipa data penjualan internal.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97" name="Shape 597"/>
        <p:cNvGrpSpPr/>
        <p:nvPr/>
      </p:nvGrpSpPr>
      <p:grpSpPr>
        <a:xfrm>
          <a:off x="0" y="0"/>
          <a:ext cx="0" cy="0"/>
          <a:chOff x="0" y="0"/>
          <a:chExt cx="0" cy="0"/>
        </a:xfrm>
      </p:grpSpPr>
      <p:sp>
        <p:nvSpPr>
          <p:cNvPr id="598" name="Google Shape;598;p28"/>
          <p:cNvSpPr/>
          <p:nvPr/>
        </p:nvSpPr>
        <p:spPr>
          <a:xfrm>
            <a:off x="609600" y="2990850"/>
            <a:ext cx="2364600" cy="1800300"/>
          </a:xfrm>
          <a:prstGeom prst="roundRect">
            <a:avLst>
              <a:gd fmla="val 6349"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9" name="Google Shape;599;p28"/>
          <p:cNvSpPr/>
          <p:nvPr/>
        </p:nvSpPr>
        <p:spPr>
          <a:xfrm>
            <a:off x="3479006" y="2990850"/>
            <a:ext cx="2364600" cy="1800300"/>
          </a:xfrm>
          <a:prstGeom prst="roundRect">
            <a:avLst>
              <a:gd fmla="val 6349"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0" name="Google Shape;600;p28"/>
          <p:cNvSpPr/>
          <p:nvPr/>
        </p:nvSpPr>
        <p:spPr>
          <a:xfrm>
            <a:off x="6348412" y="2990850"/>
            <a:ext cx="2364600" cy="1800300"/>
          </a:xfrm>
          <a:prstGeom prst="roundRect">
            <a:avLst>
              <a:gd fmla="val 6349"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1" name="Google Shape;601;p28"/>
          <p:cNvSpPr/>
          <p:nvPr/>
        </p:nvSpPr>
        <p:spPr>
          <a:xfrm>
            <a:off x="9217818" y="2990850"/>
            <a:ext cx="2364600" cy="1800300"/>
          </a:xfrm>
          <a:prstGeom prst="roundRect">
            <a:avLst>
              <a:gd fmla="val 6349"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602" name="Google Shape;602;p28"/>
          <p:cNvPicPr preferRelativeResize="0"/>
          <p:nvPr/>
        </p:nvPicPr>
        <p:blipFill rotWithShape="1">
          <a:blip r:embed="rId3">
            <a:alphaModFix/>
          </a:blip>
          <a:srcRect b="0" l="0" r="0" t="0"/>
          <a:stretch/>
        </p:blipFill>
        <p:spPr>
          <a:xfrm>
            <a:off x="3126581" y="3776662"/>
            <a:ext cx="200025" cy="228600"/>
          </a:xfrm>
          <a:prstGeom prst="rect">
            <a:avLst/>
          </a:prstGeom>
          <a:noFill/>
          <a:ln>
            <a:noFill/>
          </a:ln>
        </p:spPr>
      </p:pic>
      <p:pic>
        <p:nvPicPr>
          <p:cNvPr descr="image.png" id="603" name="Google Shape;603;p28"/>
          <p:cNvPicPr preferRelativeResize="0"/>
          <p:nvPr/>
        </p:nvPicPr>
        <p:blipFill rotWithShape="1">
          <a:blip r:embed="rId4">
            <a:alphaModFix/>
          </a:blip>
          <a:srcRect b="0" l="0" r="0" t="0"/>
          <a:stretch/>
        </p:blipFill>
        <p:spPr>
          <a:xfrm>
            <a:off x="5995987" y="3776662"/>
            <a:ext cx="200025" cy="228600"/>
          </a:xfrm>
          <a:prstGeom prst="rect">
            <a:avLst/>
          </a:prstGeom>
          <a:noFill/>
          <a:ln>
            <a:noFill/>
          </a:ln>
        </p:spPr>
      </p:pic>
      <p:pic>
        <p:nvPicPr>
          <p:cNvPr descr="image.png" id="604" name="Google Shape;604;p28"/>
          <p:cNvPicPr preferRelativeResize="0"/>
          <p:nvPr/>
        </p:nvPicPr>
        <p:blipFill rotWithShape="1">
          <a:blip r:embed="rId4">
            <a:alphaModFix/>
          </a:blip>
          <a:srcRect b="0" l="0" r="0" t="0"/>
          <a:stretch/>
        </p:blipFill>
        <p:spPr>
          <a:xfrm>
            <a:off x="8865393" y="3776662"/>
            <a:ext cx="200025" cy="228600"/>
          </a:xfrm>
          <a:prstGeom prst="rect">
            <a:avLst/>
          </a:prstGeom>
          <a:noFill/>
          <a:ln>
            <a:noFill/>
          </a:ln>
        </p:spPr>
      </p:pic>
      <p:sp>
        <p:nvSpPr>
          <p:cNvPr id="605" name="Google Shape;605;p28"/>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JetBrains Mono"/>
                <a:ea typeface="JetBrains Mono"/>
                <a:cs typeface="JetBrains Mono"/>
                <a:sym typeface="JetBrains Mono"/>
              </a:rPr>
              <a:t>ALUR KERJA PIPELINE</a:t>
            </a:r>
            <a:endParaRPr/>
          </a:p>
        </p:txBody>
      </p:sp>
      <p:sp>
        <p:nvSpPr>
          <p:cNvPr id="606" name="Google Shape;606;p28"/>
          <p:cNvSpPr txBox="1"/>
          <p:nvPr/>
        </p:nvSpPr>
        <p:spPr>
          <a:xfrm>
            <a:off x="609600" y="704850"/>
            <a:ext cx="115824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DM Sans"/>
                <a:ea typeface="DM Sans"/>
                <a:cs typeface="DM Sans"/>
                <a:sym typeface="DM Sans"/>
              </a:rPr>
              <a:t>Tahapan Transformasi Menuju Data Rapi</a:t>
            </a:r>
            <a:endParaRPr/>
          </a:p>
        </p:txBody>
      </p:sp>
      <p:sp>
        <p:nvSpPr>
          <p:cNvPr id="607" name="Google Shape;607;p28"/>
          <p:cNvSpPr txBox="1"/>
          <p:nvPr/>
        </p:nvSpPr>
        <p:spPr>
          <a:xfrm>
            <a:off x="809625" y="3267075"/>
            <a:ext cx="24558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D9488"/>
                </a:solidFill>
                <a:latin typeface="JetBrains Mono"/>
                <a:ea typeface="JetBrains Mono"/>
                <a:cs typeface="JetBrains Mono"/>
                <a:sym typeface="JetBrains Mono"/>
              </a:rPr>
              <a:t>01</a:t>
            </a:r>
            <a:endParaRPr/>
          </a:p>
        </p:txBody>
      </p:sp>
      <p:sp>
        <p:nvSpPr>
          <p:cNvPr id="608" name="Google Shape;608;p28"/>
          <p:cNvSpPr txBox="1"/>
          <p:nvPr/>
        </p:nvSpPr>
        <p:spPr>
          <a:xfrm>
            <a:off x="809625" y="3733800"/>
            <a:ext cx="25785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DM Sans"/>
                <a:ea typeface="DM Sans"/>
                <a:cs typeface="DM Sans"/>
                <a:sym typeface="DM Sans"/>
              </a:rPr>
              <a:t>Ingestion</a:t>
            </a:r>
            <a:endParaRPr/>
          </a:p>
        </p:txBody>
      </p:sp>
      <p:sp>
        <p:nvSpPr>
          <p:cNvPr id="609" name="Google Shape;609;p28"/>
          <p:cNvSpPr txBox="1"/>
          <p:nvPr/>
        </p:nvSpPr>
        <p:spPr>
          <a:xfrm>
            <a:off x="809625" y="4057650"/>
            <a:ext cx="20598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DM Sans"/>
                <a:ea typeface="DM Sans"/>
                <a:cs typeface="DM Sans"/>
                <a:sym typeface="DM Sans"/>
              </a:rPr>
              <a:t>Ekstraksi data mentah dari sumber asal.</a:t>
            </a:r>
            <a:endParaRPr/>
          </a:p>
        </p:txBody>
      </p:sp>
      <p:sp>
        <p:nvSpPr>
          <p:cNvPr id="610" name="Google Shape;610;p28"/>
          <p:cNvSpPr txBox="1"/>
          <p:nvPr/>
        </p:nvSpPr>
        <p:spPr>
          <a:xfrm>
            <a:off x="3679031" y="3267075"/>
            <a:ext cx="24558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D9488"/>
                </a:solidFill>
                <a:latin typeface="JetBrains Mono"/>
                <a:ea typeface="JetBrains Mono"/>
                <a:cs typeface="JetBrains Mono"/>
                <a:sym typeface="JetBrains Mono"/>
              </a:rPr>
              <a:t>02</a:t>
            </a:r>
            <a:endParaRPr/>
          </a:p>
        </p:txBody>
      </p:sp>
      <p:sp>
        <p:nvSpPr>
          <p:cNvPr id="611" name="Google Shape;611;p28"/>
          <p:cNvSpPr txBox="1"/>
          <p:nvPr/>
        </p:nvSpPr>
        <p:spPr>
          <a:xfrm>
            <a:off x="3679031" y="3733800"/>
            <a:ext cx="25785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DM Sans"/>
                <a:ea typeface="DM Sans"/>
                <a:cs typeface="DM Sans"/>
                <a:sym typeface="DM Sans"/>
              </a:rPr>
              <a:t>Profiling</a:t>
            </a:r>
            <a:endParaRPr/>
          </a:p>
        </p:txBody>
      </p:sp>
      <p:sp>
        <p:nvSpPr>
          <p:cNvPr id="612" name="Google Shape;612;p28"/>
          <p:cNvSpPr txBox="1"/>
          <p:nvPr/>
        </p:nvSpPr>
        <p:spPr>
          <a:xfrm>
            <a:off x="3679031" y="4057650"/>
            <a:ext cx="20598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DM Sans"/>
                <a:ea typeface="DM Sans"/>
                <a:cs typeface="DM Sans"/>
                <a:sym typeface="DM Sans"/>
              </a:rPr>
              <a:t>Identifikasi atribut kosong dan duplikasi.</a:t>
            </a:r>
            <a:endParaRPr/>
          </a:p>
        </p:txBody>
      </p:sp>
      <p:sp>
        <p:nvSpPr>
          <p:cNvPr id="613" name="Google Shape;613;p28"/>
          <p:cNvSpPr txBox="1"/>
          <p:nvPr/>
        </p:nvSpPr>
        <p:spPr>
          <a:xfrm>
            <a:off x="6548437" y="3267075"/>
            <a:ext cx="24558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E11D48"/>
                </a:solidFill>
                <a:latin typeface="JetBrains Mono"/>
                <a:ea typeface="JetBrains Mono"/>
                <a:cs typeface="JetBrains Mono"/>
                <a:sym typeface="JetBrains Mono"/>
              </a:rPr>
              <a:t>03</a:t>
            </a:r>
            <a:endParaRPr/>
          </a:p>
        </p:txBody>
      </p:sp>
      <p:sp>
        <p:nvSpPr>
          <p:cNvPr id="614" name="Google Shape;614;p28"/>
          <p:cNvSpPr txBox="1"/>
          <p:nvPr/>
        </p:nvSpPr>
        <p:spPr>
          <a:xfrm>
            <a:off x="6548437" y="3733800"/>
            <a:ext cx="25785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DM Sans"/>
                <a:ea typeface="DM Sans"/>
                <a:cs typeface="DM Sans"/>
                <a:sym typeface="DM Sans"/>
              </a:rPr>
              <a:t>Cleaning</a:t>
            </a:r>
            <a:endParaRPr/>
          </a:p>
        </p:txBody>
      </p:sp>
      <p:sp>
        <p:nvSpPr>
          <p:cNvPr id="615" name="Google Shape;615;p28"/>
          <p:cNvSpPr txBox="1"/>
          <p:nvPr/>
        </p:nvSpPr>
        <p:spPr>
          <a:xfrm>
            <a:off x="6548437" y="4057650"/>
            <a:ext cx="20598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DM Sans"/>
                <a:ea typeface="DM Sans"/>
                <a:cs typeface="DM Sans"/>
                <a:sym typeface="DM Sans"/>
              </a:rPr>
              <a:t>Imputasi nilai hilang dan penyeragaman tipe.</a:t>
            </a:r>
            <a:endParaRPr/>
          </a:p>
        </p:txBody>
      </p:sp>
      <p:sp>
        <p:nvSpPr>
          <p:cNvPr id="616" name="Google Shape;616;p28"/>
          <p:cNvSpPr txBox="1"/>
          <p:nvPr/>
        </p:nvSpPr>
        <p:spPr>
          <a:xfrm>
            <a:off x="9417843" y="3267075"/>
            <a:ext cx="24558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D9488"/>
                </a:solidFill>
                <a:latin typeface="JetBrains Mono"/>
                <a:ea typeface="JetBrains Mono"/>
                <a:cs typeface="JetBrains Mono"/>
                <a:sym typeface="JetBrains Mono"/>
              </a:rPr>
              <a:t>04</a:t>
            </a:r>
            <a:endParaRPr/>
          </a:p>
        </p:txBody>
      </p:sp>
      <p:sp>
        <p:nvSpPr>
          <p:cNvPr id="617" name="Google Shape;617;p28"/>
          <p:cNvSpPr txBox="1"/>
          <p:nvPr/>
        </p:nvSpPr>
        <p:spPr>
          <a:xfrm>
            <a:off x="9417843" y="3733800"/>
            <a:ext cx="25785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DM Sans"/>
                <a:ea typeface="DM Sans"/>
                <a:cs typeface="DM Sans"/>
                <a:sym typeface="DM Sans"/>
              </a:rPr>
              <a:t>Serving</a:t>
            </a:r>
            <a:endParaRPr/>
          </a:p>
        </p:txBody>
      </p:sp>
      <p:sp>
        <p:nvSpPr>
          <p:cNvPr id="618" name="Google Shape;618;p28"/>
          <p:cNvSpPr txBox="1"/>
          <p:nvPr/>
        </p:nvSpPr>
        <p:spPr>
          <a:xfrm>
            <a:off x="9417843" y="4057650"/>
            <a:ext cx="20598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DM Sans"/>
                <a:ea typeface="DM Sans"/>
                <a:cs typeface="DM Sans"/>
                <a:sym typeface="DM Sans"/>
              </a:rPr>
              <a:t>Pemuatan data rapi ke data warehouse.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